
<file path=[Content_Types].xml><?xml version="1.0" encoding="utf-8"?>
<Types xmlns="http://schemas.openxmlformats.org/package/2006/content-types">
  <Default Extension="png" ContentType="image/png"/>
  <Default Extension="rels" ContentType="application/vnd.openxmlformats-package.relationships+xml"/>
  <Default Extension="svg" ContentType="image/svg"/>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sldSz cx="12192000" cy="6858000"/>
  <p:notesSz cx="6858000" cy="12192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EB94B77-FA01-4C8B-B556-855D758DE364}" v="15" dt="2026-04-02T21:38:48.340"/>
    <p1510:client id="{9EB69073-081A-49F9-BE2D-AE86C9594F88}" v="26" dt="2026-04-01T20:23:35.87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4" name="PlaceHolder 1"/>
          <p:cNvSpPr>
            <a:spLocks noGrp="1" noRot="1" noChangeAspect="1"/>
          </p:cNvSpPr>
          <p:nvPr>
            <p:ph type="sldImg"/>
          </p:nvPr>
        </p:nvSpPr>
        <p:spPr>
          <a:xfrm>
            <a:off x="216000" y="812520"/>
            <a:ext cx="7127280" cy="4008960"/>
          </a:xfrm>
          <a:prstGeom prst="rect">
            <a:avLst/>
          </a:prstGeom>
          <a:noFill/>
          <a:ln w="0">
            <a:noFill/>
          </a:ln>
        </p:spPr>
        <p:txBody>
          <a:bodyPr lIns="0" tIns="0" rIns="0" bIns="0" anchor="ctr">
            <a:noAutofit/>
          </a:bodyPr>
          <a:lstStyle/>
          <a:p>
            <a:pPr algn="ctr"/>
            <a:r>
              <a:rPr lang="fr-FR" sz="4400" b="0" u="none" strike="noStrike">
                <a:solidFill>
                  <a:srgbClr val="000000"/>
                </a:solidFill>
                <a:effectLst/>
                <a:uFillTx/>
                <a:latin typeface="Arial"/>
              </a:rPr>
              <a:t>Cliquez pour déplacer la diapo</a:t>
            </a:r>
          </a:p>
        </p:txBody>
      </p:sp>
      <p:sp>
        <p:nvSpPr>
          <p:cNvPr id="5"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buNone/>
            </a:pPr>
            <a:r>
              <a:rPr lang="fr-FR" sz="2000" b="0" u="none" strike="noStrike">
                <a:solidFill>
                  <a:srgbClr val="000000"/>
                </a:solidFill>
                <a:effectLst/>
                <a:uFillTx/>
                <a:latin typeface="Arial"/>
              </a:rPr>
              <a:t>Cliquez pour modifier le format des notes</a:t>
            </a:r>
          </a:p>
        </p:txBody>
      </p:sp>
      <p:sp>
        <p:nvSpPr>
          <p:cNvPr id="6"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buNone/>
            </a:pPr>
            <a:r>
              <a:rPr lang="fr-FR" sz="1400" b="0" u="none" strike="noStrike">
                <a:solidFill>
                  <a:srgbClr val="000000"/>
                </a:solidFill>
                <a:effectLst/>
                <a:uFillTx/>
                <a:latin typeface="Times New Roman"/>
              </a:rPr>
              <a:t> </a:t>
            </a:r>
          </a:p>
        </p:txBody>
      </p:sp>
      <p:sp>
        <p:nvSpPr>
          <p:cNvPr id="7" name="PlaceHolder 4"/>
          <p:cNvSpPr>
            <a:spLocks noGrp="1"/>
          </p:cNvSpPr>
          <p:nvPr>
            <p:ph type="dt" idx="1"/>
          </p:nvPr>
        </p:nvSpPr>
        <p:spPr>
          <a:xfrm>
            <a:off x="4278960" y="0"/>
            <a:ext cx="3280680" cy="534240"/>
          </a:xfrm>
          <a:prstGeom prst="rect">
            <a:avLst/>
          </a:prstGeom>
          <a:noFill/>
          <a:ln w="0">
            <a:noFill/>
          </a:ln>
        </p:spPr>
        <p:txBody>
          <a:bodyPr lIns="0" tIns="0" rIns="0" bIns="0" anchor="t">
            <a:noAutofit/>
          </a:bodyPr>
          <a:lstStyle>
            <a:lvl1pPr indent="0" algn="r">
              <a:buNone/>
              <a:defRPr lang="fr-FR" sz="1400" b="0" u="none" strike="noStrike">
                <a:solidFill>
                  <a:srgbClr val="000000"/>
                </a:solidFill>
                <a:effectLst/>
                <a:uFillTx/>
                <a:latin typeface="Times New Roman"/>
              </a:defRPr>
            </a:lvl1pPr>
          </a:lstStyle>
          <a:p>
            <a:pPr indent="0" algn="r">
              <a:buNone/>
            </a:pPr>
            <a:r>
              <a:rPr lang="fr-FR" sz="1400" b="0" u="none" strike="noStrike">
                <a:solidFill>
                  <a:srgbClr val="000000"/>
                </a:solidFill>
                <a:effectLst/>
                <a:uFillTx/>
                <a:latin typeface="Times New Roman"/>
              </a:rPr>
              <a:t> </a:t>
            </a:r>
          </a:p>
        </p:txBody>
      </p:sp>
      <p:sp>
        <p:nvSpPr>
          <p:cNvPr id="8" name="PlaceHolder 5"/>
          <p:cNvSpPr>
            <a:spLocks noGrp="1"/>
          </p:cNvSpPr>
          <p:nvPr>
            <p:ph type="ftr" idx="2"/>
          </p:nvPr>
        </p:nvSpPr>
        <p:spPr>
          <a:xfrm>
            <a:off x="0" y="10157400"/>
            <a:ext cx="3280680" cy="534240"/>
          </a:xfrm>
          <a:prstGeom prst="rect">
            <a:avLst/>
          </a:prstGeom>
          <a:noFill/>
          <a:ln w="0">
            <a:noFill/>
          </a:ln>
        </p:spPr>
        <p:txBody>
          <a:bodyPr lIns="0" tIns="0" rIns="0" bIns="0" anchor="b">
            <a:noAutofit/>
          </a:bodyPr>
          <a:lstStyle>
            <a:lvl1pPr indent="0">
              <a:buNone/>
              <a:defRPr lang="fr-FR" sz="1400" b="0" u="none" strike="noStrike">
                <a:solidFill>
                  <a:srgbClr val="000000"/>
                </a:solidFill>
                <a:effectLst/>
                <a:uFillTx/>
                <a:latin typeface="Times New Roman"/>
              </a:defRPr>
            </a:lvl1pPr>
          </a:lstStyle>
          <a:p>
            <a:pPr indent="0">
              <a:buNone/>
            </a:pPr>
            <a:r>
              <a:rPr lang="fr-FR" sz="1400" b="0" u="none" strike="noStrike">
                <a:solidFill>
                  <a:srgbClr val="000000"/>
                </a:solidFill>
                <a:effectLst/>
                <a:uFillTx/>
                <a:latin typeface="Times New Roman"/>
              </a:rPr>
              <a:t> </a:t>
            </a:r>
          </a:p>
        </p:txBody>
      </p:sp>
      <p:sp>
        <p:nvSpPr>
          <p:cNvPr id="9" name="PlaceHolder 6"/>
          <p:cNvSpPr>
            <a:spLocks noGrp="1"/>
          </p:cNvSpPr>
          <p:nvPr>
            <p:ph type="sldNum" idx="3"/>
          </p:nvPr>
        </p:nvSpPr>
        <p:spPr>
          <a:xfrm>
            <a:off x="4278960" y="10157400"/>
            <a:ext cx="3280680" cy="534240"/>
          </a:xfrm>
          <a:prstGeom prst="rect">
            <a:avLst/>
          </a:prstGeom>
          <a:noFill/>
          <a:ln w="0">
            <a:noFill/>
          </a:ln>
        </p:spPr>
        <p:txBody>
          <a:bodyPr lIns="0" tIns="0" rIns="0" bIns="0" anchor="b">
            <a:noAutofit/>
          </a:bodyPr>
          <a:lstStyle>
            <a:lvl1pPr indent="0" algn="r">
              <a:buNone/>
              <a:defRPr lang="fr-FR" sz="1400" b="0" u="none" strike="noStrike">
                <a:solidFill>
                  <a:srgbClr val="000000"/>
                </a:solidFill>
                <a:effectLst/>
                <a:uFillTx/>
                <a:latin typeface="Times New Roman"/>
              </a:defRPr>
            </a:lvl1pPr>
          </a:lstStyle>
          <a:p>
            <a:pPr indent="0" algn="r">
              <a:buNone/>
            </a:pPr>
            <a:fld id="{295BAC26-058D-4AD5-A4B9-249D2EC1154B}" type="slidenum">
              <a:rPr lang="fr-FR" sz="1400" b="0" u="none" strike="noStrike">
                <a:solidFill>
                  <a:srgbClr val="000000"/>
                </a:solidFill>
                <a:effectLst/>
                <a:uFillTx/>
                <a:latin typeface="Times New Roman"/>
              </a:rPr>
              <a:t>‹N°›</a:t>
            </a:fld>
            <a:endParaRPr lang="fr-FR"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1" name="PlaceHolder 1"/>
          <p:cNvSpPr>
            <a:spLocks noGrp="1" noRot="1" noChangeAspect="1"/>
          </p:cNvSpPr>
          <p:nvPr>
            <p:ph type="sldImg"/>
          </p:nvPr>
        </p:nvSpPr>
        <p:spPr>
          <a:xfrm>
            <a:off x="685800" y="1143000"/>
            <a:ext cx="5485680" cy="3085560"/>
          </a:xfrm>
          <a:prstGeom prst="rect">
            <a:avLst/>
          </a:prstGeom>
          <a:ln w="0">
            <a:noFill/>
          </a:ln>
        </p:spPr>
      </p:sp>
      <p:sp>
        <p:nvSpPr>
          <p:cNvPr id="45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53" name="PlaceHolder 3"/>
          <p:cNvSpPr>
            <a:spLocks noGrp="1"/>
          </p:cNvSpPr>
          <p:nvPr>
            <p:ph type="sldNum" idx="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8F73197E-DEB7-456A-B9EC-760647EDCA11}" type="slidenum">
              <a:rPr lang="en-US" sz="1200" b="0" u="none" strike="noStrike">
                <a:solidFill>
                  <a:schemeClr val="dk1"/>
                </a:solidFill>
                <a:effectLst/>
                <a:uFillTx/>
                <a:latin typeface="+mn-lt"/>
                <a:ea typeface="+mn-ea"/>
              </a:rPr>
              <a:t>1</a:t>
            </a:fld>
            <a:endParaRPr lang="fr-FR" sz="1200" b="0" u="none" strike="noStrike">
              <a:solidFill>
                <a:srgbClr val="000000"/>
              </a:solidFill>
              <a:effectLst/>
              <a:uFillTx/>
              <a:latin typeface="Times New Roman"/>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4" name="PlaceHolder 1"/>
          <p:cNvSpPr>
            <a:spLocks noGrp="1" noRot="1" noChangeAspect="1"/>
          </p:cNvSpPr>
          <p:nvPr>
            <p:ph type="sldImg"/>
          </p:nvPr>
        </p:nvSpPr>
        <p:spPr>
          <a:xfrm>
            <a:off x="685800" y="1143000"/>
            <a:ext cx="5485680" cy="3085560"/>
          </a:xfrm>
          <a:prstGeom prst="rect">
            <a:avLst/>
          </a:prstGeom>
          <a:ln w="0">
            <a:noFill/>
          </a:ln>
        </p:spPr>
      </p:sp>
      <p:sp>
        <p:nvSpPr>
          <p:cNvPr id="45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56" name="PlaceHolder 3"/>
          <p:cNvSpPr>
            <a:spLocks noGrp="1"/>
          </p:cNvSpPr>
          <p:nvPr>
            <p:ph type="sldNum" idx="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18F950C-9376-481A-8228-BECEB8DD27A3}" type="slidenum">
              <a:rPr lang="en-US" sz="1200" b="0" u="none" strike="noStrike">
                <a:solidFill>
                  <a:schemeClr val="dk1"/>
                </a:solidFill>
                <a:effectLst/>
                <a:uFillTx/>
                <a:latin typeface="+mn-lt"/>
                <a:ea typeface="+mn-ea"/>
              </a:rPr>
              <a:t>2</a:t>
            </a:fld>
            <a:endParaRPr lang="fr-FR" sz="1200" b="0" u="none" strike="noStrike">
              <a:solidFill>
                <a:srgbClr val="000000"/>
              </a:solidFill>
              <a:effectLst/>
              <a:uFillTx/>
              <a:latin typeface="Times New Roman"/>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7" name="PlaceHolder 1"/>
          <p:cNvSpPr>
            <a:spLocks noGrp="1" noRot="1" noChangeAspect="1"/>
          </p:cNvSpPr>
          <p:nvPr>
            <p:ph type="sldImg"/>
          </p:nvPr>
        </p:nvSpPr>
        <p:spPr>
          <a:xfrm>
            <a:off x="685800" y="1143000"/>
            <a:ext cx="5485680" cy="3085560"/>
          </a:xfrm>
          <a:prstGeom prst="rect">
            <a:avLst/>
          </a:prstGeom>
          <a:ln w="0">
            <a:noFill/>
          </a:ln>
        </p:spPr>
      </p:sp>
      <p:sp>
        <p:nvSpPr>
          <p:cNvPr id="458"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59" name="PlaceHolder 3"/>
          <p:cNvSpPr>
            <a:spLocks noGrp="1"/>
          </p:cNvSpPr>
          <p:nvPr>
            <p:ph type="sldNum" idx="6"/>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F224CC92-9766-4384-A20C-F15DAA0799B8}" type="slidenum">
              <a:rPr lang="en-US" sz="1200" b="0" u="none" strike="noStrike">
                <a:solidFill>
                  <a:schemeClr val="dk1"/>
                </a:solidFill>
                <a:effectLst/>
                <a:uFillTx/>
                <a:latin typeface="+mn-lt"/>
                <a:ea typeface="+mn-ea"/>
              </a:rPr>
              <a:t>3</a:t>
            </a:fld>
            <a:endParaRPr lang="fr-FR" sz="1200" b="0" u="none" strike="noStrike">
              <a:solidFill>
                <a:srgbClr val="000000"/>
              </a:solidFill>
              <a:effectLst/>
              <a:uFillTx/>
              <a:latin typeface="Times New Roman"/>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 name="PlaceHolder 1"/>
          <p:cNvSpPr>
            <a:spLocks noGrp="1" noRot="1" noChangeAspect="1"/>
          </p:cNvSpPr>
          <p:nvPr>
            <p:ph type="sldImg"/>
          </p:nvPr>
        </p:nvSpPr>
        <p:spPr>
          <a:xfrm>
            <a:off x="685800" y="1143000"/>
            <a:ext cx="5485680" cy="3085560"/>
          </a:xfrm>
          <a:prstGeom prst="rect">
            <a:avLst/>
          </a:prstGeom>
          <a:ln w="0">
            <a:noFill/>
          </a:ln>
        </p:spPr>
      </p:sp>
      <p:sp>
        <p:nvSpPr>
          <p:cNvPr id="461"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62" name="PlaceHolder 3"/>
          <p:cNvSpPr>
            <a:spLocks noGrp="1"/>
          </p:cNvSpPr>
          <p:nvPr>
            <p:ph type="sldNum" idx="7"/>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6104351B-06F0-4FC2-B9BF-F4FF08A1666E}" type="slidenum">
              <a:rPr lang="en-US" sz="1200" b="0" u="none" strike="noStrike">
                <a:solidFill>
                  <a:schemeClr val="dk1"/>
                </a:solidFill>
                <a:effectLst/>
                <a:uFillTx/>
                <a:latin typeface="+mn-lt"/>
                <a:ea typeface="+mn-ea"/>
              </a:rPr>
              <a:t>4</a:t>
            </a:fld>
            <a:endParaRPr lang="fr-FR" sz="1200" b="0" u="none" strike="noStrike">
              <a:solidFill>
                <a:srgbClr val="000000"/>
              </a:solidFill>
              <a:effectLst/>
              <a:uFillTx/>
              <a:latin typeface="Times New Roman"/>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3" name="PlaceHolder 1"/>
          <p:cNvSpPr>
            <a:spLocks noGrp="1" noRot="1" noChangeAspect="1"/>
          </p:cNvSpPr>
          <p:nvPr>
            <p:ph type="sldImg"/>
          </p:nvPr>
        </p:nvSpPr>
        <p:spPr>
          <a:xfrm>
            <a:off x="685800" y="1143000"/>
            <a:ext cx="5485680" cy="3085560"/>
          </a:xfrm>
          <a:prstGeom prst="rect">
            <a:avLst/>
          </a:prstGeom>
          <a:ln w="0">
            <a:noFill/>
          </a:ln>
        </p:spPr>
      </p:sp>
      <p:sp>
        <p:nvSpPr>
          <p:cNvPr id="464"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65" name="PlaceHolder 3"/>
          <p:cNvSpPr>
            <a:spLocks noGrp="1"/>
          </p:cNvSpPr>
          <p:nvPr>
            <p:ph type="sldNum" idx="8"/>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98707FB9-B895-4965-8F96-F219FE42BB22}" type="slidenum">
              <a:rPr lang="en-US" sz="1200" b="0" u="none" strike="noStrike">
                <a:solidFill>
                  <a:schemeClr val="dk1"/>
                </a:solidFill>
                <a:effectLst/>
                <a:uFillTx/>
                <a:latin typeface="+mn-lt"/>
                <a:ea typeface="+mn-ea"/>
              </a:rPr>
              <a:t>5</a:t>
            </a:fld>
            <a:endParaRPr lang="fr-FR" sz="1200" b="0" u="none" strike="noStrike">
              <a:solidFill>
                <a:srgbClr val="000000"/>
              </a:solidFill>
              <a:effectLst/>
              <a:uFillTx/>
              <a:latin typeface="Times New Roman"/>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6" name="PlaceHolder 1"/>
          <p:cNvSpPr>
            <a:spLocks noGrp="1" noRot="1" noChangeAspect="1"/>
          </p:cNvSpPr>
          <p:nvPr>
            <p:ph type="sldImg"/>
          </p:nvPr>
        </p:nvSpPr>
        <p:spPr>
          <a:xfrm>
            <a:off x="685800" y="1143000"/>
            <a:ext cx="5485680" cy="3085560"/>
          </a:xfrm>
          <a:prstGeom prst="rect">
            <a:avLst/>
          </a:prstGeom>
          <a:ln w="0">
            <a:noFill/>
          </a:ln>
        </p:spPr>
      </p:sp>
      <p:sp>
        <p:nvSpPr>
          <p:cNvPr id="467"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68" name="PlaceHolder 3"/>
          <p:cNvSpPr>
            <a:spLocks noGrp="1"/>
          </p:cNvSpPr>
          <p:nvPr>
            <p:ph type="sldNum" idx="9"/>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914F750-1B68-4A81-802C-283819270EEA}" type="slidenum">
              <a:rPr lang="en-US" sz="1200" b="0" u="none" strike="noStrike">
                <a:solidFill>
                  <a:schemeClr val="dk1"/>
                </a:solidFill>
                <a:effectLst/>
                <a:uFillTx/>
                <a:latin typeface="+mn-lt"/>
                <a:ea typeface="+mn-ea"/>
              </a:rPr>
              <a:t>6</a:t>
            </a:fld>
            <a:endParaRPr lang="fr-FR" sz="1200" b="0" u="none" strike="noStrike">
              <a:solidFill>
                <a:srgbClr val="000000"/>
              </a:solidFill>
              <a:effectLst/>
              <a:uFillTx/>
              <a:latin typeface="Times New Roman"/>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9" name="PlaceHolder 1"/>
          <p:cNvSpPr>
            <a:spLocks noGrp="1" noRot="1" noChangeAspect="1"/>
          </p:cNvSpPr>
          <p:nvPr>
            <p:ph type="sldImg"/>
          </p:nvPr>
        </p:nvSpPr>
        <p:spPr>
          <a:xfrm>
            <a:off x="685800" y="1143000"/>
            <a:ext cx="5485680" cy="3085560"/>
          </a:xfrm>
          <a:prstGeom prst="rect">
            <a:avLst/>
          </a:prstGeom>
          <a:ln w="0">
            <a:noFill/>
          </a:ln>
        </p:spPr>
      </p:sp>
      <p:sp>
        <p:nvSpPr>
          <p:cNvPr id="470"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71" name="PlaceHolder 3"/>
          <p:cNvSpPr>
            <a:spLocks noGrp="1"/>
          </p:cNvSpPr>
          <p:nvPr>
            <p:ph type="sldNum" idx="10"/>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BB0CF4F0-DCEE-4175-84C4-9DEB4FD48633}" type="slidenum">
              <a:rPr lang="en-US" sz="1200" b="0" u="none" strike="noStrike">
                <a:solidFill>
                  <a:schemeClr val="dk1"/>
                </a:solidFill>
                <a:effectLst/>
                <a:uFillTx/>
                <a:latin typeface="+mn-lt"/>
                <a:ea typeface="+mn-ea"/>
              </a:rPr>
              <a:t>7</a:t>
            </a:fld>
            <a:endParaRPr lang="fr-FR" sz="1200" b="0" u="none" strike="noStrike">
              <a:solidFill>
                <a:srgbClr val="000000"/>
              </a:solidFill>
              <a:effectLst/>
              <a:uFillTx/>
              <a:latin typeface="Times New Roman"/>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2" name="PlaceHolder 1"/>
          <p:cNvSpPr>
            <a:spLocks noGrp="1" noRot="1" noChangeAspect="1"/>
          </p:cNvSpPr>
          <p:nvPr>
            <p:ph type="sldImg"/>
          </p:nvPr>
        </p:nvSpPr>
        <p:spPr>
          <a:xfrm>
            <a:off x="685800" y="1143000"/>
            <a:ext cx="5486400" cy="3086100"/>
          </a:xfrm>
          <a:prstGeom prst="rect">
            <a:avLst/>
          </a:prstGeom>
          <a:ln w="0">
            <a:noFill/>
          </a:ln>
        </p:spPr>
      </p:sp>
      <p:sp>
        <p:nvSpPr>
          <p:cNvPr id="473"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74" name="PlaceHolder 3"/>
          <p:cNvSpPr>
            <a:spLocks noGrp="1"/>
          </p:cNvSpPr>
          <p:nvPr>
            <p:ph type="sldNum" idx="11"/>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C30E2B3A-E587-41FA-8B0E-E1B3D1777B64}" type="slidenum">
              <a:rPr lang="en-US" sz="1200" b="0" u="none" strike="noStrike">
                <a:solidFill>
                  <a:schemeClr val="dk1"/>
                </a:solidFill>
                <a:effectLst/>
                <a:uFillTx/>
                <a:latin typeface="+mn-lt"/>
                <a:ea typeface="+mn-ea"/>
              </a:rPr>
              <a:t>8</a:t>
            </a:fld>
            <a:endParaRPr lang="fr-FR" sz="1200" b="0" u="none" strike="noStrike">
              <a:solidFill>
                <a:srgbClr val="000000"/>
              </a:solidFill>
              <a:effectLst/>
              <a:uFillTx/>
              <a:latin typeface="Times New Roman"/>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5" name="PlaceHolder 1"/>
          <p:cNvSpPr>
            <a:spLocks noGrp="1" noRot="1" noChangeAspect="1"/>
          </p:cNvSpPr>
          <p:nvPr>
            <p:ph type="sldImg"/>
          </p:nvPr>
        </p:nvSpPr>
        <p:spPr>
          <a:xfrm>
            <a:off x="685800" y="1143000"/>
            <a:ext cx="5485680" cy="3085560"/>
          </a:xfrm>
          <a:prstGeom prst="rect">
            <a:avLst/>
          </a:prstGeom>
          <a:ln w="0">
            <a:noFill/>
          </a:ln>
        </p:spPr>
      </p:sp>
      <p:sp>
        <p:nvSpPr>
          <p:cNvPr id="476"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77" name="PlaceHolder 3"/>
          <p:cNvSpPr>
            <a:spLocks noGrp="1"/>
          </p:cNvSpPr>
          <p:nvPr>
            <p:ph type="sldNum" idx="12"/>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D98341AC-721E-4D3A-B691-DD32F2377E84}" type="slidenum">
              <a:rPr lang="en-US" sz="1200" b="0" u="none" strike="noStrike">
                <a:solidFill>
                  <a:schemeClr val="dk1"/>
                </a:solidFill>
                <a:effectLst/>
                <a:uFillTx/>
                <a:latin typeface="+mn-lt"/>
                <a:ea typeface="+mn-ea"/>
              </a:rPr>
              <a:t>9</a:t>
            </a:fld>
            <a:endParaRPr lang="fr-FR" sz="1200" b="0" u="none" strike="noStrike">
              <a:solidFill>
                <a:srgbClr val="000000"/>
              </a:solidFill>
              <a:effectLst/>
              <a:uFillTx/>
              <a:latin typeface="Times New Roman"/>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8" name="PlaceHolder 1"/>
          <p:cNvSpPr>
            <a:spLocks noGrp="1" noRot="1" noChangeAspect="1"/>
          </p:cNvSpPr>
          <p:nvPr>
            <p:ph type="sldImg"/>
          </p:nvPr>
        </p:nvSpPr>
        <p:spPr>
          <a:xfrm>
            <a:off x="685800" y="1143000"/>
            <a:ext cx="5486400" cy="3086100"/>
          </a:xfrm>
          <a:prstGeom prst="rect">
            <a:avLst/>
          </a:prstGeom>
          <a:ln w="0">
            <a:noFill/>
          </a:ln>
        </p:spPr>
      </p:sp>
      <p:sp>
        <p:nvSpPr>
          <p:cNvPr id="479"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80" name="PlaceHolder 3"/>
          <p:cNvSpPr>
            <a:spLocks noGrp="1"/>
          </p:cNvSpPr>
          <p:nvPr>
            <p:ph type="sldNum" idx="13"/>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A0E2B04C-A1B5-4975-829A-C40CF0C148D2}" type="slidenum">
              <a:rPr lang="en-US" sz="1200" b="0" u="none" strike="noStrike">
                <a:solidFill>
                  <a:schemeClr val="dk1"/>
                </a:solidFill>
                <a:effectLst/>
                <a:uFillTx/>
                <a:latin typeface="+mn-lt"/>
                <a:ea typeface="+mn-ea"/>
              </a:rPr>
              <a:t>10</a:t>
            </a:fld>
            <a:endParaRPr lang="fr-FR" sz="1200" b="0" u="none" strike="noStrike">
              <a:solidFill>
                <a:srgbClr val="000000"/>
              </a:solidFill>
              <a:effectLst/>
              <a:uFillTx/>
              <a:latin typeface="Times New Roman"/>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 name="PlaceHolder 1"/>
          <p:cNvSpPr>
            <a:spLocks noGrp="1" noRot="1" noChangeAspect="1"/>
          </p:cNvSpPr>
          <p:nvPr>
            <p:ph type="sldImg"/>
          </p:nvPr>
        </p:nvSpPr>
        <p:spPr>
          <a:xfrm>
            <a:off x="685800" y="1143000"/>
            <a:ext cx="5485680" cy="3085560"/>
          </a:xfrm>
          <a:prstGeom prst="rect">
            <a:avLst/>
          </a:prstGeom>
          <a:ln w="0">
            <a:noFill/>
          </a:ln>
        </p:spPr>
      </p:sp>
      <p:sp>
        <p:nvSpPr>
          <p:cNvPr id="482"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83" name="PlaceHolder 3"/>
          <p:cNvSpPr>
            <a:spLocks noGrp="1"/>
          </p:cNvSpPr>
          <p:nvPr>
            <p:ph type="sldNum" idx="14"/>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16CDC929-650D-45C3-A24E-23AEC3F7A33B}" type="slidenum">
              <a:rPr lang="en-US" sz="1200" b="0" u="none" strike="noStrike">
                <a:solidFill>
                  <a:schemeClr val="dk1"/>
                </a:solidFill>
                <a:effectLst/>
                <a:uFillTx/>
                <a:latin typeface="+mn-lt"/>
                <a:ea typeface="+mn-ea"/>
              </a:rPr>
              <a:t>11</a:t>
            </a:fld>
            <a:endParaRPr lang="fr-FR" sz="1200" b="0" u="none" strike="noStrike">
              <a:solidFill>
                <a:srgbClr val="000000"/>
              </a:solidFill>
              <a:effectLst/>
              <a:uFillTx/>
              <a:latin typeface="Times New Roman"/>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4" name="PlaceHolder 1"/>
          <p:cNvSpPr>
            <a:spLocks noGrp="1" noRot="1" noChangeAspect="1"/>
          </p:cNvSpPr>
          <p:nvPr>
            <p:ph type="sldImg"/>
          </p:nvPr>
        </p:nvSpPr>
        <p:spPr>
          <a:xfrm>
            <a:off x="685800" y="1143000"/>
            <a:ext cx="5486400" cy="3086100"/>
          </a:xfrm>
          <a:prstGeom prst="rect">
            <a:avLst/>
          </a:prstGeom>
          <a:ln w="0">
            <a:noFill/>
          </a:ln>
        </p:spPr>
      </p:sp>
      <p:sp>
        <p:nvSpPr>
          <p:cNvPr id="485" name="PlaceHolder 2"/>
          <p:cNvSpPr>
            <a:spLocks noGrp="1"/>
          </p:cNvSpPr>
          <p:nvPr>
            <p:ph type="body"/>
          </p:nvPr>
        </p:nvSpPr>
        <p:spPr>
          <a:xfrm>
            <a:off x="685800" y="4400640"/>
            <a:ext cx="5485680" cy="3599640"/>
          </a:xfrm>
          <a:prstGeom prst="rect">
            <a:avLst/>
          </a:prstGeom>
          <a:noFill/>
          <a:ln w="0">
            <a:noFill/>
          </a:ln>
        </p:spPr>
        <p:txBody>
          <a:bodyPr lIns="91440" tIns="45720" rIns="91440" bIns="45720" anchor="t">
            <a:noAutofit/>
          </a:bodyPr>
          <a:lstStyle/>
          <a:p>
            <a:pPr indent="0">
              <a:buNone/>
            </a:pPr>
            <a:endParaRPr lang="fr-FR" sz="1800" b="0" u="none" strike="noStrike">
              <a:solidFill>
                <a:srgbClr val="000000"/>
              </a:solidFill>
              <a:effectLst/>
              <a:uFillTx/>
              <a:latin typeface="Arial"/>
            </a:endParaRPr>
          </a:p>
        </p:txBody>
      </p:sp>
      <p:sp>
        <p:nvSpPr>
          <p:cNvPr id="486" name="PlaceHolder 3"/>
          <p:cNvSpPr>
            <a:spLocks noGrp="1"/>
          </p:cNvSpPr>
          <p:nvPr>
            <p:ph type="sldNum" idx="15"/>
          </p:nvPr>
        </p:nvSpPr>
        <p:spPr>
          <a:xfrm>
            <a:off x="3884760" y="8685360"/>
            <a:ext cx="2971080" cy="457920"/>
          </a:xfrm>
          <a:prstGeom prst="rect">
            <a:avLst/>
          </a:prstGeom>
          <a:noFill/>
          <a:ln w="0">
            <a:noFill/>
          </a:ln>
        </p:spPr>
        <p:txBody>
          <a:bodyPr lIns="91440" tIns="45720" rIns="91440" bIns="45720" anchor="b">
            <a:noAutofit/>
          </a:bodyPr>
          <a:lstStyle>
            <a:lvl1pPr indent="0" algn="r" defTabSz="914400">
              <a:lnSpc>
                <a:spcPct val="100000"/>
              </a:lnSpc>
              <a:buNone/>
              <a:tabLst>
                <a:tab pos="0" algn="l"/>
              </a:tabLst>
              <a:defRPr lang="en-US" sz="1200" b="0" u="none" strike="noStrike">
                <a:solidFill>
                  <a:schemeClr val="dk1"/>
                </a:solidFill>
                <a:effectLst/>
                <a:uFillTx/>
                <a:latin typeface="+mn-lt"/>
                <a:ea typeface="+mn-ea"/>
              </a:defRPr>
            </a:lvl1pPr>
          </a:lstStyle>
          <a:p>
            <a:pPr indent="0" algn="r" defTabSz="914400">
              <a:lnSpc>
                <a:spcPct val="100000"/>
              </a:lnSpc>
              <a:buNone/>
              <a:tabLst>
                <a:tab pos="0" algn="l"/>
              </a:tabLst>
            </a:pPr>
            <a:fld id="{2F3F7206-4FD3-4ABC-A42C-9C053F4B9FE9}" type="slidenum">
              <a:rPr lang="en-US" sz="1200" b="0" u="none" strike="noStrike">
                <a:solidFill>
                  <a:schemeClr val="dk1"/>
                </a:solidFill>
                <a:effectLst/>
                <a:uFillTx/>
                <a:latin typeface="+mn-lt"/>
                <a:ea typeface="+mn-ea"/>
              </a:rPr>
              <a:t>12</a:t>
            </a:fld>
            <a:endParaRPr lang="fr-FR" sz="1200" b="0" u="none" strike="noStrike">
              <a:solidFill>
                <a:srgbClr val="000000"/>
              </a:solidFill>
              <a:effectLst/>
              <a:uFillTx/>
              <a:latin typeface="Times New Roman"/>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blank" preserve="1">
  <p:cSld name="DEFAULT">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p>
            <a:pPr indent="0" algn="ctr">
              <a:buNone/>
            </a:pPr>
            <a:r>
              <a:rPr lang="fr-FR" sz="4400" b="0" u="none" strike="noStrike">
                <a:solidFill>
                  <a:srgbClr val="000000"/>
                </a:solidFill>
                <a:effectLst/>
                <a:uFillTx/>
                <a:latin typeface="Arial"/>
              </a:rPr>
              <a:t>Cliquez pour éditer le format du texte-titre</a:t>
            </a:r>
          </a:p>
        </p:txBody>
      </p:sp>
      <p:sp>
        <p:nvSpPr>
          <p:cNvPr id="3" name="PlaceHolder 2"/>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p>
            <a:pPr marL="432000" indent="-324000">
              <a:spcBef>
                <a:spcPts val="1417"/>
              </a:spcBef>
              <a:buClr>
                <a:srgbClr val="000000"/>
              </a:buClr>
              <a:buSzPct val="45000"/>
              <a:buFont typeface="Wingdings" charset="2"/>
              <a:buChar char=""/>
            </a:pPr>
            <a:r>
              <a:rPr lang="fr-FR" sz="3200" b="0" u="none" strike="noStrike">
                <a:solidFill>
                  <a:srgbClr val="000000"/>
                </a:solidFill>
                <a:effectLst/>
                <a:uFillTx/>
                <a:latin typeface="Arial"/>
              </a:rPr>
              <a:t>Cliquez pour éditer le format du plan de texte</a:t>
            </a:r>
          </a:p>
          <a:p>
            <a:pPr marL="864000" lvl="1" indent="-324000">
              <a:spcBef>
                <a:spcPts val="1134"/>
              </a:spcBef>
              <a:buClr>
                <a:srgbClr val="000000"/>
              </a:buClr>
              <a:buSzPct val="75000"/>
              <a:buFont typeface="Symbol" charset="2"/>
              <a:buChar char=""/>
            </a:pPr>
            <a:r>
              <a:rPr lang="fr-FR" sz="2800" b="0" u="none" strike="noStrike">
                <a:solidFill>
                  <a:srgbClr val="000000"/>
                </a:solidFill>
                <a:effectLst/>
                <a:uFillTx/>
                <a:latin typeface="Arial"/>
              </a:rPr>
              <a:t>Second niveau de plan</a:t>
            </a:r>
          </a:p>
          <a:p>
            <a:pPr marL="1296000" lvl="2" indent="-288000">
              <a:spcBef>
                <a:spcPts val="850"/>
              </a:spcBef>
              <a:buClr>
                <a:srgbClr val="000000"/>
              </a:buClr>
              <a:buSzPct val="45000"/>
              <a:buFont typeface="Wingdings" charset="2"/>
              <a:buChar char=""/>
            </a:pPr>
            <a:r>
              <a:rPr lang="fr-FR" sz="2400" b="0" u="none" strike="noStrike">
                <a:solidFill>
                  <a:srgbClr val="000000"/>
                </a:solidFill>
                <a:effectLst/>
                <a:uFillTx/>
                <a:latin typeface="Arial"/>
              </a:rPr>
              <a:t>Troisième niveau de plan</a:t>
            </a:r>
          </a:p>
          <a:p>
            <a:pPr marL="1728000" lvl="3" indent="-216000">
              <a:spcBef>
                <a:spcPts val="567"/>
              </a:spcBef>
              <a:buClr>
                <a:srgbClr val="000000"/>
              </a:buClr>
              <a:buSzPct val="75000"/>
              <a:buFont typeface="Symbol" charset="2"/>
              <a:buChar char=""/>
            </a:pPr>
            <a:r>
              <a:rPr lang="fr-FR" sz="2000" b="0" u="none" strike="noStrike">
                <a:solidFill>
                  <a:srgbClr val="000000"/>
                </a:solidFill>
                <a:effectLst/>
                <a:uFillTx/>
                <a:latin typeface="Arial"/>
              </a:rPr>
              <a:t>Quatrième niveau de plan</a:t>
            </a:r>
          </a:p>
          <a:p>
            <a:pPr marL="2160000" lvl="4"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Cinquième niveau de plan</a:t>
            </a:r>
          </a:p>
          <a:p>
            <a:pPr marL="2592000" lvl="5"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Sixième niveau de plan</a:t>
            </a:r>
          </a:p>
          <a:p>
            <a:pPr marL="3024000" lvl="6" indent="-216000">
              <a:spcBef>
                <a:spcPts val="283"/>
              </a:spcBef>
              <a:buClr>
                <a:srgbClr val="000000"/>
              </a:buClr>
              <a:buSzPct val="45000"/>
              <a:buFont typeface="Wingdings" charset="2"/>
              <a:buChar char=""/>
            </a:pPr>
            <a:r>
              <a:rPr lang="fr-FR" sz="2000" b="0" u="none" strike="noStrike">
                <a:solidFill>
                  <a:srgbClr val="000000"/>
                </a:solidFill>
                <a:effectLst/>
                <a:uFillTx/>
                <a:latin typeface="Arial"/>
              </a:rPr>
              <a:t>Septième niveau de plan</a:t>
            </a:r>
          </a:p>
        </p:txBody>
      </p:sp>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svg"/><Relationship Id="rId7" Type="http://schemas.openxmlformats.org/officeDocument/2006/relationships/image" Target="../media/image5.sv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7.sv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1220"/>
        </a:solidFill>
        <a:effectLst/>
      </p:bgPr>
    </p:bg>
    <p:spTree>
      <p:nvGrpSpPr>
        <p:cNvPr id="1" name=""/>
        <p:cNvGrpSpPr/>
        <p:nvPr/>
      </p:nvGrpSpPr>
      <p:grpSpPr>
        <a:xfrm>
          <a:off x="0" y="0"/>
          <a:ext cx="0" cy="0"/>
          <a:chOff x="0" y="0"/>
          <a:chExt cx="0" cy="0"/>
        </a:xfrm>
      </p:grpSpPr>
      <p:pic>
        <p:nvPicPr>
          <p:cNvPr id="10" name="Image 0" descr="preencoded.png"/>
          <p:cNvPicPr/>
          <p:nvPr/>
        </p:nvPicPr>
        <p:blipFill>
          <a:blip>
            <a:extLst>
              <a:ext uri="{96DAC541-7B7A-43D3-8B79-37D633B846F1}">
                <asvg:svgBlip xmlns:asvg="http://schemas.microsoft.com/office/drawing/2016/SVG/main" r:embed="rId3"/>
              </a:ext>
            </a:extLst>
          </a:blip>
          <a:stretch/>
        </p:blipFill>
        <p:spPr>
          <a:xfrm>
            <a:off x="0" y="0"/>
            <a:ext cx="12191040" cy="6857280"/>
          </a:xfrm>
          <a:prstGeom prst="rect">
            <a:avLst/>
          </a:prstGeom>
          <a:noFill/>
          <a:ln w="0">
            <a:noFill/>
          </a:ln>
        </p:spPr>
      </p:pic>
      <p:pic>
        <p:nvPicPr>
          <p:cNvPr id="11" name="Image 1" descr="preencoded.png"/>
          <p:cNvPicPr/>
          <p:nvPr/>
        </p:nvPicPr>
        <p:blipFill>
          <a:blip>
            <a:extLst>
              <a:ext uri="{96DAC541-7B7A-43D3-8B79-37D633B846F1}">
                <asvg:svgBlip xmlns:asvg="http://schemas.microsoft.com/office/drawing/2016/SVG/main" r:embed="rId4"/>
              </a:ext>
            </a:extLst>
          </a:blip>
          <a:stretch/>
        </p:blipFill>
        <p:spPr>
          <a:xfrm>
            <a:off x="0" y="0"/>
            <a:ext cx="12191040" cy="6857280"/>
          </a:xfrm>
          <a:prstGeom prst="rect">
            <a:avLst/>
          </a:prstGeom>
          <a:noFill/>
          <a:ln w="0">
            <a:noFill/>
          </a:ln>
        </p:spPr>
      </p:pic>
      <p:pic>
        <p:nvPicPr>
          <p:cNvPr id="12" name="Image 2" descr="preencoded.png"/>
          <p:cNvPicPr/>
          <p:nvPr/>
        </p:nvPicPr>
        <p:blipFill>
          <a:blip>
            <a:extLst>
              <a:ext uri="{96DAC541-7B7A-43D3-8B79-37D633B846F1}">
                <asvg:svgBlip xmlns:asvg="http://schemas.microsoft.com/office/drawing/2016/SVG/main" r:embed="rId5"/>
              </a:ext>
            </a:extLst>
          </a:blip>
          <a:stretch/>
        </p:blipFill>
        <p:spPr>
          <a:xfrm>
            <a:off x="0" y="0"/>
            <a:ext cx="12191040" cy="6857280"/>
          </a:xfrm>
          <a:prstGeom prst="rect">
            <a:avLst/>
          </a:prstGeom>
          <a:noFill/>
          <a:ln w="0">
            <a:noFill/>
          </a:ln>
        </p:spPr>
      </p:pic>
      <p:pic>
        <p:nvPicPr>
          <p:cNvPr id="13" name="Image 3" descr="preencoded.png"/>
          <p:cNvPicPr/>
          <p:nvPr/>
        </p:nvPicPr>
        <p:blipFill>
          <a:blip>
            <a:extLst>
              <a:ext uri="{96DAC541-7B7A-43D3-8B79-37D633B846F1}">
                <asvg:svgBlip xmlns:asvg="http://schemas.microsoft.com/office/drawing/2016/SVG/main" r:embed="rId6"/>
              </a:ext>
            </a:extLst>
          </a:blip>
          <a:stretch/>
        </p:blipFill>
        <p:spPr>
          <a:xfrm>
            <a:off x="0" y="0"/>
            <a:ext cx="12191040" cy="6857280"/>
          </a:xfrm>
          <a:prstGeom prst="rect">
            <a:avLst/>
          </a:prstGeom>
          <a:noFill/>
          <a:ln w="0">
            <a:noFill/>
          </a:ln>
        </p:spPr>
      </p:pic>
      <p:pic>
        <p:nvPicPr>
          <p:cNvPr id="14" name="Image 4" descr="preencoded.png"/>
          <p:cNvPicPr/>
          <p:nvPr/>
        </p:nvPicPr>
        <p:blipFill>
          <a:blip>
            <a:extLst>
              <a:ext uri="{96DAC541-7B7A-43D3-8B79-37D633B846F1}">
                <asvg:svgBlip xmlns:asvg="http://schemas.microsoft.com/office/drawing/2016/SVG/main" r:embed="rId7"/>
              </a:ext>
            </a:extLst>
          </a:blip>
          <a:stretch/>
        </p:blipFill>
        <p:spPr>
          <a:xfrm>
            <a:off x="0" y="0"/>
            <a:ext cx="12191040" cy="6857280"/>
          </a:xfrm>
          <a:prstGeom prst="rect">
            <a:avLst/>
          </a:prstGeom>
          <a:noFill/>
          <a:ln w="0">
            <a:noFill/>
          </a:ln>
        </p:spPr>
      </p:pic>
      <p:sp>
        <p:nvSpPr>
          <p:cNvPr id="15" name="Shape 0"/>
          <p:cNvSpPr/>
          <p:nvPr/>
        </p:nvSpPr>
        <p:spPr>
          <a:xfrm>
            <a:off x="3767400" y="4224600"/>
            <a:ext cx="145440" cy="14544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6" name="Shape 1"/>
          <p:cNvSpPr/>
          <p:nvPr/>
        </p:nvSpPr>
        <p:spPr>
          <a:xfrm>
            <a:off x="3803760" y="4260960"/>
            <a:ext cx="72360" cy="72360"/>
          </a:xfrm>
          <a:prstGeom prst="ellipse">
            <a:avLst/>
          </a:prstGeom>
          <a:solidFill>
            <a:srgbClr val="FFBE00"/>
          </a:solidFill>
          <a:ln w="12700">
            <a:solidFill>
              <a:srgbClr val="FFBE00"/>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000000"/>
              </a:solidFill>
              <a:effectLst/>
              <a:uFillTx/>
              <a:latin typeface="Arial"/>
            </a:endParaRPr>
          </a:p>
        </p:txBody>
      </p:sp>
      <p:sp>
        <p:nvSpPr>
          <p:cNvPr id="17" name="Shape 2"/>
          <p:cNvSpPr/>
          <p:nvPr/>
        </p:nvSpPr>
        <p:spPr>
          <a:xfrm>
            <a:off x="7425000" y="4956120"/>
            <a:ext cx="145440" cy="14544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8" name="Shape 3"/>
          <p:cNvSpPr/>
          <p:nvPr/>
        </p:nvSpPr>
        <p:spPr>
          <a:xfrm>
            <a:off x="7461360" y="4992480"/>
            <a:ext cx="72360" cy="72360"/>
          </a:xfrm>
          <a:prstGeom prst="ellipse">
            <a:avLst/>
          </a:prstGeom>
          <a:solidFill>
            <a:srgbClr val="CF009E"/>
          </a:solidFill>
          <a:ln w="12700">
            <a:solidFill>
              <a:srgbClr val="CF009E"/>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FFFFFF"/>
              </a:solidFill>
              <a:effectLst/>
              <a:uFillTx/>
              <a:latin typeface="Arial"/>
            </a:endParaRPr>
          </a:p>
        </p:txBody>
      </p:sp>
      <p:sp>
        <p:nvSpPr>
          <p:cNvPr id="19" name="Shape 4"/>
          <p:cNvSpPr/>
          <p:nvPr/>
        </p:nvSpPr>
        <p:spPr>
          <a:xfrm>
            <a:off x="2853000" y="3310200"/>
            <a:ext cx="145440" cy="14544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0" name="Shape 5"/>
          <p:cNvSpPr/>
          <p:nvPr/>
        </p:nvSpPr>
        <p:spPr>
          <a:xfrm>
            <a:off x="2889360" y="3346560"/>
            <a:ext cx="72360" cy="72360"/>
          </a:xfrm>
          <a:prstGeom prst="ellipse">
            <a:avLst/>
          </a:prstGeom>
          <a:solidFill>
            <a:srgbClr val="003CA6"/>
          </a:solidFill>
          <a:ln w="12700">
            <a:solidFill>
              <a:srgbClr val="003CA6"/>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FFFFFF"/>
              </a:solidFill>
              <a:effectLst/>
              <a:uFillTx/>
              <a:latin typeface="Arial"/>
            </a:endParaRPr>
          </a:p>
        </p:txBody>
      </p:sp>
      <p:sp>
        <p:nvSpPr>
          <p:cNvPr id="21" name="Shape 6"/>
          <p:cNvSpPr/>
          <p:nvPr/>
        </p:nvSpPr>
        <p:spPr>
          <a:xfrm>
            <a:off x="6419160" y="3401640"/>
            <a:ext cx="145440" cy="14544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2" name="Shape 7"/>
          <p:cNvSpPr/>
          <p:nvPr/>
        </p:nvSpPr>
        <p:spPr>
          <a:xfrm>
            <a:off x="6455520" y="3438000"/>
            <a:ext cx="72360" cy="7236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000000"/>
              </a:solidFill>
              <a:effectLst/>
              <a:uFillTx/>
              <a:latin typeface="Arial"/>
            </a:endParaRPr>
          </a:p>
        </p:txBody>
      </p:sp>
      <p:sp>
        <p:nvSpPr>
          <p:cNvPr id="23" name="Shape 8"/>
          <p:cNvSpPr/>
          <p:nvPr/>
        </p:nvSpPr>
        <p:spPr>
          <a:xfrm>
            <a:off x="4864680" y="2487240"/>
            <a:ext cx="145440" cy="14544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4" name="Shape 9"/>
          <p:cNvSpPr/>
          <p:nvPr/>
        </p:nvSpPr>
        <p:spPr>
          <a:xfrm>
            <a:off x="4901040" y="2523600"/>
            <a:ext cx="72360" cy="723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FFFFFF"/>
              </a:solidFill>
              <a:effectLst/>
              <a:uFillTx/>
              <a:latin typeface="Arial"/>
            </a:endParaRPr>
          </a:p>
        </p:txBody>
      </p:sp>
      <p:sp>
        <p:nvSpPr>
          <p:cNvPr id="25" name="Shape 10"/>
          <p:cNvSpPr/>
          <p:nvPr/>
        </p:nvSpPr>
        <p:spPr>
          <a:xfrm>
            <a:off x="9070920" y="3675960"/>
            <a:ext cx="145440" cy="14544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6" name="Shape 11"/>
          <p:cNvSpPr/>
          <p:nvPr/>
        </p:nvSpPr>
        <p:spPr>
          <a:xfrm>
            <a:off x="9107280" y="3712320"/>
            <a:ext cx="72360" cy="72360"/>
          </a:xfrm>
          <a:prstGeom prst="ellipse">
            <a:avLst/>
          </a:prstGeom>
          <a:solidFill>
            <a:srgbClr val="FFBE00"/>
          </a:solidFill>
          <a:ln w="12700">
            <a:solidFill>
              <a:srgbClr val="FFBE00"/>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000000"/>
              </a:solidFill>
              <a:effectLst/>
              <a:uFillTx/>
              <a:latin typeface="Arial"/>
            </a:endParaRPr>
          </a:p>
        </p:txBody>
      </p:sp>
      <p:sp>
        <p:nvSpPr>
          <p:cNvPr id="27" name="Shape 12"/>
          <p:cNvSpPr/>
          <p:nvPr/>
        </p:nvSpPr>
        <p:spPr>
          <a:xfrm>
            <a:off x="10716840" y="3675960"/>
            <a:ext cx="145440" cy="14544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8" name="Shape 13"/>
          <p:cNvSpPr/>
          <p:nvPr/>
        </p:nvSpPr>
        <p:spPr>
          <a:xfrm>
            <a:off x="10753200" y="3712320"/>
            <a:ext cx="72360" cy="72360"/>
          </a:xfrm>
          <a:prstGeom prst="ellipse">
            <a:avLst/>
          </a:prstGeom>
          <a:solidFill>
            <a:srgbClr val="CF009E"/>
          </a:solidFill>
          <a:ln w="12700">
            <a:solidFill>
              <a:srgbClr val="CF009E"/>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FFFFFF"/>
              </a:solidFill>
              <a:effectLst/>
              <a:uFillTx/>
              <a:latin typeface="Arial"/>
            </a:endParaRPr>
          </a:p>
        </p:txBody>
      </p:sp>
      <p:sp>
        <p:nvSpPr>
          <p:cNvPr id="29" name="Shape 14"/>
          <p:cNvSpPr/>
          <p:nvPr/>
        </p:nvSpPr>
        <p:spPr>
          <a:xfrm>
            <a:off x="5870520" y="1024200"/>
            <a:ext cx="145440" cy="14544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0" name="Shape 15"/>
          <p:cNvSpPr/>
          <p:nvPr/>
        </p:nvSpPr>
        <p:spPr>
          <a:xfrm>
            <a:off x="5906880" y="1060560"/>
            <a:ext cx="72360" cy="72360"/>
          </a:xfrm>
          <a:prstGeom prst="ellipse">
            <a:avLst/>
          </a:prstGeom>
          <a:solidFill>
            <a:srgbClr val="003CA6"/>
          </a:solidFill>
          <a:ln w="12700">
            <a:solidFill>
              <a:srgbClr val="003CA6"/>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FFFFFF"/>
              </a:solidFill>
              <a:effectLst/>
              <a:uFillTx/>
              <a:latin typeface="Arial"/>
            </a:endParaRPr>
          </a:p>
        </p:txBody>
      </p:sp>
      <p:sp>
        <p:nvSpPr>
          <p:cNvPr id="31" name="Shape 16"/>
          <p:cNvSpPr/>
          <p:nvPr/>
        </p:nvSpPr>
        <p:spPr>
          <a:xfrm>
            <a:off x="10168200" y="1572840"/>
            <a:ext cx="145440" cy="145440"/>
          </a:xfrm>
          <a:prstGeom prst="ellipse">
            <a:avLst/>
          </a:prstGeom>
          <a:solidFill>
            <a:srgbClr val="FFFFFF"/>
          </a:solidFill>
          <a:ln w="12700">
            <a:solidFill>
              <a:srgbClr val="FFFFF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2" name="Shape 17"/>
          <p:cNvSpPr/>
          <p:nvPr/>
        </p:nvSpPr>
        <p:spPr>
          <a:xfrm>
            <a:off x="10204560" y="1609200"/>
            <a:ext cx="72360" cy="7236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000000"/>
              </a:solidFill>
              <a:effectLst/>
              <a:uFillTx/>
              <a:latin typeface="Arial"/>
            </a:endParaRPr>
          </a:p>
        </p:txBody>
      </p:sp>
      <p:sp>
        <p:nvSpPr>
          <p:cNvPr id="33" name="Shape 18"/>
          <p:cNvSpPr/>
          <p:nvPr/>
        </p:nvSpPr>
        <p:spPr>
          <a:xfrm>
            <a:off x="749880" y="804600"/>
            <a:ext cx="6217200" cy="4159800"/>
          </a:xfrm>
          <a:prstGeom prst="roundRect">
            <a:avLst>
              <a:gd name="adj" fmla="val 1758"/>
            </a:avLst>
          </a:prstGeom>
          <a:solidFill>
            <a:srgbClr val="0E172A">
              <a:alpha val="82000"/>
            </a:srgbClr>
          </a:solidFill>
          <a:ln w="12700">
            <a:solidFill>
              <a:srgbClr val="334155">
                <a:alpha val="6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34" name="Text 19"/>
          <p:cNvSpPr/>
          <p:nvPr/>
        </p:nvSpPr>
        <p:spPr>
          <a:xfrm>
            <a:off x="1024200" y="1234440"/>
            <a:ext cx="5394240" cy="1508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700" b="1" u="none" strike="noStrike">
                <a:solidFill>
                  <a:srgbClr val="FFFFFF"/>
                </a:solidFill>
                <a:effectLst/>
                <a:uFillTx/>
                <a:latin typeface="Aptos Display"/>
                <a:ea typeface="Aptos Display"/>
              </a:rPr>
              <a:t>SAE Base de données</a:t>
            </a:r>
            <a:endParaRPr lang="fr-FR" sz="2700" b="0" u="none" strike="noStrike">
              <a:solidFill>
                <a:srgbClr val="FFFFFF"/>
              </a:solidFill>
              <a:effectLst/>
              <a:uFillTx/>
              <a:latin typeface="Arial"/>
            </a:endParaRPr>
          </a:p>
          <a:p>
            <a:pPr defTabSz="914400">
              <a:lnSpc>
                <a:spcPct val="100000"/>
              </a:lnSpc>
              <a:tabLst>
                <a:tab pos="0" algn="l"/>
              </a:tabLst>
            </a:pPr>
            <a:r>
              <a:rPr lang="en-US" sz="2700" b="1" u="none" strike="noStrike">
                <a:solidFill>
                  <a:srgbClr val="FFFFFF"/>
                </a:solidFill>
                <a:effectLst/>
                <a:uFillTx/>
                <a:latin typeface="Aptos Display"/>
                <a:ea typeface="Aptos Display"/>
              </a:rPr>
              <a:t>Métro parisien</a:t>
            </a:r>
            <a:endParaRPr lang="fr-FR" sz="2700" b="0" u="none" strike="noStrike">
              <a:solidFill>
                <a:srgbClr val="FFFFFF"/>
              </a:solidFill>
              <a:effectLst/>
              <a:uFillTx/>
              <a:latin typeface="Arial"/>
            </a:endParaRPr>
          </a:p>
        </p:txBody>
      </p:sp>
      <p:sp>
        <p:nvSpPr>
          <p:cNvPr id="35" name="Text 20"/>
          <p:cNvSpPr/>
          <p:nvPr/>
        </p:nvSpPr>
        <p:spPr>
          <a:xfrm>
            <a:off x="1051560" y="2907720"/>
            <a:ext cx="4982760" cy="730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D7E1EE"/>
                </a:solidFill>
                <a:effectLst/>
                <a:uFillTx/>
                <a:latin typeface="Aptos"/>
              </a:rPr>
              <a:t>Conception d'une base relationnelle PostgreSQL</a:t>
            </a:r>
            <a:endParaRPr lang="fr-FR" sz="1600" b="0" u="none" strike="noStrike">
              <a:solidFill>
                <a:srgbClr val="FFFFFF"/>
              </a:solidFill>
              <a:effectLst/>
              <a:uFillTx/>
              <a:latin typeface="Arial"/>
            </a:endParaRPr>
          </a:p>
          <a:p>
            <a:pPr defTabSz="914400">
              <a:lnSpc>
                <a:spcPct val="100000"/>
              </a:lnSpc>
              <a:tabLst>
                <a:tab pos="0" algn="l"/>
              </a:tabLst>
            </a:pPr>
            <a:r>
              <a:rPr lang="en-US" sz="1600" b="0" u="none" strike="noStrike">
                <a:solidFill>
                  <a:srgbClr val="D7E1EE"/>
                </a:solidFill>
                <a:effectLst/>
                <a:uFillTx/>
                <a:latin typeface="Aptos"/>
              </a:rPr>
              <a:t>pour modéliser le réseau, les stations et les passages.</a:t>
            </a:r>
            <a:endParaRPr lang="fr-FR" sz="1600" b="0" u="none" strike="noStrike">
              <a:solidFill>
                <a:srgbClr val="FFFFFF"/>
              </a:solidFill>
              <a:effectLst/>
              <a:uFillTx/>
              <a:latin typeface="Arial"/>
            </a:endParaRPr>
          </a:p>
        </p:txBody>
      </p:sp>
      <p:sp>
        <p:nvSpPr>
          <p:cNvPr id="36" name="Shape 21"/>
          <p:cNvSpPr/>
          <p:nvPr/>
        </p:nvSpPr>
        <p:spPr>
          <a:xfrm>
            <a:off x="1051560" y="3858480"/>
            <a:ext cx="1417320" cy="360"/>
          </a:xfrm>
          <a:prstGeom prst="line">
            <a:avLst/>
          </a:prstGeom>
          <a:ln w="12700">
            <a:solidFill>
              <a:srgbClr val="38BDF8"/>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FFFFFF"/>
              </a:solidFill>
              <a:effectLst/>
              <a:uFillTx/>
              <a:latin typeface="Arial"/>
            </a:endParaRPr>
          </a:p>
        </p:txBody>
      </p:sp>
      <p:sp>
        <p:nvSpPr>
          <p:cNvPr id="37" name="Text 22"/>
          <p:cNvSpPr/>
          <p:nvPr/>
        </p:nvSpPr>
        <p:spPr>
          <a:xfrm>
            <a:off x="1051560" y="4005000"/>
            <a:ext cx="420552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50" b="0" u="none" strike="noStrike">
                <a:solidFill>
                  <a:srgbClr val="94A3B8"/>
                </a:solidFill>
                <a:effectLst/>
                <a:uFillTx/>
                <a:latin typeface="Aptos"/>
              </a:rPr>
              <a:t>Mini-soutenance - BUT1 Informatique - S2.04</a:t>
            </a:r>
            <a:endParaRPr lang="fr-FR" sz="1150" b="0" u="none" strike="noStrike">
              <a:solidFill>
                <a:srgbClr val="FFFFFF"/>
              </a:solidFill>
              <a:effectLst/>
              <a:uFillTx/>
              <a:latin typeface="Arial"/>
            </a:endParaRPr>
          </a:p>
        </p:txBody>
      </p:sp>
      <p:sp>
        <p:nvSpPr>
          <p:cNvPr id="38" name="Shape 23"/>
          <p:cNvSpPr/>
          <p:nvPr/>
        </p:nvSpPr>
        <p:spPr>
          <a:xfrm>
            <a:off x="8339400" y="720000"/>
            <a:ext cx="3126600" cy="1259640"/>
          </a:xfrm>
          <a:prstGeom prst="roundRect">
            <a:avLst>
              <a:gd name="adj" fmla="val 3704"/>
            </a:avLst>
          </a:prstGeom>
          <a:solidFill>
            <a:srgbClr val="0E172A">
              <a:alpha val="82000"/>
            </a:srgbClr>
          </a:solidFill>
          <a:ln w="12700">
            <a:solidFill>
              <a:srgbClr val="334155">
                <a:alpha val="65000"/>
              </a:srgbClr>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39" name="Text 24"/>
          <p:cNvSpPr/>
          <p:nvPr/>
        </p:nvSpPr>
        <p:spPr>
          <a:xfrm>
            <a:off x="8613720" y="1105920"/>
            <a:ext cx="2605320" cy="438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50" b="0" u="none" strike="noStrike">
                <a:solidFill>
                  <a:srgbClr val="E2E8F0"/>
                </a:solidFill>
                <a:effectLst/>
                <a:uFillTx/>
                <a:latin typeface="Aptos"/>
              </a:rPr>
              <a:t>Groupe : B1</a:t>
            </a:r>
            <a:endParaRPr lang="fr-FR" sz="1350" b="0" u="none" strike="noStrike">
              <a:solidFill>
                <a:srgbClr val="FFFFFF"/>
              </a:solidFill>
              <a:effectLst/>
              <a:uFillTx/>
              <a:latin typeface="Arial"/>
            </a:endParaRPr>
          </a:p>
          <a:p>
            <a:pPr defTabSz="914400">
              <a:lnSpc>
                <a:spcPct val="100000"/>
              </a:lnSpc>
              <a:tabLst>
                <a:tab pos="0" algn="l"/>
              </a:tabLst>
            </a:pPr>
            <a:r>
              <a:rPr lang="en-US" sz="1350" b="0" u="none" strike="noStrike">
                <a:solidFill>
                  <a:srgbClr val="E2E8F0"/>
                </a:solidFill>
                <a:effectLst/>
                <a:uFillTx/>
                <a:latin typeface="Aptos"/>
              </a:rPr>
              <a:t>Noms : Ali DEMIR, </a:t>
            </a:r>
            <a:endParaRPr lang="fr-FR" sz="1350" b="0" u="none" strike="noStrike">
              <a:solidFill>
                <a:srgbClr val="FFFFFF"/>
              </a:solidFill>
              <a:effectLst/>
              <a:uFillTx/>
              <a:latin typeface="Arial"/>
            </a:endParaRPr>
          </a:p>
          <a:p>
            <a:pPr defTabSz="914400">
              <a:lnSpc>
                <a:spcPct val="100000"/>
              </a:lnSpc>
              <a:tabLst>
                <a:tab pos="0" algn="l"/>
              </a:tabLst>
            </a:pPr>
            <a:r>
              <a:rPr lang="en-US" sz="1350" b="0" u="none" strike="noStrike">
                <a:solidFill>
                  <a:srgbClr val="E2E8F0"/>
                </a:solidFill>
                <a:effectLst/>
                <a:uFillTx/>
                <a:latin typeface="Aptos"/>
              </a:rPr>
              <a:t>Antoine TOUCANE, </a:t>
            </a:r>
            <a:endParaRPr lang="fr-FR" sz="1350" b="0" u="none" strike="noStrike">
              <a:solidFill>
                <a:srgbClr val="FFFFFF"/>
              </a:solidFill>
              <a:effectLst/>
              <a:uFillTx/>
              <a:latin typeface="Arial"/>
            </a:endParaRPr>
          </a:p>
          <a:p>
            <a:pPr>
              <a:tabLst>
                <a:tab pos="0" algn="l"/>
              </a:tabLst>
            </a:pPr>
            <a:r>
              <a:rPr lang="en-US" sz="1350" b="0" u="none" strike="noStrike">
                <a:solidFill>
                  <a:srgbClr val="E2E8F0"/>
                </a:solidFill>
                <a:effectLst/>
                <a:uFillTx/>
                <a:latin typeface="Aptos"/>
              </a:rPr>
              <a:t>Zakariya BOURGUIBA, </a:t>
            </a:r>
            <a:endParaRPr lang="fr-FR" sz="1350">
              <a:solidFill>
                <a:srgbClr val="FFFFFF"/>
              </a:solidFill>
              <a:latin typeface="Arial"/>
              <a:cs typeface="Arial"/>
            </a:endParaRPr>
          </a:p>
          <a:p>
            <a:pPr defTabSz="914400">
              <a:lnSpc>
                <a:spcPct val="100000"/>
              </a:lnSpc>
              <a:tabLst>
                <a:tab pos="0" algn="l"/>
              </a:tabLst>
            </a:pPr>
            <a:r>
              <a:rPr lang="en-US" sz="1350" b="0" u="none" strike="noStrike">
                <a:solidFill>
                  <a:srgbClr val="E2E8F0"/>
                </a:solidFill>
                <a:effectLst/>
                <a:uFillTx/>
                <a:latin typeface="Aptos"/>
              </a:rPr>
              <a:t>Stiven </a:t>
            </a:r>
            <a:r>
              <a:rPr lang="en-US" sz="1350">
                <a:solidFill>
                  <a:srgbClr val="E2E8F0"/>
                </a:solidFill>
                <a:latin typeface="Aptos"/>
              </a:rPr>
              <a:t>NICULICA</a:t>
            </a:r>
            <a:endParaRPr lang="fr-FR" sz="1350" b="0" u="none" strike="noStrike">
              <a:solidFill>
                <a:srgbClr val="FFFFFF"/>
              </a:solidFill>
              <a:effectLst/>
              <a:uFillTx/>
              <a:latin typeface="Arial"/>
              <a:cs typeface="Arial"/>
            </a:endParaRPr>
          </a:p>
        </p:txBody>
      </p:sp>
      <p:sp>
        <p:nvSpPr>
          <p:cNvPr id="40" name="Text 25"/>
          <p:cNvSpPr/>
          <p:nvPr/>
        </p:nvSpPr>
        <p:spPr>
          <a:xfrm>
            <a:off x="8275320" y="5376600"/>
            <a:ext cx="292536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800" b="1" u="none" strike="noStrike">
                <a:solidFill>
                  <a:srgbClr val="FFFFFF"/>
                </a:solidFill>
                <a:effectLst/>
                <a:uFillTx/>
                <a:latin typeface="Aptos"/>
              </a:rPr>
              <a:t>Données, SQL, visualisation</a:t>
            </a:r>
            <a:endParaRPr lang="fr-FR" sz="1800" b="0" u="none" strike="noStrike">
              <a:solidFill>
                <a:srgbClr val="FFFFFF"/>
              </a:solidFill>
              <a:effectLst/>
              <a:uFillTx/>
              <a:latin typeface="Arial"/>
            </a:endParaRPr>
          </a:p>
          <a:p>
            <a:pPr algn="r" defTabSz="914400">
              <a:lnSpc>
                <a:spcPct val="100000"/>
              </a:lnSpc>
              <a:tabLst>
                <a:tab pos="0" algn="l"/>
              </a:tabLst>
            </a:pPr>
            <a:r>
              <a:rPr lang="en-US" sz="1800" b="1" u="none" strike="noStrike">
                <a:solidFill>
                  <a:srgbClr val="FFFFFF"/>
                </a:solidFill>
                <a:effectLst/>
                <a:uFillTx/>
                <a:latin typeface="Aptos"/>
              </a:rPr>
              <a:t>et travail collaboratif</a:t>
            </a:r>
            <a:endParaRPr lang="fr-FR" sz="1800" b="0" u="none" strike="noStrike">
              <a:solidFill>
                <a:srgbClr val="FFFFFF"/>
              </a:solidFill>
              <a:effectLst/>
              <a:uFillTx/>
              <a:latin typeface="Arial"/>
            </a:endParaRPr>
          </a:p>
        </p:txBody>
      </p:sp>
      <p:sp>
        <p:nvSpPr>
          <p:cNvPr id="41" name="Shape 26"/>
          <p:cNvSpPr/>
          <p:nvPr/>
        </p:nvSpPr>
        <p:spPr>
          <a:xfrm>
            <a:off x="9646920" y="6108120"/>
            <a:ext cx="346680" cy="255240"/>
          </a:xfrm>
          <a:prstGeom prst="roundRect">
            <a:avLst>
              <a:gd name="adj" fmla="val 17857"/>
            </a:avLst>
          </a:prstGeom>
          <a:solidFill>
            <a:srgbClr val="FFBE00"/>
          </a:solidFill>
          <a:ln w="12700">
            <a:solidFill>
              <a:srgbClr val="FFBE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2" name="Text 27"/>
          <p:cNvSpPr/>
          <p:nvPr/>
        </p:nvSpPr>
        <p:spPr>
          <a:xfrm>
            <a:off x="9646920" y="6153480"/>
            <a:ext cx="3466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Aptos"/>
              </a:rPr>
              <a:t>1</a:t>
            </a:r>
            <a:endParaRPr lang="fr-FR" sz="1100" b="0" u="none" strike="noStrike">
              <a:solidFill>
                <a:srgbClr val="FFFFFF"/>
              </a:solidFill>
              <a:effectLst/>
              <a:uFillTx/>
              <a:latin typeface="Arial"/>
            </a:endParaRPr>
          </a:p>
        </p:txBody>
      </p:sp>
      <p:sp>
        <p:nvSpPr>
          <p:cNvPr id="43" name="Shape 28"/>
          <p:cNvSpPr/>
          <p:nvPr/>
        </p:nvSpPr>
        <p:spPr>
          <a:xfrm>
            <a:off x="10076760" y="6108120"/>
            <a:ext cx="346680" cy="255240"/>
          </a:xfrm>
          <a:prstGeom prst="roundRect">
            <a:avLst>
              <a:gd name="adj" fmla="val 17857"/>
            </a:avLst>
          </a:prstGeom>
          <a:solidFill>
            <a:srgbClr val="CF009E"/>
          </a:solidFill>
          <a:ln w="12700">
            <a:solidFill>
              <a:srgbClr val="CF009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44" name="Text 29"/>
          <p:cNvSpPr/>
          <p:nvPr/>
        </p:nvSpPr>
        <p:spPr>
          <a:xfrm>
            <a:off x="10076760" y="6153480"/>
            <a:ext cx="3466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Aptos"/>
              </a:rPr>
              <a:t>4</a:t>
            </a:r>
            <a:endParaRPr lang="fr-FR" sz="1100" b="0" u="none" strike="noStrike">
              <a:solidFill>
                <a:srgbClr val="FFFFFF"/>
              </a:solidFill>
              <a:effectLst/>
              <a:uFillTx/>
              <a:latin typeface="Arial"/>
            </a:endParaRPr>
          </a:p>
        </p:txBody>
      </p:sp>
      <p:sp>
        <p:nvSpPr>
          <p:cNvPr id="45" name="Shape 30"/>
          <p:cNvSpPr/>
          <p:nvPr/>
        </p:nvSpPr>
        <p:spPr>
          <a:xfrm>
            <a:off x="10506600" y="6108120"/>
            <a:ext cx="346680" cy="255240"/>
          </a:xfrm>
          <a:prstGeom prst="roundRect">
            <a:avLst>
              <a:gd name="adj" fmla="val 17857"/>
            </a:avLst>
          </a:prstGeom>
          <a:solidFill>
            <a:srgbClr val="FA9ABA"/>
          </a:solidFill>
          <a:ln w="12700">
            <a:solidFill>
              <a:srgbClr val="FA9AB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6" name="Text 31"/>
          <p:cNvSpPr/>
          <p:nvPr/>
        </p:nvSpPr>
        <p:spPr>
          <a:xfrm>
            <a:off x="10506600" y="6153480"/>
            <a:ext cx="3466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Aptos"/>
              </a:rPr>
              <a:t>7</a:t>
            </a:r>
            <a:endParaRPr lang="fr-FR" sz="1100" b="0" u="none" strike="noStrike">
              <a:solidFill>
                <a:srgbClr val="FFFFFF"/>
              </a:solidFill>
              <a:effectLst/>
              <a:uFillTx/>
              <a:latin typeface="Arial"/>
            </a:endParaRPr>
          </a:p>
        </p:txBody>
      </p:sp>
      <p:sp>
        <p:nvSpPr>
          <p:cNvPr id="47" name="Shape 32"/>
          <p:cNvSpPr/>
          <p:nvPr/>
        </p:nvSpPr>
        <p:spPr>
          <a:xfrm>
            <a:off x="10936080" y="6108120"/>
            <a:ext cx="346680" cy="255240"/>
          </a:xfrm>
          <a:prstGeom prst="roundRect">
            <a:avLst>
              <a:gd name="adj" fmla="val 17857"/>
            </a:avLst>
          </a:prstGeom>
          <a:solidFill>
            <a:srgbClr val="9F9825"/>
          </a:solidFill>
          <a:ln w="12700">
            <a:solidFill>
              <a:srgbClr val="9F98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48" name="Text 33"/>
          <p:cNvSpPr/>
          <p:nvPr/>
        </p:nvSpPr>
        <p:spPr>
          <a:xfrm>
            <a:off x="10936080" y="6153480"/>
            <a:ext cx="3466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Aptos"/>
              </a:rPr>
              <a:t>9</a:t>
            </a:r>
            <a:endParaRPr lang="fr-FR" sz="1100" b="0" u="none" strike="noStrike">
              <a:solidFill>
                <a:srgbClr val="FFFFFF"/>
              </a:solidFill>
              <a:effectLst/>
              <a:uFillTx/>
              <a:latin typeface="Arial"/>
            </a:endParaRPr>
          </a:p>
        </p:txBody>
      </p:sp>
      <p:sp>
        <p:nvSpPr>
          <p:cNvPr id="49" name="Text 34"/>
          <p:cNvSpPr/>
          <p:nvPr/>
        </p:nvSpPr>
        <p:spPr>
          <a:xfrm>
            <a:off x="6583680" y="6382440"/>
            <a:ext cx="457128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80" b="0" u="none" strike="noStrike">
                <a:solidFill>
                  <a:srgbClr val="A8B4C7"/>
                </a:solidFill>
                <a:effectLst/>
                <a:uFillTx/>
                <a:latin typeface="Aptos"/>
              </a:rPr>
              <a:t>IUT de MONTREUIL</a:t>
            </a:r>
            <a:endParaRPr lang="fr-FR" sz="880" b="0" u="none" strike="noStrike">
              <a:solidFill>
                <a:srgbClr val="FFFFFF"/>
              </a:solidFill>
              <a:effectLst/>
              <a:uFillTx/>
              <a:latin typeface="Arial"/>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50"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51"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Cahier des charges fictif</a:t>
            </a:r>
            <a:endParaRPr lang="fr-FR" sz="2600" b="0" u="none" strike="noStrike">
              <a:solidFill>
                <a:srgbClr val="000000"/>
              </a:solidFill>
              <a:effectLst/>
              <a:uFillTx/>
              <a:latin typeface="Arial"/>
            </a:endParaRPr>
          </a:p>
        </p:txBody>
      </p:sp>
      <p:sp>
        <p:nvSpPr>
          <p:cNvPr id="52"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fr-FR" sz="1800" b="0" u="none" strike="noStrike">
              <a:solidFill>
                <a:srgbClr val="000000"/>
              </a:solidFill>
              <a:effectLst/>
              <a:uFillTx/>
              <a:latin typeface="Arial"/>
            </a:endParaRPr>
          </a:p>
        </p:txBody>
      </p:sp>
      <p:sp>
        <p:nvSpPr>
          <p:cNvPr id="53"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54" name="Shape 4"/>
          <p:cNvSpPr/>
          <p:nvPr/>
        </p:nvSpPr>
        <p:spPr>
          <a:xfrm>
            <a:off x="594360" y="1080000"/>
            <a:ext cx="3794040" cy="5399640"/>
          </a:xfrm>
          <a:prstGeom prst="roundRect">
            <a:avLst>
              <a:gd name="adj" fmla="val 1928"/>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55" name="Text 5"/>
          <p:cNvSpPr/>
          <p:nvPr/>
        </p:nvSpPr>
        <p:spPr>
          <a:xfrm>
            <a:off x="580680" y="1240200"/>
            <a:ext cx="2285280" cy="2736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a:solidFill>
                  <a:srgbClr val="111827"/>
                </a:solidFill>
                <a:effectLst/>
                <a:uFillTx/>
                <a:latin typeface="Aptos"/>
              </a:rPr>
              <a:t>Contexte client</a:t>
            </a:r>
            <a:endParaRPr lang="fr-FR" sz="2000" b="0" u="none" strike="noStrike">
              <a:solidFill>
                <a:srgbClr val="000000"/>
              </a:solidFill>
              <a:effectLst/>
              <a:uFillTx/>
              <a:latin typeface="Arial"/>
            </a:endParaRPr>
          </a:p>
        </p:txBody>
      </p:sp>
      <p:sp>
        <p:nvSpPr>
          <p:cNvPr id="56" name="Text 6"/>
          <p:cNvSpPr/>
          <p:nvPr/>
        </p:nvSpPr>
        <p:spPr>
          <a:xfrm>
            <a:off x="868680" y="2469960"/>
            <a:ext cx="3153960" cy="986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tabLst>
                <a:tab pos="0" algn="l"/>
              </a:tabLst>
            </a:pPr>
            <a:r>
              <a:rPr lang="en-US" sz="1600" b="0" u="none" strike="noStrike">
                <a:solidFill>
                  <a:srgbClr val="374151"/>
                </a:solidFill>
                <a:effectLst/>
                <a:uFillTx/>
                <a:latin typeface="Aptos"/>
              </a:rPr>
              <a:t>- Demande fictive de la RATP </a:t>
            </a:r>
            <a:endParaRPr lang="fr-FR" sz="16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600" b="0" u="none" strike="noStrike">
                <a:solidFill>
                  <a:srgbClr val="374151"/>
                </a:solidFill>
                <a:effectLst/>
                <a:uFillTx/>
                <a:latin typeface="Aptos"/>
              </a:rPr>
              <a:t>- Créer une base de données simple </a:t>
            </a:r>
            <a:endParaRPr lang="fr-FR" sz="16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600" b="0" u="none" strike="noStrike">
                <a:solidFill>
                  <a:srgbClr val="374151"/>
                </a:solidFill>
                <a:effectLst/>
                <a:uFillTx/>
                <a:latin typeface="Aptos"/>
              </a:rPr>
              <a:t>- Représenter le métro parisien Permettre l’exploitation des données</a:t>
            </a:r>
            <a:endParaRPr lang="fr-FR" sz="1600" b="0" u="none" strike="noStrike">
              <a:solidFill>
                <a:srgbClr val="000000"/>
              </a:solidFill>
              <a:effectLst/>
              <a:uFillTx/>
              <a:latin typeface="Arial"/>
            </a:endParaRPr>
          </a:p>
          <a:p>
            <a:pPr defTabSz="914400">
              <a:lnSpc>
                <a:spcPct val="100000"/>
              </a:lnSpc>
              <a:spcBef>
                <a:spcPts val="1191"/>
              </a:spcBef>
              <a:spcAft>
                <a:spcPts val="992"/>
              </a:spcAft>
              <a:tabLst>
                <a:tab pos="0" algn="l"/>
              </a:tabLst>
            </a:pPr>
            <a:endParaRPr lang="fr-FR" sz="1600" b="0" u="none" strike="noStrike">
              <a:solidFill>
                <a:srgbClr val="000000"/>
              </a:solidFill>
              <a:effectLst/>
              <a:uFillTx/>
              <a:latin typeface="Arial"/>
            </a:endParaRPr>
          </a:p>
        </p:txBody>
      </p:sp>
      <p:sp>
        <p:nvSpPr>
          <p:cNvPr id="57" name="Text 7"/>
          <p:cNvSpPr/>
          <p:nvPr/>
        </p:nvSpPr>
        <p:spPr>
          <a:xfrm>
            <a:off x="580680" y="3786120"/>
            <a:ext cx="22852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700" b="1" u="none" strike="noStrike">
                <a:solidFill>
                  <a:srgbClr val="111827"/>
                </a:solidFill>
                <a:effectLst/>
                <a:uFillTx/>
                <a:latin typeface="Aptos"/>
              </a:rPr>
              <a:t>Objectif global</a:t>
            </a:r>
            <a:endParaRPr lang="fr-FR" sz="1700" b="0" u="none" strike="noStrike">
              <a:solidFill>
                <a:srgbClr val="000000"/>
              </a:solidFill>
              <a:effectLst/>
              <a:uFillTx/>
              <a:latin typeface="Arial"/>
            </a:endParaRPr>
          </a:p>
        </p:txBody>
      </p:sp>
      <p:sp>
        <p:nvSpPr>
          <p:cNvPr id="58" name="Text 8"/>
          <p:cNvSpPr/>
          <p:nvPr/>
        </p:nvSpPr>
        <p:spPr>
          <a:xfrm>
            <a:off x="868680" y="4339800"/>
            <a:ext cx="3153960" cy="9136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tabLst>
                <a:tab pos="0" algn="l"/>
              </a:tabLst>
            </a:pPr>
            <a:r>
              <a:rPr lang="en-US" sz="1550" b="0" u="none" strike="noStrike">
                <a:solidFill>
                  <a:srgbClr val="374151"/>
                </a:solidFill>
                <a:effectLst/>
                <a:uFillTx/>
                <a:latin typeface="Aptos"/>
              </a:rPr>
              <a:t>- Stocker les lignes, les stations, les trajets et les passages</a:t>
            </a:r>
            <a:endParaRPr lang="fr-FR" sz="155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550" b="0" u="none" strike="noStrike">
                <a:solidFill>
                  <a:srgbClr val="374151"/>
                </a:solidFill>
                <a:effectLst/>
                <a:uFillTx/>
                <a:latin typeface="Aptos"/>
              </a:rPr>
              <a:t>- Obtenir des graphiques utiles à la lecture du réseau</a:t>
            </a:r>
            <a:endParaRPr lang="fr-FR" sz="1550" b="0" u="none" strike="noStrike">
              <a:solidFill>
                <a:srgbClr val="000000"/>
              </a:solidFill>
              <a:effectLst/>
              <a:uFillTx/>
              <a:latin typeface="Arial"/>
            </a:endParaRPr>
          </a:p>
        </p:txBody>
      </p:sp>
      <p:sp>
        <p:nvSpPr>
          <p:cNvPr id="59" name="Shape 9"/>
          <p:cNvSpPr/>
          <p:nvPr/>
        </p:nvSpPr>
        <p:spPr>
          <a:xfrm>
            <a:off x="1048680" y="5639400"/>
            <a:ext cx="2833920" cy="712440"/>
          </a:xfrm>
          <a:prstGeom prst="roundRect">
            <a:avLst>
              <a:gd name="adj" fmla="val 5128"/>
            </a:avLst>
          </a:prstGeom>
          <a:solidFill>
            <a:srgbClr val="EFF6FF"/>
          </a:solidFill>
          <a:ln w="12700">
            <a:solidFill>
              <a:srgbClr val="BFDB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60" name="Text 10"/>
          <p:cNvSpPr/>
          <p:nvPr/>
        </p:nvSpPr>
        <p:spPr>
          <a:xfrm>
            <a:off x="1267560" y="5913360"/>
            <a:ext cx="246816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20" b="1" u="none" strike="noStrike">
                <a:solidFill>
                  <a:srgbClr val="1E40AF"/>
                </a:solidFill>
                <a:effectLst/>
                <a:uFillTx/>
                <a:latin typeface="Aptos"/>
              </a:rPr>
              <a:t>Base relationnelle + script SQL + analyse</a:t>
            </a:r>
            <a:endParaRPr lang="fr-FR" sz="1320" b="0" u="none" strike="noStrike">
              <a:solidFill>
                <a:srgbClr val="000000"/>
              </a:solidFill>
              <a:effectLst/>
              <a:uFillTx/>
              <a:latin typeface="Arial"/>
            </a:endParaRPr>
          </a:p>
        </p:txBody>
      </p:sp>
      <p:sp>
        <p:nvSpPr>
          <p:cNvPr id="61" name="Shape 11"/>
          <p:cNvSpPr/>
          <p:nvPr/>
        </p:nvSpPr>
        <p:spPr>
          <a:xfrm>
            <a:off x="4754880" y="1444680"/>
            <a:ext cx="2148120" cy="1919520"/>
          </a:xfrm>
          <a:prstGeom prst="roundRect">
            <a:avLst>
              <a:gd name="adj" fmla="val 3810"/>
            </a:avLst>
          </a:prstGeom>
          <a:solidFill>
            <a:srgbClr val="DBEAFE"/>
          </a:solidFill>
          <a:ln w="12700">
            <a:solidFill>
              <a:srgbClr val="93C5FD"/>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62" name="Text 12"/>
          <p:cNvSpPr/>
          <p:nvPr/>
        </p:nvSpPr>
        <p:spPr>
          <a:xfrm>
            <a:off x="4937760" y="1609200"/>
            <a:ext cx="17823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Ce qu'on stocke</a:t>
            </a:r>
            <a:endParaRPr lang="fr-FR" sz="1600" b="0" u="none" strike="noStrike">
              <a:solidFill>
                <a:srgbClr val="000000"/>
              </a:solidFill>
              <a:effectLst/>
              <a:uFillTx/>
              <a:latin typeface="Arial"/>
            </a:endParaRPr>
          </a:p>
        </p:txBody>
      </p:sp>
      <p:sp>
        <p:nvSpPr>
          <p:cNvPr id="63" name="Shape 13"/>
          <p:cNvSpPr/>
          <p:nvPr/>
        </p:nvSpPr>
        <p:spPr>
          <a:xfrm>
            <a:off x="4974480" y="209412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64" name="Text 14"/>
          <p:cNvSpPr/>
          <p:nvPr/>
        </p:nvSpPr>
        <p:spPr>
          <a:xfrm>
            <a:off x="5139000" y="202068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Lignes</a:t>
            </a:r>
            <a:endParaRPr lang="fr-FR" sz="1320" b="0" u="none" strike="noStrike">
              <a:solidFill>
                <a:srgbClr val="000000"/>
              </a:solidFill>
              <a:effectLst/>
              <a:uFillTx/>
              <a:latin typeface="Arial"/>
            </a:endParaRPr>
          </a:p>
        </p:txBody>
      </p:sp>
      <p:sp>
        <p:nvSpPr>
          <p:cNvPr id="65" name="Shape 15"/>
          <p:cNvSpPr/>
          <p:nvPr/>
        </p:nvSpPr>
        <p:spPr>
          <a:xfrm>
            <a:off x="4974480" y="238644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66" name="Text 16"/>
          <p:cNvSpPr/>
          <p:nvPr/>
        </p:nvSpPr>
        <p:spPr>
          <a:xfrm>
            <a:off x="5139000" y="231336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Stations</a:t>
            </a:r>
            <a:endParaRPr lang="fr-FR" sz="1320" b="0" u="none" strike="noStrike">
              <a:solidFill>
                <a:srgbClr val="000000"/>
              </a:solidFill>
              <a:effectLst/>
              <a:uFillTx/>
              <a:latin typeface="Arial"/>
            </a:endParaRPr>
          </a:p>
        </p:txBody>
      </p:sp>
      <p:sp>
        <p:nvSpPr>
          <p:cNvPr id="67" name="Shape 17"/>
          <p:cNvSpPr/>
          <p:nvPr/>
        </p:nvSpPr>
        <p:spPr>
          <a:xfrm>
            <a:off x="4974480" y="267912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68" name="Text 18"/>
          <p:cNvSpPr/>
          <p:nvPr/>
        </p:nvSpPr>
        <p:spPr>
          <a:xfrm>
            <a:off x="5139000" y="260604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Trajets</a:t>
            </a:r>
            <a:endParaRPr lang="fr-FR" sz="1320" b="0" u="none" strike="noStrike">
              <a:solidFill>
                <a:srgbClr val="000000"/>
              </a:solidFill>
              <a:effectLst/>
              <a:uFillTx/>
              <a:latin typeface="Arial"/>
            </a:endParaRPr>
          </a:p>
        </p:txBody>
      </p:sp>
      <p:sp>
        <p:nvSpPr>
          <p:cNvPr id="69" name="Shape 19"/>
          <p:cNvSpPr/>
          <p:nvPr/>
        </p:nvSpPr>
        <p:spPr>
          <a:xfrm>
            <a:off x="4974480" y="297180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70" name="Text 20"/>
          <p:cNvSpPr/>
          <p:nvPr/>
        </p:nvSpPr>
        <p:spPr>
          <a:xfrm>
            <a:off x="5139000" y="289872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Passages</a:t>
            </a:r>
            <a:endParaRPr lang="fr-FR" sz="1320" b="0" u="none" strike="noStrike">
              <a:solidFill>
                <a:srgbClr val="000000"/>
              </a:solidFill>
              <a:effectLst/>
              <a:uFillTx/>
              <a:latin typeface="Arial"/>
            </a:endParaRPr>
          </a:p>
        </p:txBody>
      </p:sp>
      <p:sp>
        <p:nvSpPr>
          <p:cNvPr id="71" name="Shape 21"/>
          <p:cNvSpPr/>
          <p:nvPr/>
        </p:nvSpPr>
        <p:spPr>
          <a:xfrm>
            <a:off x="7059240" y="1444680"/>
            <a:ext cx="2148120" cy="1919520"/>
          </a:xfrm>
          <a:prstGeom prst="roundRect">
            <a:avLst>
              <a:gd name="adj" fmla="val 3810"/>
            </a:avLst>
          </a:prstGeom>
          <a:solidFill>
            <a:srgbClr val="ECFDF5"/>
          </a:solidFill>
          <a:ln w="12700">
            <a:solidFill>
              <a:srgbClr val="A7F3D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72" name="Text 22"/>
          <p:cNvSpPr/>
          <p:nvPr/>
        </p:nvSpPr>
        <p:spPr>
          <a:xfrm>
            <a:off x="7242120" y="1609200"/>
            <a:ext cx="17823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Ce qu'on relie</a:t>
            </a:r>
            <a:endParaRPr lang="fr-FR" sz="1600" b="0" u="none" strike="noStrike">
              <a:solidFill>
                <a:srgbClr val="000000"/>
              </a:solidFill>
              <a:effectLst/>
              <a:uFillTx/>
              <a:latin typeface="Arial"/>
            </a:endParaRPr>
          </a:p>
        </p:txBody>
      </p:sp>
      <p:sp>
        <p:nvSpPr>
          <p:cNvPr id="73" name="Shape 23"/>
          <p:cNvSpPr/>
          <p:nvPr/>
        </p:nvSpPr>
        <p:spPr>
          <a:xfrm>
            <a:off x="7278480" y="2094120"/>
            <a:ext cx="90720" cy="9072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74" name="Text 24"/>
          <p:cNvSpPr/>
          <p:nvPr/>
        </p:nvSpPr>
        <p:spPr>
          <a:xfrm>
            <a:off x="7443360" y="202068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Dessertes</a:t>
            </a:r>
            <a:endParaRPr lang="fr-FR" sz="1320" b="0" u="none" strike="noStrike">
              <a:solidFill>
                <a:srgbClr val="000000"/>
              </a:solidFill>
              <a:effectLst/>
              <a:uFillTx/>
              <a:latin typeface="Arial"/>
            </a:endParaRPr>
          </a:p>
        </p:txBody>
      </p:sp>
      <p:sp>
        <p:nvSpPr>
          <p:cNvPr id="75" name="Shape 25"/>
          <p:cNvSpPr/>
          <p:nvPr/>
        </p:nvSpPr>
        <p:spPr>
          <a:xfrm>
            <a:off x="7278480" y="2386440"/>
            <a:ext cx="90720" cy="9072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76" name="Text 26"/>
          <p:cNvSpPr/>
          <p:nvPr/>
        </p:nvSpPr>
        <p:spPr>
          <a:xfrm>
            <a:off x="7443360" y="231336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Ordre des stations</a:t>
            </a:r>
            <a:endParaRPr lang="fr-FR" sz="1320" b="0" u="none" strike="noStrike">
              <a:solidFill>
                <a:srgbClr val="000000"/>
              </a:solidFill>
              <a:effectLst/>
              <a:uFillTx/>
              <a:latin typeface="Arial"/>
            </a:endParaRPr>
          </a:p>
        </p:txBody>
      </p:sp>
      <p:sp>
        <p:nvSpPr>
          <p:cNvPr id="77" name="Shape 27"/>
          <p:cNvSpPr/>
          <p:nvPr/>
        </p:nvSpPr>
        <p:spPr>
          <a:xfrm>
            <a:off x="7278480" y="2679120"/>
            <a:ext cx="90720" cy="9072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78" name="Text 28"/>
          <p:cNvSpPr/>
          <p:nvPr/>
        </p:nvSpPr>
        <p:spPr>
          <a:xfrm>
            <a:off x="7443360" y="260604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Horaires</a:t>
            </a:r>
            <a:endParaRPr lang="fr-FR" sz="1320" b="0" u="none" strike="noStrike">
              <a:solidFill>
                <a:srgbClr val="000000"/>
              </a:solidFill>
              <a:effectLst/>
              <a:uFillTx/>
              <a:latin typeface="Arial"/>
            </a:endParaRPr>
          </a:p>
        </p:txBody>
      </p:sp>
      <p:sp>
        <p:nvSpPr>
          <p:cNvPr id="79" name="Shape 29"/>
          <p:cNvSpPr/>
          <p:nvPr/>
        </p:nvSpPr>
        <p:spPr>
          <a:xfrm>
            <a:off x="7278480" y="2971800"/>
            <a:ext cx="90720" cy="9072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80" name="Text 30"/>
          <p:cNvSpPr/>
          <p:nvPr/>
        </p:nvSpPr>
        <p:spPr>
          <a:xfrm>
            <a:off x="7443360" y="289872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Correspondances</a:t>
            </a:r>
            <a:endParaRPr lang="fr-FR" sz="1320" b="0" u="none" strike="noStrike">
              <a:solidFill>
                <a:srgbClr val="000000"/>
              </a:solidFill>
              <a:effectLst/>
              <a:uFillTx/>
              <a:latin typeface="Arial"/>
            </a:endParaRPr>
          </a:p>
        </p:txBody>
      </p:sp>
      <p:sp>
        <p:nvSpPr>
          <p:cNvPr id="81" name="Shape 31"/>
          <p:cNvSpPr/>
          <p:nvPr/>
        </p:nvSpPr>
        <p:spPr>
          <a:xfrm>
            <a:off x="9363600" y="1444680"/>
            <a:ext cx="2148120" cy="1919520"/>
          </a:xfrm>
          <a:prstGeom prst="roundRect">
            <a:avLst>
              <a:gd name="adj" fmla="val 3810"/>
            </a:avLst>
          </a:prstGeom>
          <a:solidFill>
            <a:srgbClr val="FEF3C7"/>
          </a:solidFill>
          <a:ln w="12700">
            <a:solidFill>
              <a:srgbClr val="FCD34D"/>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82" name="Text 32"/>
          <p:cNvSpPr/>
          <p:nvPr/>
        </p:nvSpPr>
        <p:spPr>
          <a:xfrm>
            <a:off x="9546480" y="1609200"/>
            <a:ext cx="17823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Ce qu'on exploite</a:t>
            </a:r>
            <a:endParaRPr lang="fr-FR" sz="1600" b="0" u="none" strike="noStrike">
              <a:solidFill>
                <a:srgbClr val="000000"/>
              </a:solidFill>
              <a:effectLst/>
              <a:uFillTx/>
              <a:latin typeface="Arial"/>
            </a:endParaRPr>
          </a:p>
        </p:txBody>
      </p:sp>
      <p:sp>
        <p:nvSpPr>
          <p:cNvPr id="83" name="Shape 33"/>
          <p:cNvSpPr/>
          <p:nvPr/>
        </p:nvSpPr>
        <p:spPr>
          <a:xfrm>
            <a:off x="9582840" y="2094120"/>
            <a:ext cx="90720" cy="90720"/>
          </a:xfrm>
          <a:prstGeom prst="ellipse">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84" name="Text 34"/>
          <p:cNvSpPr/>
          <p:nvPr/>
        </p:nvSpPr>
        <p:spPr>
          <a:xfrm>
            <a:off x="9747360" y="202068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Requêtes SQL</a:t>
            </a:r>
            <a:endParaRPr lang="fr-FR" sz="1320" b="0" u="none" strike="noStrike">
              <a:solidFill>
                <a:srgbClr val="000000"/>
              </a:solidFill>
              <a:effectLst/>
              <a:uFillTx/>
              <a:latin typeface="Arial"/>
            </a:endParaRPr>
          </a:p>
        </p:txBody>
      </p:sp>
      <p:sp>
        <p:nvSpPr>
          <p:cNvPr id="85" name="Shape 35"/>
          <p:cNvSpPr/>
          <p:nvPr/>
        </p:nvSpPr>
        <p:spPr>
          <a:xfrm>
            <a:off x="9582840" y="2386440"/>
            <a:ext cx="90720" cy="90720"/>
          </a:xfrm>
          <a:prstGeom prst="ellipse">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86" name="Text 36"/>
          <p:cNvSpPr/>
          <p:nvPr/>
        </p:nvSpPr>
        <p:spPr>
          <a:xfrm>
            <a:off x="9747360" y="231336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Indicateurs</a:t>
            </a:r>
            <a:endParaRPr lang="fr-FR" sz="1320" b="0" u="none" strike="noStrike">
              <a:solidFill>
                <a:srgbClr val="000000"/>
              </a:solidFill>
              <a:effectLst/>
              <a:uFillTx/>
              <a:latin typeface="Arial"/>
            </a:endParaRPr>
          </a:p>
        </p:txBody>
      </p:sp>
      <p:sp>
        <p:nvSpPr>
          <p:cNvPr id="87" name="Shape 37"/>
          <p:cNvSpPr/>
          <p:nvPr/>
        </p:nvSpPr>
        <p:spPr>
          <a:xfrm>
            <a:off x="9582840" y="2679120"/>
            <a:ext cx="90720" cy="90720"/>
          </a:xfrm>
          <a:prstGeom prst="ellipse">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88" name="Text 38"/>
          <p:cNvSpPr/>
          <p:nvPr/>
        </p:nvSpPr>
        <p:spPr>
          <a:xfrm>
            <a:off x="9747360" y="260604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Graphiques</a:t>
            </a:r>
            <a:endParaRPr lang="fr-FR" sz="1320" b="0" u="none" strike="noStrike">
              <a:solidFill>
                <a:srgbClr val="000000"/>
              </a:solidFill>
              <a:effectLst/>
              <a:uFillTx/>
              <a:latin typeface="Arial"/>
            </a:endParaRPr>
          </a:p>
        </p:txBody>
      </p:sp>
      <p:sp>
        <p:nvSpPr>
          <p:cNvPr id="89" name="Shape 39"/>
          <p:cNvSpPr/>
          <p:nvPr/>
        </p:nvSpPr>
        <p:spPr>
          <a:xfrm>
            <a:off x="9582840" y="2971800"/>
            <a:ext cx="90720" cy="90720"/>
          </a:xfrm>
          <a:prstGeom prst="ellipse">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90" name="Text 40"/>
          <p:cNvSpPr/>
          <p:nvPr/>
        </p:nvSpPr>
        <p:spPr>
          <a:xfrm>
            <a:off x="9747360" y="2898720"/>
            <a:ext cx="1736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Lecture du réseau</a:t>
            </a:r>
            <a:endParaRPr lang="fr-FR" sz="1320" b="0" u="none" strike="noStrike">
              <a:solidFill>
                <a:srgbClr val="000000"/>
              </a:solidFill>
              <a:effectLst/>
              <a:uFillTx/>
              <a:latin typeface="Arial"/>
            </a:endParaRPr>
          </a:p>
        </p:txBody>
      </p:sp>
      <p:sp>
        <p:nvSpPr>
          <p:cNvPr id="91" name="Shape 41"/>
          <p:cNvSpPr/>
          <p:nvPr/>
        </p:nvSpPr>
        <p:spPr>
          <a:xfrm>
            <a:off x="4754880" y="3667320"/>
            <a:ext cx="6756840" cy="2331000"/>
          </a:xfrm>
          <a:prstGeom prst="roundRect">
            <a:avLst>
              <a:gd name="adj" fmla="val 3137"/>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92" name="Text 42"/>
          <p:cNvSpPr/>
          <p:nvPr/>
        </p:nvSpPr>
        <p:spPr>
          <a:xfrm>
            <a:off x="5029200" y="3941640"/>
            <a:ext cx="32911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Livrables ciblés dans la présentation</a:t>
            </a:r>
            <a:endParaRPr lang="fr-FR" sz="1800" b="0" u="none" strike="noStrike">
              <a:solidFill>
                <a:srgbClr val="000000"/>
              </a:solidFill>
              <a:effectLst/>
              <a:uFillTx/>
              <a:latin typeface="Arial"/>
            </a:endParaRPr>
          </a:p>
        </p:txBody>
      </p:sp>
      <p:sp>
        <p:nvSpPr>
          <p:cNvPr id="93" name="Shape 43"/>
          <p:cNvSpPr/>
          <p:nvPr/>
        </p:nvSpPr>
        <p:spPr>
          <a:xfrm>
            <a:off x="5074920" y="444384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94" name="Text 44"/>
          <p:cNvSpPr/>
          <p:nvPr/>
        </p:nvSpPr>
        <p:spPr>
          <a:xfrm>
            <a:off x="5239440" y="4370760"/>
            <a:ext cx="2605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MLD clair</a:t>
            </a:r>
            <a:endParaRPr lang="fr-FR" sz="1420" b="0" u="none" strike="noStrike">
              <a:solidFill>
                <a:srgbClr val="000000"/>
              </a:solidFill>
              <a:effectLst/>
              <a:uFillTx/>
              <a:latin typeface="Arial"/>
            </a:endParaRPr>
          </a:p>
        </p:txBody>
      </p:sp>
      <p:sp>
        <p:nvSpPr>
          <p:cNvPr id="95" name="Shape 45"/>
          <p:cNvSpPr/>
          <p:nvPr/>
        </p:nvSpPr>
        <p:spPr>
          <a:xfrm>
            <a:off x="5074920" y="479160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96" name="Text 46"/>
          <p:cNvSpPr/>
          <p:nvPr/>
        </p:nvSpPr>
        <p:spPr>
          <a:xfrm>
            <a:off x="5239440" y="4718160"/>
            <a:ext cx="2605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Script PostgreSQL</a:t>
            </a:r>
            <a:endParaRPr lang="fr-FR" sz="1420" b="0" u="none" strike="noStrike">
              <a:solidFill>
                <a:srgbClr val="000000"/>
              </a:solidFill>
              <a:effectLst/>
              <a:uFillTx/>
              <a:latin typeface="Arial"/>
            </a:endParaRPr>
          </a:p>
        </p:txBody>
      </p:sp>
      <p:sp>
        <p:nvSpPr>
          <p:cNvPr id="97" name="Shape 47"/>
          <p:cNvSpPr/>
          <p:nvPr/>
        </p:nvSpPr>
        <p:spPr>
          <a:xfrm>
            <a:off x="5074920" y="513900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98" name="Text 48"/>
          <p:cNvSpPr/>
          <p:nvPr/>
        </p:nvSpPr>
        <p:spPr>
          <a:xfrm>
            <a:off x="5239440" y="5065920"/>
            <a:ext cx="2605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Jeu de données</a:t>
            </a:r>
            <a:endParaRPr lang="fr-FR" sz="1420" b="0" u="none" strike="noStrike">
              <a:solidFill>
                <a:srgbClr val="000000"/>
              </a:solidFill>
              <a:effectLst/>
              <a:uFillTx/>
              <a:latin typeface="Arial"/>
            </a:endParaRPr>
          </a:p>
        </p:txBody>
      </p:sp>
      <p:sp>
        <p:nvSpPr>
          <p:cNvPr id="99" name="Shape 49"/>
          <p:cNvSpPr/>
          <p:nvPr/>
        </p:nvSpPr>
        <p:spPr>
          <a:xfrm>
            <a:off x="5074920" y="548640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00" name="Text 50"/>
          <p:cNvSpPr/>
          <p:nvPr/>
        </p:nvSpPr>
        <p:spPr>
          <a:xfrm>
            <a:off x="5239440" y="5413320"/>
            <a:ext cx="2605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10 requêtes SQL</a:t>
            </a:r>
            <a:endParaRPr lang="fr-FR" sz="1420" b="0" u="none" strike="noStrike">
              <a:solidFill>
                <a:srgbClr val="000000"/>
              </a:solidFill>
              <a:effectLst/>
              <a:uFillTx/>
              <a:latin typeface="Arial"/>
            </a:endParaRPr>
          </a:p>
        </p:txBody>
      </p:sp>
      <p:sp>
        <p:nvSpPr>
          <p:cNvPr id="101" name="Shape 51"/>
          <p:cNvSpPr/>
          <p:nvPr/>
        </p:nvSpPr>
        <p:spPr>
          <a:xfrm>
            <a:off x="8183880" y="444384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02" name="Text 52"/>
          <p:cNvSpPr/>
          <p:nvPr/>
        </p:nvSpPr>
        <p:spPr>
          <a:xfrm>
            <a:off x="8348400" y="4370760"/>
            <a:ext cx="2605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Captures du projet</a:t>
            </a:r>
            <a:endParaRPr lang="fr-FR" sz="1420" b="0" u="none" strike="noStrike">
              <a:solidFill>
                <a:srgbClr val="000000"/>
              </a:solidFill>
              <a:effectLst/>
              <a:uFillTx/>
              <a:latin typeface="Arial"/>
            </a:endParaRPr>
          </a:p>
        </p:txBody>
      </p:sp>
      <p:sp>
        <p:nvSpPr>
          <p:cNvPr id="103" name="Shape 53"/>
          <p:cNvSpPr/>
          <p:nvPr/>
        </p:nvSpPr>
        <p:spPr>
          <a:xfrm>
            <a:off x="8183880" y="479160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04" name="Text 54"/>
          <p:cNvSpPr/>
          <p:nvPr/>
        </p:nvSpPr>
        <p:spPr>
          <a:xfrm>
            <a:off x="8348400" y="4718160"/>
            <a:ext cx="2605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Slides orales</a:t>
            </a:r>
            <a:endParaRPr lang="fr-FR" sz="1420" b="0" u="none" strike="noStrike">
              <a:solidFill>
                <a:srgbClr val="000000"/>
              </a:solidFill>
              <a:effectLst/>
              <a:uFillTx/>
              <a:latin typeface="Arial"/>
            </a:endParaRPr>
          </a:p>
        </p:txBody>
      </p:sp>
      <p:sp>
        <p:nvSpPr>
          <p:cNvPr id="105" name="Shape 55"/>
          <p:cNvSpPr/>
          <p:nvPr/>
        </p:nvSpPr>
        <p:spPr>
          <a:xfrm>
            <a:off x="8183880" y="513900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06" name="Text 56"/>
          <p:cNvSpPr/>
          <p:nvPr/>
        </p:nvSpPr>
        <p:spPr>
          <a:xfrm>
            <a:off x="8348400" y="5065920"/>
            <a:ext cx="2605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Travail en groupe</a:t>
            </a:r>
            <a:endParaRPr lang="fr-FR" sz="1420" b="0" u="none" strike="noStrike">
              <a:solidFill>
                <a:srgbClr val="000000"/>
              </a:solidFill>
              <a:effectLst/>
              <a:uFillTx/>
              <a:latin typeface="Arial"/>
            </a:endParaRPr>
          </a:p>
        </p:txBody>
      </p:sp>
      <p:sp>
        <p:nvSpPr>
          <p:cNvPr id="107" name="Shape 57"/>
          <p:cNvSpPr/>
          <p:nvPr/>
        </p:nvSpPr>
        <p:spPr>
          <a:xfrm>
            <a:off x="8183880" y="548640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08" name="Text 58"/>
          <p:cNvSpPr/>
          <p:nvPr/>
        </p:nvSpPr>
        <p:spPr>
          <a:xfrm>
            <a:off x="8348400" y="5413320"/>
            <a:ext cx="26053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Analyse graphique</a:t>
            </a:r>
            <a:endParaRPr lang="fr-FR" sz="1420" b="0" u="none" strike="noStrike">
              <a:solidFill>
                <a:srgbClr val="000000"/>
              </a:solidFill>
              <a:effectLst/>
              <a:uFillTx/>
              <a:latin typeface="Arial"/>
            </a:endParaRPr>
          </a:p>
        </p:txBody>
      </p:sp>
      <p:sp>
        <p:nvSpPr>
          <p:cNvPr id="109" name="Text 59"/>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110" name="Text 60"/>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11"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112"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Démarche de conception</a:t>
            </a:r>
            <a:endParaRPr lang="fr-FR" sz="2600" b="0" u="none" strike="noStrike">
              <a:solidFill>
                <a:srgbClr val="000000"/>
              </a:solidFill>
              <a:effectLst/>
              <a:uFillTx/>
              <a:latin typeface="Arial"/>
            </a:endParaRPr>
          </a:p>
        </p:txBody>
      </p:sp>
      <p:sp>
        <p:nvSpPr>
          <p:cNvPr id="113"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4748B"/>
                </a:solidFill>
                <a:effectLst/>
                <a:uFillTx/>
                <a:latin typeface="Aptos"/>
                <a:ea typeface="Aptos"/>
              </a:rPr>
              <a:t>Le projet suit une chaîne de travail simple : besoin, modèle, création, données, exploitation.</a:t>
            </a:r>
            <a:endParaRPr lang="fr-FR" sz="1050" b="0" u="none" strike="noStrike">
              <a:solidFill>
                <a:srgbClr val="000000"/>
              </a:solidFill>
              <a:effectLst/>
              <a:uFillTx/>
              <a:latin typeface="Arial"/>
            </a:endParaRPr>
          </a:p>
        </p:txBody>
      </p:sp>
      <p:sp>
        <p:nvSpPr>
          <p:cNvPr id="114"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115" name="Shape 4"/>
          <p:cNvSpPr/>
          <p:nvPr/>
        </p:nvSpPr>
        <p:spPr>
          <a:xfrm>
            <a:off x="1261800" y="2806920"/>
            <a:ext cx="128016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116" name="Shape 5"/>
          <p:cNvSpPr/>
          <p:nvPr/>
        </p:nvSpPr>
        <p:spPr>
          <a:xfrm>
            <a:off x="3163680" y="2806920"/>
            <a:ext cx="128016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117" name="Shape 6"/>
          <p:cNvSpPr/>
          <p:nvPr/>
        </p:nvSpPr>
        <p:spPr>
          <a:xfrm>
            <a:off x="5065560" y="2806920"/>
            <a:ext cx="128016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118" name="Shape 7"/>
          <p:cNvSpPr/>
          <p:nvPr/>
        </p:nvSpPr>
        <p:spPr>
          <a:xfrm>
            <a:off x="6967440" y="2806920"/>
            <a:ext cx="128016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119" name="Shape 8"/>
          <p:cNvSpPr/>
          <p:nvPr/>
        </p:nvSpPr>
        <p:spPr>
          <a:xfrm>
            <a:off x="8869680" y="2806920"/>
            <a:ext cx="128016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120" name="Shape 9"/>
          <p:cNvSpPr/>
          <p:nvPr/>
        </p:nvSpPr>
        <p:spPr>
          <a:xfrm>
            <a:off x="10771560" y="2806920"/>
            <a:ext cx="128016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121" name="Shape 10"/>
          <p:cNvSpPr/>
          <p:nvPr/>
        </p:nvSpPr>
        <p:spPr>
          <a:xfrm>
            <a:off x="621720" y="1920240"/>
            <a:ext cx="1645200" cy="2239560"/>
          </a:xfrm>
          <a:prstGeom prst="roundRect">
            <a:avLst>
              <a:gd name="adj" fmla="val 4444"/>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22" name="Shape 11"/>
          <p:cNvSpPr/>
          <p:nvPr/>
        </p:nvSpPr>
        <p:spPr>
          <a:xfrm>
            <a:off x="1188720" y="1463040"/>
            <a:ext cx="511200" cy="51120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123" name="Text 12"/>
          <p:cNvSpPr/>
          <p:nvPr/>
        </p:nvSpPr>
        <p:spPr>
          <a:xfrm>
            <a:off x="1188720" y="1617840"/>
            <a:ext cx="5112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Aptos"/>
              </a:rPr>
              <a:t>1</a:t>
            </a:r>
            <a:endParaRPr lang="fr-FR" sz="1600" b="0" u="none" strike="noStrike">
              <a:solidFill>
                <a:srgbClr val="000000"/>
              </a:solidFill>
              <a:effectLst/>
              <a:uFillTx/>
              <a:latin typeface="Arial"/>
            </a:endParaRPr>
          </a:p>
        </p:txBody>
      </p:sp>
      <p:sp>
        <p:nvSpPr>
          <p:cNvPr id="124" name="Text 13"/>
          <p:cNvSpPr/>
          <p:nvPr/>
        </p:nvSpPr>
        <p:spPr>
          <a:xfrm>
            <a:off x="786240" y="2148840"/>
            <a:ext cx="13161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Besoin</a:t>
            </a:r>
            <a:endParaRPr lang="fr-FR" sz="1600" b="0" u="none" strike="noStrike">
              <a:solidFill>
                <a:srgbClr val="000000"/>
              </a:solidFill>
              <a:effectLst/>
              <a:uFillTx/>
              <a:latin typeface="Arial"/>
            </a:endParaRPr>
          </a:p>
        </p:txBody>
      </p:sp>
      <p:sp>
        <p:nvSpPr>
          <p:cNvPr id="125" name="Text 14"/>
          <p:cNvSpPr/>
          <p:nvPr/>
        </p:nvSpPr>
        <p:spPr>
          <a:xfrm>
            <a:off x="749880" y="2514600"/>
            <a:ext cx="1389240" cy="100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50" b="0" u="none" strike="noStrike">
                <a:solidFill>
                  <a:srgbClr val="475569"/>
                </a:solidFill>
                <a:effectLst/>
                <a:uFillTx/>
                <a:latin typeface="Aptos"/>
              </a:rPr>
              <a:t>Définir le scénario</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rgbClr val="475569"/>
                </a:solidFill>
                <a:effectLst/>
                <a:uFillTx/>
                <a:latin typeface="Aptos"/>
              </a:rPr>
              <a:t>client et les objets à représenter</a:t>
            </a:r>
            <a:endParaRPr lang="fr-FR" sz="1250" b="0" u="none" strike="noStrike">
              <a:solidFill>
                <a:srgbClr val="000000"/>
              </a:solidFill>
              <a:effectLst/>
              <a:uFillTx/>
              <a:latin typeface="Arial"/>
            </a:endParaRPr>
          </a:p>
        </p:txBody>
      </p:sp>
      <p:sp>
        <p:nvSpPr>
          <p:cNvPr id="126" name="Shape 15"/>
          <p:cNvSpPr/>
          <p:nvPr/>
        </p:nvSpPr>
        <p:spPr>
          <a:xfrm>
            <a:off x="2523600" y="1920240"/>
            <a:ext cx="1645200" cy="2239560"/>
          </a:xfrm>
          <a:prstGeom prst="roundRect">
            <a:avLst>
              <a:gd name="adj" fmla="val 4444"/>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27" name="Shape 16"/>
          <p:cNvSpPr/>
          <p:nvPr/>
        </p:nvSpPr>
        <p:spPr>
          <a:xfrm>
            <a:off x="3090600" y="1463040"/>
            <a:ext cx="511200" cy="511200"/>
          </a:xfrm>
          <a:prstGeom prst="ellipse">
            <a:avLst/>
          </a:prstGeom>
          <a:solidFill>
            <a:srgbClr val="06B6D4"/>
          </a:solidFill>
          <a:ln w="12700">
            <a:solidFill>
              <a:srgbClr val="06B6D4"/>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28" name="Text 17"/>
          <p:cNvSpPr/>
          <p:nvPr/>
        </p:nvSpPr>
        <p:spPr>
          <a:xfrm>
            <a:off x="3090600" y="1617840"/>
            <a:ext cx="5112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Aptos"/>
              </a:rPr>
              <a:t>2</a:t>
            </a:r>
            <a:endParaRPr lang="fr-FR" sz="1600" b="0" u="none" strike="noStrike">
              <a:solidFill>
                <a:srgbClr val="000000"/>
              </a:solidFill>
              <a:effectLst/>
              <a:uFillTx/>
              <a:latin typeface="Arial"/>
            </a:endParaRPr>
          </a:p>
        </p:txBody>
      </p:sp>
      <p:sp>
        <p:nvSpPr>
          <p:cNvPr id="129" name="Text 18"/>
          <p:cNvSpPr/>
          <p:nvPr/>
        </p:nvSpPr>
        <p:spPr>
          <a:xfrm rot="31200">
            <a:off x="2410920" y="2120040"/>
            <a:ext cx="19054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Modélisation</a:t>
            </a:r>
            <a:endParaRPr lang="fr-FR" sz="1600" b="0" u="none" strike="noStrike">
              <a:solidFill>
                <a:srgbClr val="000000"/>
              </a:solidFill>
              <a:effectLst/>
              <a:uFillTx/>
              <a:latin typeface="Arial"/>
            </a:endParaRPr>
          </a:p>
        </p:txBody>
      </p:sp>
      <p:sp>
        <p:nvSpPr>
          <p:cNvPr id="130" name="Text 19"/>
          <p:cNvSpPr/>
          <p:nvPr/>
        </p:nvSpPr>
        <p:spPr>
          <a:xfrm>
            <a:off x="2651760" y="2514600"/>
            <a:ext cx="1389240" cy="100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50" b="0" u="none" strike="noStrike">
                <a:solidFill>
                  <a:srgbClr val="475569"/>
                </a:solidFill>
                <a:effectLst/>
                <a:uFillTx/>
                <a:latin typeface="Aptos"/>
              </a:rPr>
              <a:t>Construire le MLD</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rgbClr val="475569"/>
                </a:solidFill>
                <a:effectLst/>
                <a:uFillTx/>
                <a:latin typeface="Aptos"/>
              </a:rPr>
              <a:t>et fixer les relations</a:t>
            </a:r>
            <a:endParaRPr lang="fr-FR" sz="1250" b="0" u="none" strike="noStrike">
              <a:solidFill>
                <a:srgbClr val="000000"/>
              </a:solidFill>
              <a:effectLst/>
              <a:uFillTx/>
              <a:latin typeface="Arial"/>
            </a:endParaRPr>
          </a:p>
        </p:txBody>
      </p:sp>
      <p:sp>
        <p:nvSpPr>
          <p:cNvPr id="131" name="Shape 20"/>
          <p:cNvSpPr/>
          <p:nvPr/>
        </p:nvSpPr>
        <p:spPr>
          <a:xfrm>
            <a:off x="4425840" y="1920240"/>
            <a:ext cx="1645200" cy="2239560"/>
          </a:xfrm>
          <a:prstGeom prst="roundRect">
            <a:avLst>
              <a:gd name="adj" fmla="val 4444"/>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32" name="Shape 21"/>
          <p:cNvSpPr/>
          <p:nvPr/>
        </p:nvSpPr>
        <p:spPr>
          <a:xfrm>
            <a:off x="4992480" y="1463040"/>
            <a:ext cx="511200" cy="51120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33" name="Text 22"/>
          <p:cNvSpPr/>
          <p:nvPr/>
        </p:nvSpPr>
        <p:spPr>
          <a:xfrm>
            <a:off x="4992480" y="1617840"/>
            <a:ext cx="5112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Aptos"/>
              </a:rPr>
              <a:t>3</a:t>
            </a:r>
            <a:endParaRPr lang="fr-FR" sz="1600" b="0" u="none" strike="noStrike">
              <a:solidFill>
                <a:srgbClr val="000000"/>
              </a:solidFill>
              <a:effectLst/>
              <a:uFillTx/>
              <a:latin typeface="Arial"/>
            </a:endParaRPr>
          </a:p>
        </p:txBody>
      </p:sp>
      <p:sp>
        <p:nvSpPr>
          <p:cNvPr id="134" name="Text 23"/>
          <p:cNvSpPr/>
          <p:nvPr/>
        </p:nvSpPr>
        <p:spPr>
          <a:xfrm>
            <a:off x="4590360" y="2148840"/>
            <a:ext cx="13161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Création</a:t>
            </a:r>
            <a:endParaRPr lang="fr-FR" sz="1600" b="0" u="none" strike="noStrike">
              <a:solidFill>
                <a:srgbClr val="000000"/>
              </a:solidFill>
              <a:effectLst/>
              <a:uFillTx/>
              <a:latin typeface="Arial"/>
            </a:endParaRPr>
          </a:p>
        </p:txBody>
      </p:sp>
      <p:sp>
        <p:nvSpPr>
          <p:cNvPr id="135" name="Text 24"/>
          <p:cNvSpPr/>
          <p:nvPr/>
        </p:nvSpPr>
        <p:spPr>
          <a:xfrm>
            <a:off x="4553640" y="2514600"/>
            <a:ext cx="1389240" cy="100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50" b="0" u="none" strike="noStrike">
                <a:solidFill>
                  <a:srgbClr val="475569"/>
                </a:solidFill>
                <a:effectLst/>
                <a:uFillTx/>
                <a:latin typeface="Aptos"/>
              </a:rPr>
              <a:t>Écrire le schéma</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rgbClr val="475569"/>
                </a:solidFill>
                <a:effectLst/>
                <a:uFillTx/>
                <a:latin typeface="Aptos"/>
              </a:rPr>
              <a:t>et les tables SQL</a:t>
            </a:r>
            <a:endParaRPr lang="fr-FR" sz="1250" b="0" u="none" strike="noStrike">
              <a:solidFill>
                <a:srgbClr val="000000"/>
              </a:solidFill>
              <a:effectLst/>
              <a:uFillTx/>
              <a:latin typeface="Arial"/>
            </a:endParaRPr>
          </a:p>
        </p:txBody>
      </p:sp>
      <p:sp>
        <p:nvSpPr>
          <p:cNvPr id="136" name="Shape 25"/>
          <p:cNvSpPr/>
          <p:nvPr/>
        </p:nvSpPr>
        <p:spPr>
          <a:xfrm>
            <a:off x="6327720" y="1920240"/>
            <a:ext cx="1645200" cy="2239560"/>
          </a:xfrm>
          <a:prstGeom prst="roundRect">
            <a:avLst>
              <a:gd name="adj" fmla="val 4444"/>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37" name="Shape 26"/>
          <p:cNvSpPr/>
          <p:nvPr/>
        </p:nvSpPr>
        <p:spPr>
          <a:xfrm>
            <a:off x="6894720" y="1463040"/>
            <a:ext cx="511200" cy="511200"/>
          </a:xfrm>
          <a:prstGeom prst="ellipse">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38" name="Text 27"/>
          <p:cNvSpPr/>
          <p:nvPr/>
        </p:nvSpPr>
        <p:spPr>
          <a:xfrm>
            <a:off x="6894720" y="1617840"/>
            <a:ext cx="5112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Aptos"/>
              </a:rPr>
              <a:t>4</a:t>
            </a:r>
            <a:endParaRPr lang="fr-FR" sz="1600" b="0" u="none" strike="noStrike">
              <a:solidFill>
                <a:srgbClr val="000000"/>
              </a:solidFill>
              <a:effectLst/>
              <a:uFillTx/>
              <a:latin typeface="Arial"/>
            </a:endParaRPr>
          </a:p>
        </p:txBody>
      </p:sp>
      <p:sp>
        <p:nvSpPr>
          <p:cNvPr id="139" name="Text 28"/>
          <p:cNvSpPr/>
          <p:nvPr/>
        </p:nvSpPr>
        <p:spPr>
          <a:xfrm>
            <a:off x="6492240" y="2148840"/>
            <a:ext cx="13161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Insertion</a:t>
            </a:r>
            <a:endParaRPr lang="fr-FR" sz="1600" b="0" u="none" strike="noStrike">
              <a:solidFill>
                <a:srgbClr val="000000"/>
              </a:solidFill>
              <a:effectLst/>
              <a:uFillTx/>
              <a:latin typeface="Arial"/>
            </a:endParaRPr>
          </a:p>
        </p:txBody>
      </p:sp>
      <p:sp>
        <p:nvSpPr>
          <p:cNvPr id="140" name="Text 29"/>
          <p:cNvSpPr/>
          <p:nvPr/>
        </p:nvSpPr>
        <p:spPr>
          <a:xfrm>
            <a:off x="6455520" y="2514600"/>
            <a:ext cx="1389240" cy="100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50" b="0" u="none" strike="noStrike">
                <a:solidFill>
                  <a:srgbClr val="475569"/>
                </a:solidFill>
                <a:effectLst/>
                <a:uFillTx/>
                <a:latin typeface="Aptos"/>
              </a:rPr>
              <a:t>Préparer les données</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rgbClr val="475569"/>
                </a:solidFill>
                <a:effectLst/>
                <a:uFillTx/>
                <a:latin typeface="Aptos"/>
              </a:rPr>
              <a:t>et générer les inserts</a:t>
            </a:r>
            <a:endParaRPr lang="fr-FR" sz="1250" b="0" u="none" strike="noStrike">
              <a:solidFill>
                <a:srgbClr val="000000"/>
              </a:solidFill>
              <a:effectLst/>
              <a:uFillTx/>
              <a:latin typeface="Arial"/>
            </a:endParaRPr>
          </a:p>
        </p:txBody>
      </p:sp>
      <p:sp>
        <p:nvSpPr>
          <p:cNvPr id="141" name="Shape 30"/>
          <p:cNvSpPr/>
          <p:nvPr/>
        </p:nvSpPr>
        <p:spPr>
          <a:xfrm>
            <a:off x="8229600" y="1920240"/>
            <a:ext cx="1645200" cy="2239560"/>
          </a:xfrm>
          <a:prstGeom prst="roundRect">
            <a:avLst>
              <a:gd name="adj" fmla="val 4444"/>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42" name="Shape 31"/>
          <p:cNvSpPr/>
          <p:nvPr/>
        </p:nvSpPr>
        <p:spPr>
          <a:xfrm>
            <a:off x="8796600" y="1463040"/>
            <a:ext cx="511200" cy="51120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143" name="Text 32"/>
          <p:cNvSpPr/>
          <p:nvPr/>
        </p:nvSpPr>
        <p:spPr>
          <a:xfrm>
            <a:off x="8796600" y="1617840"/>
            <a:ext cx="5112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Aptos"/>
              </a:rPr>
              <a:t>5</a:t>
            </a:r>
            <a:endParaRPr lang="fr-FR" sz="1600" b="0" u="none" strike="noStrike">
              <a:solidFill>
                <a:srgbClr val="000000"/>
              </a:solidFill>
              <a:effectLst/>
              <a:uFillTx/>
              <a:latin typeface="Arial"/>
            </a:endParaRPr>
          </a:p>
        </p:txBody>
      </p:sp>
      <p:sp>
        <p:nvSpPr>
          <p:cNvPr id="144" name="Text 33"/>
          <p:cNvSpPr/>
          <p:nvPr/>
        </p:nvSpPr>
        <p:spPr>
          <a:xfrm>
            <a:off x="8394120" y="2148840"/>
            <a:ext cx="13161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Requêtes</a:t>
            </a:r>
            <a:endParaRPr lang="fr-FR" sz="1600" b="0" u="none" strike="noStrike">
              <a:solidFill>
                <a:srgbClr val="000000"/>
              </a:solidFill>
              <a:effectLst/>
              <a:uFillTx/>
              <a:latin typeface="Arial"/>
            </a:endParaRPr>
          </a:p>
        </p:txBody>
      </p:sp>
      <p:sp>
        <p:nvSpPr>
          <p:cNvPr id="145" name="Text 34"/>
          <p:cNvSpPr/>
          <p:nvPr/>
        </p:nvSpPr>
        <p:spPr>
          <a:xfrm>
            <a:off x="8357760" y="2514600"/>
            <a:ext cx="1389240" cy="100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50" b="0" u="none" strike="noStrike">
                <a:solidFill>
                  <a:srgbClr val="475569"/>
                </a:solidFill>
                <a:effectLst/>
                <a:uFillTx/>
                <a:latin typeface="Aptos"/>
              </a:rPr>
              <a:t>Interroger la base</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rgbClr val="475569"/>
                </a:solidFill>
                <a:effectLst/>
                <a:uFillTx/>
                <a:latin typeface="Aptos"/>
              </a:rPr>
              <a:t>et calculer les indicateurs</a:t>
            </a:r>
            <a:endParaRPr lang="fr-FR" sz="1250" b="0" u="none" strike="noStrike">
              <a:solidFill>
                <a:srgbClr val="000000"/>
              </a:solidFill>
              <a:effectLst/>
              <a:uFillTx/>
              <a:latin typeface="Arial"/>
            </a:endParaRPr>
          </a:p>
        </p:txBody>
      </p:sp>
      <p:sp>
        <p:nvSpPr>
          <p:cNvPr id="146" name="Shape 35"/>
          <p:cNvSpPr/>
          <p:nvPr/>
        </p:nvSpPr>
        <p:spPr>
          <a:xfrm>
            <a:off x="10131480" y="1920240"/>
            <a:ext cx="1645200" cy="2239560"/>
          </a:xfrm>
          <a:prstGeom prst="roundRect">
            <a:avLst>
              <a:gd name="adj" fmla="val 4444"/>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47" name="Shape 36"/>
          <p:cNvSpPr/>
          <p:nvPr/>
        </p:nvSpPr>
        <p:spPr>
          <a:xfrm>
            <a:off x="10698480" y="1463040"/>
            <a:ext cx="511200" cy="511200"/>
          </a:xfrm>
          <a:prstGeom prst="ellipse">
            <a:avLst/>
          </a:prstGeom>
          <a:solidFill>
            <a:srgbClr val="EC4899"/>
          </a:solidFill>
          <a:ln w="12700">
            <a:solidFill>
              <a:srgbClr val="EC489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148" name="Text 37"/>
          <p:cNvSpPr/>
          <p:nvPr/>
        </p:nvSpPr>
        <p:spPr>
          <a:xfrm>
            <a:off x="10698480" y="1617840"/>
            <a:ext cx="51120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FFFFFF"/>
                </a:solidFill>
                <a:effectLst/>
                <a:uFillTx/>
                <a:latin typeface="Aptos"/>
              </a:rPr>
              <a:t>6</a:t>
            </a:r>
            <a:endParaRPr lang="fr-FR" sz="1600" b="0" u="none" strike="noStrike">
              <a:solidFill>
                <a:srgbClr val="000000"/>
              </a:solidFill>
              <a:effectLst/>
              <a:uFillTx/>
              <a:latin typeface="Arial"/>
            </a:endParaRPr>
          </a:p>
        </p:txBody>
      </p:sp>
      <p:sp>
        <p:nvSpPr>
          <p:cNvPr id="149" name="Text 38"/>
          <p:cNvSpPr/>
          <p:nvPr/>
        </p:nvSpPr>
        <p:spPr>
          <a:xfrm>
            <a:off x="10044000" y="2148840"/>
            <a:ext cx="17996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Présentation</a:t>
            </a:r>
            <a:endParaRPr lang="fr-FR" sz="1600" b="0" u="none" strike="noStrike">
              <a:solidFill>
                <a:srgbClr val="000000"/>
              </a:solidFill>
              <a:effectLst/>
              <a:uFillTx/>
              <a:latin typeface="Arial"/>
            </a:endParaRPr>
          </a:p>
        </p:txBody>
      </p:sp>
      <p:sp>
        <p:nvSpPr>
          <p:cNvPr id="150" name="Text 39"/>
          <p:cNvSpPr/>
          <p:nvPr/>
        </p:nvSpPr>
        <p:spPr>
          <a:xfrm>
            <a:off x="10259640" y="2514600"/>
            <a:ext cx="1389240" cy="10051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50" b="0" u="none" strike="noStrike">
                <a:solidFill>
                  <a:srgbClr val="475569"/>
                </a:solidFill>
                <a:effectLst/>
                <a:uFillTx/>
                <a:latin typeface="Aptos"/>
              </a:rPr>
              <a:t>Montrer les résultats</a:t>
            </a:r>
            <a:endParaRPr lang="fr-FR" sz="1250" b="0" u="none" strike="noStrike">
              <a:solidFill>
                <a:srgbClr val="000000"/>
              </a:solidFill>
              <a:effectLst/>
              <a:uFillTx/>
              <a:latin typeface="Arial"/>
            </a:endParaRPr>
          </a:p>
          <a:p>
            <a:pPr algn="ctr" defTabSz="914400">
              <a:lnSpc>
                <a:spcPct val="100000"/>
              </a:lnSpc>
              <a:tabLst>
                <a:tab pos="0" algn="l"/>
              </a:tabLst>
            </a:pPr>
            <a:r>
              <a:rPr lang="en-US" sz="1250" b="0" u="none" strike="noStrike">
                <a:solidFill>
                  <a:srgbClr val="475569"/>
                </a:solidFill>
                <a:effectLst/>
                <a:uFillTx/>
                <a:latin typeface="Aptos"/>
              </a:rPr>
              <a:t>et le travail d'équipe</a:t>
            </a:r>
            <a:endParaRPr lang="fr-FR" sz="1250" b="0" u="none" strike="noStrike">
              <a:solidFill>
                <a:srgbClr val="000000"/>
              </a:solidFill>
              <a:effectLst/>
              <a:uFillTx/>
              <a:latin typeface="Arial"/>
            </a:endParaRPr>
          </a:p>
        </p:txBody>
      </p:sp>
      <p:sp>
        <p:nvSpPr>
          <p:cNvPr id="151" name="Shape 40"/>
          <p:cNvSpPr/>
          <p:nvPr/>
        </p:nvSpPr>
        <p:spPr>
          <a:xfrm>
            <a:off x="777240" y="4709160"/>
            <a:ext cx="10972080" cy="1005120"/>
          </a:xfrm>
          <a:prstGeom prst="roundRect">
            <a:avLst>
              <a:gd name="adj" fmla="val 7273"/>
            </a:avLst>
          </a:prstGeom>
          <a:solidFill>
            <a:srgbClr val="EEF2FF"/>
          </a:solidFill>
          <a:ln w="12700">
            <a:solidFill>
              <a:srgbClr val="C7D2FE"/>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52" name="Text 41"/>
          <p:cNvSpPr/>
          <p:nvPr/>
        </p:nvSpPr>
        <p:spPr>
          <a:xfrm>
            <a:off x="1005840" y="5010840"/>
            <a:ext cx="10469160" cy="31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0" u="none" strike="noStrike">
                <a:solidFill>
                  <a:srgbClr val="312E81"/>
                </a:solidFill>
                <a:effectLst/>
                <a:uFillTx/>
                <a:latin typeface="Aptos"/>
              </a:rPr>
              <a:t>Point fort du projet : les scripts, les données et le texte oral sont centralisés dans un même dépôt GitHub, ce qui facilite le suivi des modifications et la répartition du travail, ce qui nous donne une meilleure alchimie pour un travail de groupe.</a:t>
            </a:r>
            <a:endParaRPr lang="fr-FR" sz="1600" b="0" u="none" strike="noStrike">
              <a:solidFill>
                <a:srgbClr val="000000"/>
              </a:solidFill>
              <a:effectLst/>
              <a:uFillTx/>
              <a:latin typeface="Arial"/>
            </a:endParaRPr>
          </a:p>
        </p:txBody>
      </p:sp>
      <p:sp>
        <p:nvSpPr>
          <p:cNvPr id="153" name="Text 42"/>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154" name="Text 43"/>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55"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156"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Modèle logique de données</a:t>
            </a:r>
            <a:endParaRPr lang="fr-FR" sz="2600" b="0" u="none" strike="noStrike">
              <a:solidFill>
                <a:srgbClr val="000000"/>
              </a:solidFill>
              <a:effectLst/>
              <a:uFillTx/>
              <a:latin typeface="Arial"/>
            </a:endParaRPr>
          </a:p>
        </p:txBody>
      </p:sp>
      <p:sp>
        <p:nvSpPr>
          <p:cNvPr id="157"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4748B"/>
                </a:solidFill>
                <a:effectLst/>
                <a:uFillTx/>
                <a:latin typeface="Aptos"/>
                <a:ea typeface="Aptos"/>
              </a:rPr>
              <a:t>Le schéma relationnel structure le réseau autour des lignes, stations, trajets et passages.</a:t>
            </a:r>
            <a:endParaRPr lang="fr-FR" sz="1050" b="0" u="none" strike="noStrike">
              <a:solidFill>
                <a:srgbClr val="000000"/>
              </a:solidFill>
              <a:effectLst/>
              <a:uFillTx/>
              <a:latin typeface="Arial"/>
            </a:endParaRPr>
          </a:p>
        </p:txBody>
      </p:sp>
      <p:sp>
        <p:nvSpPr>
          <p:cNvPr id="158"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159" name="Shape 4"/>
          <p:cNvSpPr/>
          <p:nvPr/>
        </p:nvSpPr>
        <p:spPr>
          <a:xfrm>
            <a:off x="594360" y="1325880"/>
            <a:ext cx="7405920" cy="4982760"/>
          </a:xfrm>
          <a:prstGeom prst="roundRect">
            <a:avLst>
              <a:gd name="adj" fmla="val 1468"/>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pic>
        <p:nvPicPr>
          <p:cNvPr id="160" name="Image 0" descr="/mnt/data/schemaMetro_repo.png"/>
          <p:cNvPicPr/>
          <p:nvPr/>
        </p:nvPicPr>
        <p:blipFill>
          <a:blip r:embed="rId3"/>
          <a:stretch/>
        </p:blipFill>
        <p:spPr>
          <a:xfrm>
            <a:off x="841320" y="1651680"/>
            <a:ext cx="6903000" cy="4285440"/>
          </a:xfrm>
          <a:prstGeom prst="rect">
            <a:avLst/>
          </a:prstGeom>
          <a:noFill/>
          <a:ln w="0">
            <a:noFill/>
          </a:ln>
        </p:spPr>
      </p:pic>
      <p:sp>
        <p:nvSpPr>
          <p:cNvPr id="161" name="Shape 5"/>
          <p:cNvSpPr/>
          <p:nvPr/>
        </p:nvSpPr>
        <p:spPr>
          <a:xfrm>
            <a:off x="8229600" y="1289880"/>
            <a:ext cx="3291120" cy="2102400"/>
          </a:xfrm>
          <a:prstGeom prst="roundRect">
            <a:avLst>
              <a:gd name="adj" fmla="val 3478"/>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62" name="Text 6"/>
          <p:cNvSpPr/>
          <p:nvPr/>
        </p:nvSpPr>
        <p:spPr>
          <a:xfrm>
            <a:off x="8377560" y="1528200"/>
            <a:ext cx="30351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Tables principales</a:t>
            </a:r>
            <a:endParaRPr lang="fr-FR" sz="1800" b="0" u="none" strike="noStrike">
              <a:solidFill>
                <a:srgbClr val="000000"/>
              </a:solidFill>
              <a:effectLst/>
              <a:uFillTx/>
              <a:latin typeface="Arial"/>
            </a:endParaRPr>
          </a:p>
        </p:txBody>
      </p:sp>
      <p:sp>
        <p:nvSpPr>
          <p:cNvPr id="163" name="Shape 7"/>
          <p:cNvSpPr/>
          <p:nvPr/>
        </p:nvSpPr>
        <p:spPr>
          <a:xfrm>
            <a:off x="8485560" y="202068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64" name="Text 8"/>
          <p:cNvSpPr/>
          <p:nvPr/>
        </p:nvSpPr>
        <p:spPr>
          <a:xfrm>
            <a:off x="8650080" y="1947600"/>
            <a:ext cx="25596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30" b="0" u="none" strike="noStrike">
                <a:solidFill>
                  <a:srgbClr val="374151"/>
                </a:solidFill>
                <a:effectLst/>
                <a:uFillTx/>
                <a:latin typeface="Aptos"/>
              </a:rPr>
              <a:t>ligne</a:t>
            </a:r>
            <a:endParaRPr lang="fr-FR" sz="1430" b="0" u="none" strike="noStrike">
              <a:solidFill>
                <a:srgbClr val="000000"/>
              </a:solidFill>
              <a:effectLst/>
              <a:uFillTx/>
              <a:latin typeface="Arial"/>
            </a:endParaRPr>
          </a:p>
        </p:txBody>
      </p:sp>
      <p:sp>
        <p:nvSpPr>
          <p:cNvPr id="165" name="Shape 9"/>
          <p:cNvSpPr/>
          <p:nvPr/>
        </p:nvSpPr>
        <p:spPr>
          <a:xfrm>
            <a:off x="8485560" y="232272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66" name="Text 10"/>
          <p:cNvSpPr/>
          <p:nvPr/>
        </p:nvSpPr>
        <p:spPr>
          <a:xfrm>
            <a:off x="8650080" y="2249280"/>
            <a:ext cx="25596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30" b="0" u="none" strike="noStrike">
                <a:solidFill>
                  <a:srgbClr val="374151"/>
                </a:solidFill>
                <a:effectLst/>
                <a:uFillTx/>
                <a:latin typeface="Aptos"/>
              </a:rPr>
              <a:t>station</a:t>
            </a:r>
            <a:endParaRPr lang="fr-FR" sz="1430" b="0" u="none" strike="noStrike">
              <a:solidFill>
                <a:srgbClr val="000000"/>
              </a:solidFill>
              <a:effectLst/>
              <a:uFillTx/>
              <a:latin typeface="Arial"/>
            </a:endParaRPr>
          </a:p>
        </p:txBody>
      </p:sp>
      <p:sp>
        <p:nvSpPr>
          <p:cNvPr id="167" name="Shape 11"/>
          <p:cNvSpPr/>
          <p:nvPr/>
        </p:nvSpPr>
        <p:spPr>
          <a:xfrm>
            <a:off x="8485560" y="262440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68" name="Text 12"/>
          <p:cNvSpPr/>
          <p:nvPr/>
        </p:nvSpPr>
        <p:spPr>
          <a:xfrm>
            <a:off x="8650080" y="2551320"/>
            <a:ext cx="25596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30" b="0" u="none" strike="noStrike">
                <a:solidFill>
                  <a:srgbClr val="374151"/>
                </a:solidFill>
                <a:effectLst/>
                <a:uFillTx/>
                <a:latin typeface="Aptos"/>
              </a:rPr>
              <a:t>trajet</a:t>
            </a:r>
            <a:endParaRPr lang="fr-FR" sz="1430" b="0" u="none" strike="noStrike">
              <a:solidFill>
                <a:srgbClr val="000000"/>
              </a:solidFill>
              <a:effectLst/>
              <a:uFillTx/>
              <a:latin typeface="Arial"/>
            </a:endParaRPr>
          </a:p>
        </p:txBody>
      </p:sp>
      <p:sp>
        <p:nvSpPr>
          <p:cNvPr id="169" name="Shape 13"/>
          <p:cNvSpPr/>
          <p:nvPr/>
        </p:nvSpPr>
        <p:spPr>
          <a:xfrm>
            <a:off x="8485560" y="292608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70" name="Text 14"/>
          <p:cNvSpPr/>
          <p:nvPr/>
        </p:nvSpPr>
        <p:spPr>
          <a:xfrm>
            <a:off x="8650080" y="2853000"/>
            <a:ext cx="25596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30" b="0" u="none" strike="noStrike">
                <a:solidFill>
                  <a:srgbClr val="374151"/>
                </a:solidFill>
                <a:effectLst/>
                <a:uFillTx/>
                <a:latin typeface="Aptos"/>
              </a:rPr>
              <a:t>passage</a:t>
            </a:r>
            <a:endParaRPr lang="fr-FR" sz="1430" b="0" u="none" strike="noStrike">
              <a:solidFill>
                <a:srgbClr val="000000"/>
              </a:solidFill>
              <a:effectLst/>
              <a:uFillTx/>
              <a:latin typeface="Arial"/>
            </a:endParaRPr>
          </a:p>
        </p:txBody>
      </p:sp>
      <p:sp>
        <p:nvSpPr>
          <p:cNvPr id="171" name="Shape 15"/>
          <p:cNvSpPr/>
          <p:nvPr/>
        </p:nvSpPr>
        <p:spPr>
          <a:xfrm>
            <a:off x="8485560" y="322776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72" name="Text 16"/>
          <p:cNvSpPr/>
          <p:nvPr/>
        </p:nvSpPr>
        <p:spPr>
          <a:xfrm>
            <a:off x="8650080" y="3154680"/>
            <a:ext cx="25596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30" b="0" u="none" strike="noStrike">
                <a:solidFill>
                  <a:srgbClr val="374151"/>
                </a:solidFill>
                <a:effectLst/>
                <a:uFillTx/>
                <a:latin typeface="Aptos"/>
              </a:rPr>
              <a:t>dessert (association)</a:t>
            </a:r>
            <a:endParaRPr lang="fr-FR" sz="1430" b="0" u="none" strike="noStrike">
              <a:solidFill>
                <a:srgbClr val="000000"/>
              </a:solidFill>
              <a:effectLst/>
              <a:uFillTx/>
              <a:latin typeface="Arial"/>
            </a:endParaRPr>
          </a:p>
        </p:txBody>
      </p:sp>
      <p:sp>
        <p:nvSpPr>
          <p:cNvPr id="173" name="Shape 17"/>
          <p:cNvSpPr/>
          <p:nvPr/>
        </p:nvSpPr>
        <p:spPr>
          <a:xfrm>
            <a:off x="8229600" y="3428640"/>
            <a:ext cx="3291120" cy="3051000"/>
          </a:xfrm>
          <a:prstGeom prst="roundRect">
            <a:avLst>
              <a:gd name="adj" fmla="val 2807"/>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74" name="Text 18"/>
          <p:cNvSpPr/>
          <p:nvPr/>
        </p:nvSpPr>
        <p:spPr>
          <a:xfrm>
            <a:off x="8413560" y="3653640"/>
            <a:ext cx="21938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Idée de modélisation</a:t>
            </a:r>
            <a:endParaRPr lang="fr-FR" sz="1800" b="0" u="none" strike="noStrike">
              <a:solidFill>
                <a:srgbClr val="000000"/>
              </a:solidFill>
              <a:effectLst/>
              <a:uFillTx/>
              <a:latin typeface="Arial"/>
            </a:endParaRPr>
          </a:p>
        </p:txBody>
      </p:sp>
      <p:sp>
        <p:nvSpPr>
          <p:cNvPr id="175" name="Text 19"/>
          <p:cNvSpPr/>
          <p:nvPr/>
        </p:nvSpPr>
        <p:spPr>
          <a:xfrm>
            <a:off x="8629560" y="4820040"/>
            <a:ext cx="2705760" cy="1370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tabLst>
                <a:tab pos="0" algn="l"/>
              </a:tabLst>
            </a:pPr>
            <a:r>
              <a:rPr lang="en-US" sz="1450" b="0" u="none" strike="noStrike">
                <a:solidFill>
                  <a:srgbClr val="374151"/>
                </a:solidFill>
                <a:effectLst/>
                <a:uFillTx/>
                <a:latin typeface="Aptos"/>
              </a:rPr>
              <a:t>Chaque trajet appartient à une ligne </a:t>
            </a:r>
            <a:endParaRPr lang="fr-FR" sz="145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50" b="0" u="none" strike="noStrike">
                <a:solidFill>
                  <a:srgbClr val="374151"/>
                </a:solidFill>
                <a:effectLst/>
                <a:uFillTx/>
                <a:latin typeface="Aptos"/>
              </a:rPr>
              <a:t>Chaque passage relie un trajet à une station, avec un ordre et une heure </a:t>
            </a:r>
            <a:endParaRPr lang="fr-FR" sz="1450" b="0" u="none" strike="noStrike">
              <a:solidFill>
                <a:srgbClr val="000000"/>
              </a:solidFill>
              <a:effectLst/>
              <a:uFillTx/>
              <a:latin typeface="Arial"/>
            </a:endParaRPr>
          </a:p>
          <a:p>
            <a:pPr defTabSz="914400">
              <a:lnSpc>
                <a:spcPct val="100000"/>
              </a:lnSpc>
              <a:spcBef>
                <a:spcPts val="1191"/>
              </a:spcBef>
              <a:spcAft>
                <a:spcPts val="992"/>
              </a:spcAft>
              <a:tabLst>
                <a:tab pos="0" algn="l"/>
              </a:tabLst>
            </a:pPr>
            <a:r>
              <a:rPr lang="en-US" sz="1450" b="0" u="none" strike="noStrike">
                <a:solidFill>
                  <a:srgbClr val="374151"/>
                </a:solidFill>
                <a:effectLst/>
                <a:uFillTx/>
                <a:latin typeface="Aptos"/>
              </a:rPr>
              <a:t>La table dessert relie les lignes aux stations desservies</a:t>
            </a:r>
            <a:endParaRPr lang="fr-FR" sz="1450" b="0" u="none" strike="noStrike">
              <a:solidFill>
                <a:srgbClr val="000000"/>
              </a:solidFill>
              <a:effectLst/>
              <a:uFillTx/>
              <a:latin typeface="Arial"/>
            </a:endParaRPr>
          </a:p>
          <a:p>
            <a:pPr defTabSz="914400">
              <a:lnSpc>
                <a:spcPct val="100000"/>
              </a:lnSpc>
              <a:spcBef>
                <a:spcPts val="1191"/>
              </a:spcBef>
              <a:spcAft>
                <a:spcPts val="992"/>
              </a:spcAft>
              <a:tabLst>
                <a:tab pos="0" algn="l"/>
              </a:tabLst>
            </a:pPr>
            <a:endParaRPr lang="fr-FR" sz="1450" b="0" u="none" strike="noStrike">
              <a:solidFill>
                <a:srgbClr val="000000"/>
              </a:solidFill>
              <a:effectLst/>
              <a:uFillTx/>
              <a:latin typeface="Arial"/>
            </a:endParaRPr>
          </a:p>
        </p:txBody>
      </p:sp>
      <p:sp>
        <p:nvSpPr>
          <p:cNvPr id="176" name="Text 20"/>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177" name="Text 21"/>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
        <p:nvSpPr>
          <p:cNvPr id="178" name="Shape 34"/>
          <p:cNvSpPr/>
          <p:nvPr/>
        </p:nvSpPr>
        <p:spPr>
          <a:xfrm>
            <a:off x="8485920" y="418104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79" name="Shape 50"/>
          <p:cNvSpPr/>
          <p:nvPr/>
        </p:nvSpPr>
        <p:spPr>
          <a:xfrm>
            <a:off x="8485920" y="490104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180" name="Shape 52"/>
          <p:cNvSpPr/>
          <p:nvPr/>
        </p:nvSpPr>
        <p:spPr>
          <a:xfrm>
            <a:off x="8485920" y="583704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181"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182"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Structure des tables</a:t>
            </a:r>
            <a:endParaRPr lang="fr-FR" sz="2600" b="0" u="none" strike="noStrike">
              <a:solidFill>
                <a:srgbClr val="000000"/>
              </a:solidFill>
              <a:effectLst/>
              <a:uFillTx/>
              <a:latin typeface="Arial"/>
            </a:endParaRPr>
          </a:p>
        </p:txBody>
      </p:sp>
      <p:sp>
        <p:nvSpPr>
          <p:cNvPr id="183"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4748B"/>
                </a:solidFill>
                <a:effectLst/>
                <a:uFillTx/>
                <a:latin typeface="Aptos"/>
                <a:ea typeface="Aptos"/>
              </a:rPr>
              <a:t>Chaque table a une responsabilité claire et évite de mélanger des informations de nature différente.</a:t>
            </a:r>
            <a:endParaRPr lang="fr-FR" sz="1050" b="0" u="none" strike="noStrike">
              <a:solidFill>
                <a:srgbClr val="000000"/>
              </a:solidFill>
              <a:effectLst/>
              <a:uFillTx/>
              <a:latin typeface="Arial"/>
            </a:endParaRPr>
          </a:p>
        </p:txBody>
      </p:sp>
      <p:sp>
        <p:nvSpPr>
          <p:cNvPr id="184"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185" name="Shape 4"/>
          <p:cNvSpPr/>
          <p:nvPr/>
        </p:nvSpPr>
        <p:spPr>
          <a:xfrm>
            <a:off x="640080" y="1417320"/>
            <a:ext cx="2157120" cy="2056680"/>
          </a:xfrm>
          <a:prstGeom prst="roundRect">
            <a:avLst>
              <a:gd name="adj" fmla="val 3556"/>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86" name="Shape 5"/>
          <p:cNvSpPr/>
          <p:nvPr/>
        </p:nvSpPr>
        <p:spPr>
          <a:xfrm>
            <a:off x="640080" y="1417320"/>
            <a:ext cx="2157120" cy="145440"/>
          </a:xfrm>
          <a:prstGeom prst="rect">
            <a:avLst/>
          </a:prstGeom>
          <a:solidFill>
            <a:srgbClr val="FFBE00"/>
          </a:solidFill>
          <a:ln w="12700">
            <a:solidFill>
              <a:srgbClr val="FFBE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87" name="Text 6"/>
          <p:cNvSpPr/>
          <p:nvPr/>
        </p:nvSpPr>
        <p:spPr>
          <a:xfrm>
            <a:off x="804600" y="1673280"/>
            <a:ext cx="182808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111827"/>
                </a:solidFill>
                <a:effectLst/>
                <a:uFillTx/>
                <a:latin typeface="Aptos"/>
              </a:rPr>
              <a:t>ligne</a:t>
            </a:r>
            <a:endParaRPr lang="fr-FR" sz="1800" b="0" u="none" strike="noStrike">
              <a:solidFill>
                <a:srgbClr val="000000"/>
              </a:solidFill>
              <a:effectLst/>
              <a:uFillTx/>
              <a:latin typeface="Arial"/>
            </a:endParaRPr>
          </a:p>
        </p:txBody>
      </p:sp>
      <p:sp>
        <p:nvSpPr>
          <p:cNvPr id="188" name="Shape 7"/>
          <p:cNvSpPr/>
          <p:nvPr/>
        </p:nvSpPr>
        <p:spPr>
          <a:xfrm>
            <a:off x="804600" y="2148840"/>
            <a:ext cx="90720" cy="90720"/>
          </a:xfrm>
          <a:prstGeom prst="ellipse">
            <a:avLst/>
          </a:prstGeom>
          <a:solidFill>
            <a:srgbClr val="FFBE00"/>
          </a:solidFill>
          <a:ln w="12700">
            <a:solidFill>
              <a:srgbClr val="FFBE00"/>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189" name="Text 8"/>
          <p:cNvSpPr/>
          <p:nvPr/>
        </p:nvSpPr>
        <p:spPr>
          <a:xfrm>
            <a:off x="969120" y="207576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ligne_id</a:t>
            </a:r>
            <a:endParaRPr lang="fr-FR" sz="1320" b="0" u="none" strike="noStrike">
              <a:solidFill>
                <a:srgbClr val="000000"/>
              </a:solidFill>
              <a:effectLst/>
              <a:uFillTx/>
              <a:latin typeface="Arial"/>
            </a:endParaRPr>
          </a:p>
        </p:txBody>
      </p:sp>
      <p:sp>
        <p:nvSpPr>
          <p:cNvPr id="190" name="Shape 9"/>
          <p:cNvSpPr/>
          <p:nvPr/>
        </p:nvSpPr>
        <p:spPr>
          <a:xfrm>
            <a:off x="804600" y="2414160"/>
            <a:ext cx="90720" cy="90720"/>
          </a:xfrm>
          <a:prstGeom prst="ellipse">
            <a:avLst/>
          </a:prstGeom>
          <a:solidFill>
            <a:srgbClr val="FFBE00"/>
          </a:solidFill>
          <a:ln w="12700">
            <a:solidFill>
              <a:srgbClr val="FFBE00"/>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191" name="Text 10"/>
          <p:cNvSpPr/>
          <p:nvPr/>
        </p:nvSpPr>
        <p:spPr>
          <a:xfrm>
            <a:off x="969120" y="234072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numero_ligne</a:t>
            </a:r>
            <a:endParaRPr lang="fr-FR" sz="1320" b="0" u="none" strike="noStrike">
              <a:solidFill>
                <a:srgbClr val="000000"/>
              </a:solidFill>
              <a:effectLst/>
              <a:uFillTx/>
              <a:latin typeface="Arial"/>
            </a:endParaRPr>
          </a:p>
        </p:txBody>
      </p:sp>
      <p:sp>
        <p:nvSpPr>
          <p:cNvPr id="192" name="Shape 11"/>
          <p:cNvSpPr/>
          <p:nvPr/>
        </p:nvSpPr>
        <p:spPr>
          <a:xfrm>
            <a:off x="804600" y="2679120"/>
            <a:ext cx="90720" cy="90720"/>
          </a:xfrm>
          <a:prstGeom prst="ellipse">
            <a:avLst/>
          </a:prstGeom>
          <a:solidFill>
            <a:srgbClr val="FFBE00"/>
          </a:solidFill>
          <a:ln w="12700">
            <a:solidFill>
              <a:srgbClr val="FFBE00"/>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193" name="Text 12"/>
          <p:cNvSpPr/>
          <p:nvPr/>
        </p:nvSpPr>
        <p:spPr>
          <a:xfrm>
            <a:off x="969120" y="260604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nom_ligne</a:t>
            </a:r>
            <a:endParaRPr lang="fr-FR" sz="1320" b="0" u="none" strike="noStrike">
              <a:solidFill>
                <a:srgbClr val="000000"/>
              </a:solidFill>
              <a:effectLst/>
              <a:uFillTx/>
              <a:latin typeface="Arial"/>
            </a:endParaRPr>
          </a:p>
        </p:txBody>
      </p:sp>
      <p:sp>
        <p:nvSpPr>
          <p:cNvPr id="194" name="Shape 13"/>
          <p:cNvSpPr/>
          <p:nvPr/>
        </p:nvSpPr>
        <p:spPr>
          <a:xfrm>
            <a:off x="804600" y="2944440"/>
            <a:ext cx="90720" cy="90720"/>
          </a:xfrm>
          <a:prstGeom prst="ellipse">
            <a:avLst/>
          </a:prstGeom>
          <a:solidFill>
            <a:srgbClr val="FFBE00"/>
          </a:solidFill>
          <a:ln w="12700">
            <a:solidFill>
              <a:srgbClr val="FFBE00"/>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195" name="Text 14"/>
          <p:cNvSpPr/>
          <p:nvPr/>
        </p:nvSpPr>
        <p:spPr>
          <a:xfrm>
            <a:off x="969120" y="287136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couleur_hex</a:t>
            </a:r>
            <a:endParaRPr lang="fr-FR" sz="1320" b="0" u="none" strike="noStrike">
              <a:solidFill>
                <a:srgbClr val="000000"/>
              </a:solidFill>
              <a:effectLst/>
              <a:uFillTx/>
              <a:latin typeface="Arial"/>
            </a:endParaRPr>
          </a:p>
        </p:txBody>
      </p:sp>
      <p:sp>
        <p:nvSpPr>
          <p:cNvPr id="196" name="Shape 15"/>
          <p:cNvSpPr/>
          <p:nvPr/>
        </p:nvSpPr>
        <p:spPr>
          <a:xfrm>
            <a:off x="2999160" y="1417320"/>
            <a:ext cx="2157120" cy="2056680"/>
          </a:xfrm>
          <a:prstGeom prst="roundRect">
            <a:avLst>
              <a:gd name="adj" fmla="val 3556"/>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197" name="Shape 16"/>
          <p:cNvSpPr/>
          <p:nvPr/>
        </p:nvSpPr>
        <p:spPr>
          <a:xfrm>
            <a:off x="2999160" y="1417320"/>
            <a:ext cx="2157120" cy="145440"/>
          </a:xfrm>
          <a:prstGeom prst="rect">
            <a:avLst/>
          </a:prstGeom>
          <a:solidFill>
            <a:srgbClr val="003CA6"/>
          </a:solidFill>
          <a:ln w="12700">
            <a:solidFill>
              <a:srgbClr val="003CA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198" name="Text 17"/>
          <p:cNvSpPr/>
          <p:nvPr/>
        </p:nvSpPr>
        <p:spPr>
          <a:xfrm>
            <a:off x="3163680" y="1673280"/>
            <a:ext cx="182808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111827"/>
                </a:solidFill>
                <a:effectLst/>
                <a:uFillTx/>
                <a:latin typeface="Aptos"/>
              </a:rPr>
              <a:t>station</a:t>
            </a:r>
            <a:endParaRPr lang="fr-FR" sz="1800" b="0" u="none" strike="noStrike">
              <a:solidFill>
                <a:srgbClr val="000000"/>
              </a:solidFill>
              <a:effectLst/>
              <a:uFillTx/>
              <a:latin typeface="Arial"/>
            </a:endParaRPr>
          </a:p>
        </p:txBody>
      </p:sp>
      <p:sp>
        <p:nvSpPr>
          <p:cNvPr id="199" name="Shape 18"/>
          <p:cNvSpPr/>
          <p:nvPr/>
        </p:nvSpPr>
        <p:spPr>
          <a:xfrm>
            <a:off x="3163680" y="2148840"/>
            <a:ext cx="90720" cy="90720"/>
          </a:xfrm>
          <a:prstGeom prst="ellipse">
            <a:avLst/>
          </a:prstGeom>
          <a:solidFill>
            <a:srgbClr val="003CA6"/>
          </a:solidFill>
          <a:ln w="12700">
            <a:solidFill>
              <a:srgbClr val="003CA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00" name="Text 19"/>
          <p:cNvSpPr/>
          <p:nvPr/>
        </p:nvSpPr>
        <p:spPr>
          <a:xfrm>
            <a:off x="3328560" y="207576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station_id</a:t>
            </a:r>
            <a:endParaRPr lang="fr-FR" sz="1320" b="0" u="none" strike="noStrike">
              <a:solidFill>
                <a:srgbClr val="000000"/>
              </a:solidFill>
              <a:effectLst/>
              <a:uFillTx/>
              <a:latin typeface="Arial"/>
            </a:endParaRPr>
          </a:p>
        </p:txBody>
      </p:sp>
      <p:sp>
        <p:nvSpPr>
          <p:cNvPr id="201" name="Shape 20"/>
          <p:cNvSpPr/>
          <p:nvPr/>
        </p:nvSpPr>
        <p:spPr>
          <a:xfrm>
            <a:off x="3163680" y="2414160"/>
            <a:ext cx="90720" cy="90720"/>
          </a:xfrm>
          <a:prstGeom prst="ellipse">
            <a:avLst/>
          </a:prstGeom>
          <a:solidFill>
            <a:srgbClr val="003CA6"/>
          </a:solidFill>
          <a:ln w="12700">
            <a:solidFill>
              <a:srgbClr val="003CA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02" name="Text 21"/>
          <p:cNvSpPr/>
          <p:nvPr/>
        </p:nvSpPr>
        <p:spPr>
          <a:xfrm>
            <a:off x="3328560" y="234072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nom_station</a:t>
            </a:r>
            <a:endParaRPr lang="fr-FR" sz="1320" b="0" u="none" strike="noStrike">
              <a:solidFill>
                <a:srgbClr val="000000"/>
              </a:solidFill>
              <a:effectLst/>
              <a:uFillTx/>
              <a:latin typeface="Arial"/>
            </a:endParaRPr>
          </a:p>
        </p:txBody>
      </p:sp>
      <p:sp>
        <p:nvSpPr>
          <p:cNvPr id="203" name="Shape 22"/>
          <p:cNvSpPr/>
          <p:nvPr/>
        </p:nvSpPr>
        <p:spPr>
          <a:xfrm>
            <a:off x="3163680" y="2679120"/>
            <a:ext cx="90720" cy="90720"/>
          </a:xfrm>
          <a:prstGeom prst="ellipse">
            <a:avLst/>
          </a:prstGeom>
          <a:solidFill>
            <a:srgbClr val="003CA6"/>
          </a:solidFill>
          <a:ln w="12700">
            <a:solidFill>
              <a:srgbClr val="003CA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04" name="Text 23"/>
          <p:cNvSpPr/>
          <p:nvPr/>
        </p:nvSpPr>
        <p:spPr>
          <a:xfrm>
            <a:off x="3328560" y="260604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ville</a:t>
            </a:r>
            <a:endParaRPr lang="fr-FR" sz="1320" b="0" u="none" strike="noStrike">
              <a:solidFill>
                <a:srgbClr val="000000"/>
              </a:solidFill>
              <a:effectLst/>
              <a:uFillTx/>
              <a:latin typeface="Arial"/>
            </a:endParaRPr>
          </a:p>
        </p:txBody>
      </p:sp>
      <p:sp>
        <p:nvSpPr>
          <p:cNvPr id="205" name="Shape 24"/>
          <p:cNvSpPr/>
          <p:nvPr/>
        </p:nvSpPr>
        <p:spPr>
          <a:xfrm>
            <a:off x="3163680" y="2944440"/>
            <a:ext cx="90720" cy="90720"/>
          </a:xfrm>
          <a:prstGeom prst="ellipse">
            <a:avLst/>
          </a:prstGeom>
          <a:solidFill>
            <a:srgbClr val="003CA6"/>
          </a:solidFill>
          <a:ln w="12700">
            <a:solidFill>
              <a:srgbClr val="003CA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06" name="Text 25"/>
          <p:cNvSpPr/>
          <p:nvPr/>
        </p:nvSpPr>
        <p:spPr>
          <a:xfrm>
            <a:off x="3328560" y="287136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accessibilite_pmr</a:t>
            </a:r>
            <a:endParaRPr lang="fr-FR" sz="1320" b="0" u="none" strike="noStrike">
              <a:solidFill>
                <a:srgbClr val="000000"/>
              </a:solidFill>
              <a:effectLst/>
              <a:uFillTx/>
              <a:latin typeface="Arial"/>
            </a:endParaRPr>
          </a:p>
        </p:txBody>
      </p:sp>
      <p:sp>
        <p:nvSpPr>
          <p:cNvPr id="207" name="Shape 26"/>
          <p:cNvSpPr/>
          <p:nvPr/>
        </p:nvSpPr>
        <p:spPr>
          <a:xfrm>
            <a:off x="5358240" y="1417320"/>
            <a:ext cx="2157120" cy="2056680"/>
          </a:xfrm>
          <a:prstGeom prst="roundRect">
            <a:avLst>
              <a:gd name="adj" fmla="val 3556"/>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08" name="Shape 27"/>
          <p:cNvSpPr/>
          <p:nvPr/>
        </p:nvSpPr>
        <p:spPr>
          <a:xfrm>
            <a:off x="5358240" y="1417320"/>
            <a:ext cx="2157120" cy="145440"/>
          </a:xfrm>
          <a:prstGeom prst="rect">
            <a:avLst/>
          </a:prstGeom>
          <a:solidFill>
            <a:srgbClr val="CF009E"/>
          </a:solidFill>
          <a:ln w="12700">
            <a:solidFill>
              <a:srgbClr val="CF009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209" name="Text 28"/>
          <p:cNvSpPr/>
          <p:nvPr/>
        </p:nvSpPr>
        <p:spPr>
          <a:xfrm>
            <a:off x="5523120" y="1673280"/>
            <a:ext cx="182808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111827"/>
                </a:solidFill>
                <a:effectLst/>
                <a:uFillTx/>
                <a:latin typeface="Aptos"/>
              </a:rPr>
              <a:t>trajet</a:t>
            </a:r>
            <a:endParaRPr lang="fr-FR" sz="1800" b="0" u="none" strike="noStrike">
              <a:solidFill>
                <a:srgbClr val="000000"/>
              </a:solidFill>
              <a:effectLst/>
              <a:uFillTx/>
              <a:latin typeface="Arial"/>
            </a:endParaRPr>
          </a:p>
        </p:txBody>
      </p:sp>
      <p:sp>
        <p:nvSpPr>
          <p:cNvPr id="210" name="Shape 29"/>
          <p:cNvSpPr/>
          <p:nvPr/>
        </p:nvSpPr>
        <p:spPr>
          <a:xfrm>
            <a:off x="5523120" y="2148840"/>
            <a:ext cx="90720" cy="90720"/>
          </a:xfrm>
          <a:prstGeom prst="ellipse">
            <a:avLst/>
          </a:prstGeom>
          <a:solidFill>
            <a:srgbClr val="CF009E"/>
          </a:solidFill>
          <a:ln w="12700">
            <a:solidFill>
              <a:srgbClr val="CF009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11" name="Text 30"/>
          <p:cNvSpPr/>
          <p:nvPr/>
        </p:nvSpPr>
        <p:spPr>
          <a:xfrm>
            <a:off x="5687640" y="207576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trajet_id</a:t>
            </a:r>
            <a:endParaRPr lang="fr-FR" sz="1320" b="0" u="none" strike="noStrike">
              <a:solidFill>
                <a:srgbClr val="000000"/>
              </a:solidFill>
              <a:effectLst/>
              <a:uFillTx/>
              <a:latin typeface="Arial"/>
            </a:endParaRPr>
          </a:p>
        </p:txBody>
      </p:sp>
      <p:sp>
        <p:nvSpPr>
          <p:cNvPr id="212" name="Shape 31"/>
          <p:cNvSpPr/>
          <p:nvPr/>
        </p:nvSpPr>
        <p:spPr>
          <a:xfrm>
            <a:off x="5523120" y="2414160"/>
            <a:ext cx="90720" cy="90720"/>
          </a:xfrm>
          <a:prstGeom prst="ellipse">
            <a:avLst/>
          </a:prstGeom>
          <a:solidFill>
            <a:srgbClr val="CF009E"/>
          </a:solidFill>
          <a:ln w="12700">
            <a:solidFill>
              <a:srgbClr val="CF009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13" name="Text 32"/>
          <p:cNvSpPr/>
          <p:nvPr/>
        </p:nvSpPr>
        <p:spPr>
          <a:xfrm>
            <a:off x="5687640" y="234072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ligne_id</a:t>
            </a:r>
            <a:endParaRPr lang="fr-FR" sz="1320" b="0" u="none" strike="noStrike">
              <a:solidFill>
                <a:srgbClr val="000000"/>
              </a:solidFill>
              <a:effectLst/>
              <a:uFillTx/>
              <a:latin typeface="Arial"/>
            </a:endParaRPr>
          </a:p>
        </p:txBody>
      </p:sp>
      <p:sp>
        <p:nvSpPr>
          <p:cNvPr id="214" name="Shape 33"/>
          <p:cNvSpPr/>
          <p:nvPr/>
        </p:nvSpPr>
        <p:spPr>
          <a:xfrm>
            <a:off x="5523120" y="2679120"/>
            <a:ext cx="90720" cy="90720"/>
          </a:xfrm>
          <a:prstGeom prst="ellipse">
            <a:avLst/>
          </a:prstGeom>
          <a:solidFill>
            <a:srgbClr val="CF009E"/>
          </a:solidFill>
          <a:ln w="12700">
            <a:solidFill>
              <a:srgbClr val="CF009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15" name="Text 34"/>
          <p:cNvSpPr/>
          <p:nvPr/>
        </p:nvSpPr>
        <p:spPr>
          <a:xfrm>
            <a:off x="5687640" y="260604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heure_depart</a:t>
            </a:r>
            <a:endParaRPr lang="fr-FR" sz="1320" b="0" u="none" strike="noStrike">
              <a:solidFill>
                <a:srgbClr val="000000"/>
              </a:solidFill>
              <a:effectLst/>
              <a:uFillTx/>
              <a:latin typeface="Arial"/>
            </a:endParaRPr>
          </a:p>
        </p:txBody>
      </p:sp>
      <p:sp>
        <p:nvSpPr>
          <p:cNvPr id="216" name="Shape 35"/>
          <p:cNvSpPr/>
          <p:nvPr/>
        </p:nvSpPr>
        <p:spPr>
          <a:xfrm>
            <a:off x="5523120" y="2944440"/>
            <a:ext cx="90720" cy="90720"/>
          </a:xfrm>
          <a:prstGeom prst="ellipse">
            <a:avLst/>
          </a:prstGeom>
          <a:solidFill>
            <a:srgbClr val="CF009E"/>
          </a:solidFill>
          <a:ln w="12700">
            <a:solidFill>
              <a:srgbClr val="CF009E"/>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17" name="Text 36"/>
          <p:cNvSpPr/>
          <p:nvPr/>
        </p:nvSpPr>
        <p:spPr>
          <a:xfrm>
            <a:off x="5687640" y="287136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heure_arrivee</a:t>
            </a:r>
            <a:endParaRPr lang="fr-FR" sz="1320" b="0" u="none" strike="noStrike">
              <a:solidFill>
                <a:srgbClr val="000000"/>
              </a:solidFill>
              <a:effectLst/>
              <a:uFillTx/>
              <a:latin typeface="Arial"/>
            </a:endParaRPr>
          </a:p>
        </p:txBody>
      </p:sp>
      <p:sp>
        <p:nvSpPr>
          <p:cNvPr id="218" name="Shape 37"/>
          <p:cNvSpPr/>
          <p:nvPr/>
        </p:nvSpPr>
        <p:spPr>
          <a:xfrm>
            <a:off x="7717680" y="1417320"/>
            <a:ext cx="2157120" cy="2056680"/>
          </a:xfrm>
          <a:prstGeom prst="roundRect">
            <a:avLst>
              <a:gd name="adj" fmla="val 3556"/>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19" name="Shape 38"/>
          <p:cNvSpPr/>
          <p:nvPr/>
        </p:nvSpPr>
        <p:spPr>
          <a:xfrm>
            <a:off x="7717680" y="1417320"/>
            <a:ext cx="2157120" cy="145440"/>
          </a:xfrm>
          <a:prstGeom prst="rect">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20" name="Text 39"/>
          <p:cNvSpPr/>
          <p:nvPr/>
        </p:nvSpPr>
        <p:spPr>
          <a:xfrm>
            <a:off x="7882200" y="1673280"/>
            <a:ext cx="182808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111827"/>
                </a:solidFill>
                <a:effectLst/>
                <a:uFillTx/>
                <a:latin typeface="Aptos"/>
              </a:rPr>
              <a:t>passage</a:t>
            </a:r>
            <a:endParaRPr lang="fr-FR" sz="1800" b="0" u="none" strike="noStrike">
              <a:solidFill>
                <a:srgbClr val="000000"/>
              </a:solidFill>
              <a:effectLst/>
              <a:uFillTx/>
              <a:latin typeface="Arial"/>
            </a:endParaRPr>
          </a:p>
        </p:txBody>
      </p:sp>
      <p:sp>
        <p:nvSpPr>
          <p:cNvPr id="221" name="Shape 40"/>
          <p:cNvSpPr/>
          <p:nvPr/>
        </p:nvSpPr>
        <p:spPr>
          <a:xfrm>
            <a:off x="7882200" y="2148840"/>
            <a:ext cx="90720" cy="9072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222" name="Text 41"/>
          <p:cNvSpPr/>
          <p:nvPr/>
        </p:nvSpPr>
        <p:spPr>
          <a:xfrm>
            <a:off x="8046720" y="207576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passage_id</a:t>
            </a:r>
            <a:endParaRPr lang="fr-FR" sz="1320" b="0" u="none" strike="noStrike">
              <a:solidFill>
                <a:srgbClr val="000000"/>
              </a:solidFill>
              <a:effectLst/>
              <a:uFillTx/>
              <a:latin typeface="Arial"/>
            </a:endParaRPr>
          </a:p>
        </p:txBody>
      </p:sp>
      <p:sp>
        <p:nvSpPr>
          <p:cNvPr id="223" name="Shape 42"/>
          <p:cNvSpPr/>
          <p:nvPr/>
        </p:nvSpPr>
        <p:spPr>
          <a:xfrm>
            <a:off x="7882200" y="2414160"/>
            <a:ext cx="90720" cy="9072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224" name="Text 43"/>
          <p:cNvSpPr/>
          <p:nvPr/>
        </p:nvSpPr>
        <p:spPr>
          <a:xfrm>
            <a:off x="8046720" y="234072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trajet_id</a:t>
            </a:r>
            <a:endParaRPr lang="fr-FR" sz="1320" b="0" u="none" strike="noStrike">
              <a:solidFill>
                <a:srgbClr val="000000"/>
              </a:solidFill>
              <a:effectLst/>
              <a:uFillTx/>
              <a:latin typeface="Arial"/>
            </a:endParaRPr>
          </a:p>
        </p:txBody>
      </p:sp>
      <p:sp>
        <p:nvSpPr>
          <p:cNvPr id="225" name="Shape 44"/>
          <p:cNvSpPr/>
          <p:nvPr/>
        </p:nvSpPr>
        <p:spPr>
          <a:xfrm>
            <a:off x="7882200" y="2679120"/>
            <a:ext cx="90720" cy="9072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226" name="Text 45"/>
          <p:cNvSpPr/>
          <p:nvPr/>
        </p:nvSpPr>
        <p:spPr>
          <a:xfrm>
            <a:off x="8046720" y="260604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station_id</a:t>
            </a:r>
            <a:endParaRPr lang="fr-FR" sz="1320" b="0" u="none" strike="noStrike">
              <a:solidFill>
                <a:srgbClr val="000000"/>
              </a:solidFill>
              <a:effectLst/>
              <a:uFillTx/>
              <a:latin typeface="Arial"/>
            </a:endParaRPr>
          </a:p>
        </p:txBody>
      </p:sp>
      <p:sp>
        <p:nvSpPr>
          <p:cNvPr id="227" name="Shape 46"/>
          <p:cNvSpPr/>
          <p:nvPr/>
        </p:nvSpPr>
        <p:spPr>
          <a:xfrm>
            <a:off x="7882200" y="2944440"/>
            <a:ext cx="90720" cy="9072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228" name="Text 47"/>
          <p:cNvSpPr/>
          <p:nvPr/>
        </p:nvSpPr>
        <p:spPr>
          <a:xfrm>
            <a:off x="8046720" y="2871360"/>
            <a:ext cx="18280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320" b="0" u="none" strike="noStrike">
                <a:solidFill>
                  <a:srgbClr val="374151"/>
                </a:solidFill>
                <a:effectLst/>
                <a:uFillTx/>
                <a:latin typeface="Aptos"/>
              </a:rPr>
              <a:t>ordre_station</a:t>
            </a:r>
            <a:endParaRPr lang="fr-FR" sz="1320" b="0" u="none" strike="noStrike">
              <a:solidFill>
                <a:srgbClr val="000000"/>
              </a:solidFill>
              <a:effectLst/>
              <a:uFillTx/>
              <a:latin typeface="Arial"/>
            </a:endParaRPr>
          </a:p>
        </p:txBody>
      </p:sp>
      <p:sp>
        <p:nvSpPr>
          <p:cNvPr id="229" name="Shape 48"/>
          <p:cNvSpPr/>
          <p:nvPr/>
        </p:nvSpPr>
        <p:spPr>
          <a:xfrm>
            <a:off x="10076760" y="1417320"/>
            <a:ext cx="1480680" cy="2056680"/>
          </a:xfrm>
          <a:prstGeom prst="roundRect">
            <a:avLst>
              <a:gd name="adj" fmla="val 4938"/>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30" name="Shape 49"/>
          <p:cNvSpPr/>
          <p:nvPr/>
        </p:nvSpPr>
        <p:spPr>
          <a:xfrm>
            <a:off x="10076760" y="1417320"/>
            <a:ext cx="1480680" cy="145440"/>
          </a:xfrm>
          <a:prstGeom prst="rect">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231" name="Text 50"/>
          <p:cNvSpPr/>
          <p:nvPr/>
        </p:nvSpPr>
        <p:spPr>
          <a:xfrm>
            <a:off x="10241280" y="1673280"/>
            <a:ext cx="115128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111827"/>
                </a:solidFill>
                <a:effectLst/>
                <a:uFillTx/>
                <a:latin typeface="Aptos"/>
              </a:rPr>
              <a:t>dessert</a:t>
            </a:r>
            <a:endParaRPr lang="fr-FR" sz="1800" b="0" u="none" strike="noStrike">
              <a:solidFill>
                <a:srgbClr val="000000"/>
              </a:solidFill>
              <a:effectLst/>
              <a:uFillTx/>
              <a:latin typeface="Arial"/>
            </a:endParaRPr>
          </a:p>
        </p:txBody>
      </p:sp>
      <p:sp>
        <p:nvSpPr>
          <p:cNvPr id="232" name="Shape 51"/>
          <p:cNvSpPr/>
          <p:nvPr/>
        </p:nvSpPr>
        <p:spPr>
          <a:xfrm>
            <a:off x="10241280" y="214884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33" name="Text 52"/>
          <p:cNvSpPr/>
          <p:nvPr/>
        </p:nvSpPr>
        <p:spPr>
          <a:xfrm>
            <a:off x="10405800" y="2075760"/>
            <a:ext cx="11512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50" b="0" u="none" strike="noStrike">
                <a:solidFill>
                  <a:srgbClr val="374151"/>
                </a:solidFill>
                <a:effectLst/>
                <a:uFillTx/>
                <a:latin typeface="Aptos"/>
              </a:rPr>
              <a:t>ligne_id</a:t>
            </a:r>
            <a:endParaRPr lang="fr-FR" sz="1150" b="0" u="none" strike="noStrike">
              <a:solidFill>
                <a:srgbClr val="000000"/>
              </a:solidFill>
              <a:effectLst/>
              <a:uFillTx/>
              <a:latin typeface="Arial"/>
            </a:endParaRPr>
          </a:p>
        </p:txBody>
      </p:sp>
      <p:sp>
        <p:nvSpPr>
          <p:cNvPr id="234" name="Shape 53"/>
          <p:cNvSpPr/>
          <p:nvPr/>
        </p:nvSpPr>
        <p:spPr>
          <a:xfrm>
            <a:off x="10241280" y="241416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35" name="Text 54"/>
          <p:cNvSpPr/>
          <p:nvPr/>
        </p:nvSpPr>
        <p:spPr>
          <a:xfrm>
            <a:off x="10405800" y="2340720"/>
            <a:ext cx="11512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50" b="0" u="none" strike="noStrike">
                <a:solidFill>
                  <a:srgbClr val="374151"/>
                </a:solidFill>
                <a:effectLst/>
                <a:uFillTx/>
                <a:latin typeface="Aptos"/>
              </a:rPr>
              <a:t>station_id</a:t>
            </a:r>
            <a:endParaRPr lang="fr-FR" sz="1150" b="0" u="none" strike="noStrike">
              <a:solidFill>
                <a:srgbClr val="000000"/>
              </a:solidFill>
              <a:effectLst/>
              <a:uFillTx/>
              <a:latin typeface="Arial"/>
            </a:endParaRPr>
          </a:p>
        </p:txBody>
      </p:sp>
      <p:sp>
        <p:nvSpPr>
          <p:cNvPr id="236" name="Shape 55"/>
          <p:cNvSpPr/>
          <p:nvPr/>
        </p:nvSpPr>
        <p:spPr>
          <a:xfrm>
            <a:off x="822960" y="3977640"/>
            <a:ext cx="5439960" cy="1873800"/>
          </a:xfrm>
          <a:prstGeom prst="roundRect">
            <a:avLst>
              <a:gd name="adj" fmla="val 3902"/>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37" name="Text 56"/>
          <p:cNvSpPr/>
          <p:nvPr/>
        </p:nvSpPr>
        <p:spPr>
          <a:xfrm>
            <a:off x="1078920" y="4179960"/>
            <a:ext cx="32911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Contraintes mises en avant dans le script</a:t>
            </a:r>
            <a:endParaRPr lang="fr-FR" sz="1800" b="0" u="none" strike="noStrike">
              <a:solidFill>
                <a:srgbClr val="000000"/>
              </a:solidFill>
              <a:effectLst/>
              <a:uFillTx/>
              <a:latin typeface="Arial"/>
            </a:endParaRPr>
          </a:p>
        </p:txBody>
      </p:sp>
      <p:sp>
        <p:nvSpPr>
          <p:cNvPr id="238" name="Shape 57"/>
          <p:cNvSpPr/>
          <p:nvPr/>
        </p:nvSpPr>
        <p:spPr>
          <a:xfrm>
            <a:off x="1078920" y="466344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39" name="Shape 59"/>
          <p:cNvSpPr/>
          <p:nvPr/>
        </p:nvSpPr>
        <p:spPr>
          <a:xfrm>
            <a:off x="1078920" y="496512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40" name="Text 60"/>
          <p:cNvSpPr/>
          <p:nvPr/>
        </p:nvSpPr>
        <p:spPr>
          <a:xfrm>
            <a:off x="1243440" y="4892040"/>
            <a:ext cx="4525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Clés étrangères pour relier les entités</a:t>
            </a:r>
            <a:endParaRPr lang="fr-FR" sz="1420" b="0" u="none" strike="noStrike">
              <a:solidFill>
                <a:srgbClr val="000000"/>
              </a:solidFill>
              <a:effectLst/>
              <a:uFillTx/>
              <a:latin typeface="Arial"/>
            </a:endParaRPr>
          </a:p>
        </p:txBody>
      </p:sp>
      <p:sp>
        <p:nvSpPr>
          <p:cNvPr id="241" name="Shape 61"/>
          <p:cNvSpPr/>
          <p:nvPr/>
        </p:nvSpPr>
        <p:spPr>
          <a:xfrm>
            <a:off x="1078920" y="526680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42" name="Text 62"/>
          <p:cNvSpPr/>
          <p:nvPr/>
        </p:nvSpPr>
        <p:spPr>
          <a:xfrm>
            <a:off x="1243440" y="5193720"/>
            <a:ext cx="4525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Contraintes CHECK et UNIQUE selon les besoins</a:t>
            </a:r>
            <a:endParaRPr lang="fr-FR" sz="1420" b="0" u="none" strike="noStrike">
              <a:solidFill>
                <a:srgbClr val="000000"/>
              </a:solidFill>
              <a:effectLst/>
              <a:uFillTx/>
              <a:latin typeface="Arial"/>
            </a:endParaRPr>
          </a:p>
        </p:txBody>
      </p:sp>
      <p:sp>
        <p:nvSpPr>
          <p:cNvPr id="243" name="Shape 63"/>
          <p:cNvSpPr/>
          <p:nvPr/>
        </p:nvSpPr>
        <p:spPr>
          <a:xfrm>
            <a:off x="1078920" y="556884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44" name="Text 64"/>
          <p:cNvSpPr/>
          <p:nvPr/>
        </p:nvSpPr>
        <p:spPr>
          <a:xfrm>
            <a:off x="1243440" y="5495400"/>
            <a:ext cx="4525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Ordre de passage propre à un trajet</a:t>
            </a:r>
            <a:endParaRPr lang="fr-FR" sz="1420" b="0" u="none" strike="noStrike">
              <a:solidFill>
                <a:srgbClr val="000000"/>
              </a:solidFill>
              <a:effectLst/>
              <a:uFillTx/>
              <a:latin typeface="Arial"/>
            </a:endParaRPr>
          </a:p>
        </p:txBody>
      </p:sp>
      <p:sp>
        <p:nvSpPr>
          <p:cNvPr id="245" name="Shape 65"/>
          <p:cNvSpPr/>
          <p:nvPr/>
        </p:nvSpPr>
        <p:spPr>
          <a:xfrm>
            <a:off x="6473880" y="3977640"/>
            <a:ext cx="4891320" cy="1873800"/>
          </a:xfrm>
          <a:prstGeom prst="roundRect">
            <a:avLst>
              <a:gd name="adj" fmla="val 3902"/>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46" name="Text 66"/>
          <p:cNvSpPr/>
          <p:nvPr/>
        </p:nvSpPr>
        <p:spPr>
          <a:xfrm>
            <a:off x="6748200" y="4251960"/>
            <a:ext cx="265104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Pourquoi cette séparation ?</a:t>
            </a:r>
            <a:endParaRPr lang="fr-FR" sz="1800" b="0" u="none" strike="noStrike">
              <a:solidFill>
                <a:srgbClr val="000000"/>
              </a:solidFill>
              <a:effectLst/>
              <a:uFillTx/>
              <a:latin typeface="Arial"/>
            </a:endParaRPr>
          </a:p>
        </p:txBody>
      </p:sp>
      <p:sp>
        <p:nvSpPr>
          <p:cNvPr id="247" name="Text 67"/>
          <p:cNvSpPr/>
          <p:nvPr/>
        </p:nvSpPr>
        <p:spPr>
          <a:xfrm>
            <a:off x="6748200" y="5085720"/>
            <a:ext cx="4251240" cy="685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tabLst>
                <a:tab pos="0" algn="l"/>
              </a:tabLst>
            </a:pPr>
            <a:endParaRPr lang="fr-FR" sz="1800" b="0" u="none" strike="noStrike">
              <a:solidFill>
                <a:srgbClr val="000000"/>
              </a:solidFill>
              <a:effectLst/>
              <a:uFillTx/>
              <a:latin typeface="Arial"/>
            </a:endParaRPr>
          </a:p>
        </p:txBody>
      </p:sp>
      <p:sp>
        <p:nvSpPr>
          <p:cNvPr id="248" name="Text 68"/>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249" name="Text 69"/>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
        <p:nvSpPr>
          <p:cNvPr id="250" name="Shape 54"/>
          <p:cNvSpPr/>
          <p:nvPr/>
        </p:nvSpPr>
        <p:spPr>
          <a:xfrm>
            <a:off x="6695280" y="477180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51" name="Text 4"/>
          <p:cNvSpPr/>
          <p:nvPr/>
        </p:nvSpPr>
        <p:spPr>
          <a:xfrm>
            <a:off x="1243440" y="4590360"/>
            <a:ext cx="4525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Clés primaires sur chaque table</a:t>
            </a:r>
            <a:endParaRPr lang="fr-FR" sz="1420" b="0" u="none" strike="noStrike">
              <a:solidFill>
                <a:srgbClr val="000000"/>
              </a:solidFill>
              <a:effectLst/>
              <a:uFillTx/>
              <a:latin typeface="Arial"/>
            </a:endParaRPr>
          </a:p>
        </p:txBody>
      </p:sp>
      <p:sp>
        <p:nvSpPr>
          <p:cNvPr id="252" name="Text 35"/>
          <p:cNvSpPr/>
          <p:nvPr/>
        </p:nvSpPr>
        <p:spPr>
          <a:xfrm>
            <a:off x="6823440" y="4698360"/>
            <a:ext cx="4525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tabLst>
                <a:tab pos="0" algn="l"/>
              </a:tabLst>
            </a:pPr>
            <a:r>
              <a:rPr lang="en-US" sz="1420" b="0" u="none" strike="noStrike">
                <a:solidFill>
                  <a:srgbClr val="374151"/>
                </a:solidFill>
                <a:effectLst/>
                <a:uFillTx/>
                <a:latin typeface="Aptos"/>
              </a:rPr>
              <a:t>Evite la duplication des données</a:t>
            </a:r>
            <a:endParaRPr lang="fr-FR" sz="1420" b="0" u="none" strike="noStrike">
              <a:solidFill>
                <a:srgbClr val="000000"/>
              </a:solidFill>
              <a:effectLst/>
              <a:uFillTx/>
              <a:latin typeface="Arial"/>
            </a:endParaRPr>
          </a:p>
        </p:txBody>
      </p:sp>
      <p:sp>
        <p:nvSpPr>
          <p:cNvPr id="253" name="Shape 56"/>
          <p:cNvSpPr/>
          <p:nvPr/>
        </p:nvSpPr>
        <p:spPr>
          <a:xfrm>
            <a:off x="6695640" y="509616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54" name="Shape 58"/>
          <p:cNvSpPr/>
          <p:nvPr/>
        </p:nvSpPr>
        <p:spPr>
          <a:xfrm>
            <a:off x="6695640" y="542016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255" name="Text 49"/>
          <p:cNvSpPr/>
          <p:nvPr/>
        </p:nvSpPr>
        <p:spPr>
          <a:xfrm>
            <a:off x="6823440" y="5022360"/>
            <a:ext cx="4525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tabLst>
                <a:tab pos="0" algn="l"/>
              </a:tabLst>
            </a:pPr>
            <a:r>
              <a:rPr lang="en-US" sz="1500" b="0" u="none" strike="noStrike">
                <a:solidFill>
                  <a:srgbClr val="374151"/>
                </a:solidFill>
                <a:effectLst/>
                <a:uFillTx/>
                <a:latin typeface="Aptos"/>
              </a:rPr>
              <a:t>Facilite les jointures SQL</a:t>
            </a:r>
            <a:endParaRPr lang="fr-FR" sz="1500" b="0" u="none" strike="noStrike">
              <a:solidFill>
                <a:srgbClr val="000000"/>
              </a:solidFill>
              <a:effectLst/>
              <a:uFillTx/>
              <a:latin typeface="Arial"/>
            </a:endParaRPr>
          </a:p>
        </p:txBody>
      </p:sp>
      <p:sp>
        <p:nvSpPr>
          <p:cNvPr id="256" name="Text 51"/>
          <p:cNvSpPr/>
          <p:nvPr/>
        </p:nvSpPr>
        <p:spPr>
          <a:xfrm>
            <a:off x="6823440" y="4698360"/>
            <a:ext cx="4525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tabLst>
                <a:tab pos="0" algn="l"/>
              </a:tabLst>
            </a:pPr>
            <a:r>
              <a:rPr lang="en-US" sz="1420" b="0" u="none" strike="noStrike">
                <a:solidFill>
                  <a:srgbClr val="374151"/>
                </a:solidFill>
                <a:effectLst/>
                <a:uFillTx/>
                <a:latin typeface="Aptos"/>
              </a:rPr>
              <a:t>Evite la duplication des données</a:t>
            </a:r>
            <a:endParaRPr lang="fr-FR" sz="1420" b="0" u="none" strike="noStrike">
              <a:solidFill>
                <a:srgbClr val="000000"/>
              </a:solidFill>
              <a:effectLst/>
              <a:uFillTx/>
              <a:latin typeface="Arial"/>
            </a:endParaRPr>
          </a:p>
        </p:txBody>
      </p:sp>
      <p:sp>
        <p:nvSpPr>
          <p:cNvPr id="257" name="Text 53"/>
          <p:cNvSpPr/>
          <p:nvPr/>
        </p:nvSpPr>
        <p:spPr>
          <a:xfrm>
            <a:off x="6823440" y="4698360"/>
            <a:ext cx="4525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tabLst>
                <a:tab pos="0" algn="l"/>
              </a:tabLst>
            </a:pPr>
            <a:r>
              <a:rPr lang="en-US" sz="1420" b="0" u="none" strike="noStrike">
                <a:solidFill>
                  <a:srgbClr val="374151"/>
                </a:solidFill>
                <a:effectLst/>
                <a:uFillTx/>
                <a:latin typeface="Aptos"/>
              </a:rPr>
              <a:t>Evite la duplication des données</a:t>
            </a:r>
            <a:endParaRPr lang="fr-FR" sz="1420" b="0" u="none" strike="noStrike">
              <a:solidFill>
                <a:srgbClr val="000000"/>
              </a:solidFill>
              <a:effectLst/>
              <a:uFillTx/>
              <a:latin typeface="Arial"/>
            </a:endParaRPr>
          </a:p>
        </p:txBody>
      </p:sp>
      <p:sp>
        <p:nvSpPr>
          <p:cNvPr id="258" name="Text 55"/>
          <p:cNvSpPr/>
          <p:nvPr/>
        </p:nvSpPr>
        <p:spPr>
          <a:xfrm>
            <a:off x="6823440" y="5454360"/>
            <a:ext cx="45255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spcBef>
                <a:spcPts val="1191"/>
              </a:spcBef>
              <a:spcAft>
                <a:spcPts val="992"/>
              </a:spcAft>
              <a:tabLst>
                <a:tab pos="0" algn="l"/>
              </a:tabLst>
            </a:pPr>
            <a:r>
              <a:rPr lang="en-US" sz="1400" b="0" u="none" strike="noStrike">
                <a:solidFill>
                  <a:srgbClr val="374151"/>
                </a:solidFill>
                <a:effectLst/>
                <a:uFillTx/>
                <a:latin typeface="Aptos"/>
              </a:rPr>
              <a:t>Rend la base plus lisible et plus simple à faire évoluer</a:t>
            </a:r>
            <a:endParaRPr lang="fr-FR" sz="1400" b="0" u="none" strike="noStrike">
              <a:solidFill>
                <a:srgbClr val="000000"/>
              </a:solidFill>
              <a:effectLst/>
              <a:uFillTx/>
              <a:latin typeface="Aria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59"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260"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Jeu de données et génération</a:t>
            </a:r>
            <a:endParaRPr lang="fr-FR" sz="2600" b="0" u="none" strike="noStrike">
              <a:solidFill>
                <a:srgbClr val="000000"/>
              </a:solidFill>
              <a:effectLst/>
              <a:uFillTx/>
              <a:latin typeface="Arial"/>
            </a:endParaRPr>
          </a:p>
        </p:txBody>
      </p:sp>
      <p:sp>
        <p:nvSpPr>
          <p:cNvPr id="261"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4748B"/>
                </a:solidFill>
                <a:effectLst/>
                <a:uFillTx/>
                <a:latin typeface="Aptos"/>
                <a:ea typeface="Aptos"/>
              </a:rPr>
              <a:t>Les données ont été préparées à partir de sources tabulaires puis transformées en inserts SQL.</a:t>
            </a:r>
            <a:endParaRPr lang="fr-FR" sz="1050" b="0" u="none" strike="noStrike">
              <a:solidFill>
                <a:srgbClr val="000000"/>
              </a:solidFill>
              <a:effectLst/>
              <a:uFillTx/>
              <a:latin typeface="Arial"/>
            </a:endParaRPr>
          </a:p>
        </p:txBody>
      </p:sp>
      <p:sp>
        <p:nvSpPr>
          <p:cNvPr id="262"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263" name="Shape 4"/>
          <p:cNvSpPr/>
          <p:nvPr/>
        </p:nvSpPr>
        <p:spPr>
          <a:xfrm>
            <a:off x="642960" y="1828800"/>
            <a:ext cx="1599480" cy="1416600"/>
          </a:xfrm>
          <a:prstGeom prst="roundRect">
            <a:avLst>
              <a:gd name="adj" fmla="val 5161"/>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64" name="Shape 5"/>
          <p:cNvSpPr/>
          <p:nvPr/>
        </p:nvSpPr>
        <p:spPr>
          <a:xfrm>
            <a:off x="1182960" y="1974960"/>
            <a:ext cx="456480" cy="45648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265" name="Text 6"/>
          <p:cNvSpPr/>
          <p:nvPr/>
        </p:nvSpPr>
        <p:spPr>
          <a:xfrm>
            <a:off x="698400" y="2532960"/>
            <a:ext cx="141660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CSV</a:t>
            </a:r>
            <a:endParaRPr lang="fr-FR" sz="1600" b="0" u="none" strike="noStrike">
              <a:solidFill>
                <a:srgbClr val="000000"/>
              </a:solidFill>
              <a:effectLst/>
              <a:uFillTx/>
              <a:latin typeface="Arial"/>
            </a:endParaRPr>
          </a:p>
        </p:txBody>
      </p:sp>
      <p:sp>
        <p:nvSpPr>
          <p:cNvPr id="266" name="Text 7"/>
          <p:cNvSpPr/>
          <p:nvPr/>
        </p:nvSpPr>
        <p:spPr>
          <a:xfrm>
            <a:off x="716760" y="2788920"/>
            <a:ext cx="13708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20" b="0" u="none" strike="noStrike">
                <a:solidFill>
                  <a:srgbClr val="475569"/>
                </a:solidFill>
                <a:effectLst/>
                <a:uFillTx/>
                <a:latin typeface="Aptos"/>
              </a:rPr>
              <a:t>Stations et</a:t>
            </a:r>
            <a:endParaRPr lang="fr-FR" sz="1220" b="0" u="none" strike="noStrike">
              <a:solidFill>
                <a:srgbClr val="000000"/>
              </a:solidFill>
              <a:effectLst/>
              <a:uFillTx/>
              <a:latin typeface="Arial"/>
            </a:endParaRPr>
          </a:p>
          <a:p>
            <a:pPr algn="ctr" defTabSz="914400">
              <a:lnSpc>
                <a:spcPct val="100000"/>
              </a:lnSpc>
              <a:tabLst>
                <a:tab pos="0" algn="l"/>
              </a:tabLst>
            </a:pPr>
            <a:r>
              <a:rPr lang="en-US" sz="1220" b="0" u="none" strike="noStrike">
                <a:solidFill>
                  <a:srgbClr val="475569"/>
                </a:solidFill>
                <a:effectLst/>
                <a:uFillTx/>
                <a:latin typeface="Aptos"/>
              </a:rPr>
              <a:t>références</a:t>
            </a:r>
            <a:endParaRPr lang="fr-FR" sz="1220" b="0" u="none" strike="noStrike">
              <a:solidFill>
                <a:srgbClr val="000000"/>
              </a:solidFill>
              <a:effectLst/>
              <a:uFillTx/>
              <a:latin typeface="Arial"/>
            </a:endParaRPr>
          </a:p>
        </p:txBody>
      </p:sp>
      <p:sp>
        <p:nvSpPr>
          <p:cNvPr id="267" name="Shape 8"/>
          <p:cNvSpPr/>
          <p:nvPr/>
        </p:nvSpPr>
        <p:spPr>
          <a:xfrm>
            <a:off x="2344320" y="2313360"/>
            <a:ext cx="593640" cy="401760"/>
          </a:xfrm>
          <a:prstGeom prst="chevron">
            <a:avLst>
              <a:gd name="adj" fmla="val 50000"/>
            </a:avLst>
          </a:prstGeom>
          <a:solidFill>
            <a:srgbClr val="CBD5E1"/>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68" name="Shape 9"/>
          <p:cNvSpPr/>
          <p:nvPr/>
        </p:nvSpPr>
        <p:spPr>
          <a:xfrm>
            <a:off x="3017520" y="1828800"/>
            <a:ext cx="1599480" cy="1416600"/>
          </a:xfrm>
          <a:prstGeom prst="roundRect">
            <a:avLst>
              <a:gd name="adj" fmla="val 5161"/>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69" name="Shape 10"/>
          <p:cNvSpPr/>
          <p:nvPr/>
        </p:nvSpPr>
        <p:spPr>
          <a:xfrm>
            <a:off x="3593520" y="1974960"/>
            <a:ext cx="456480" cy="45648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270" name="Text 11"/>
          <p:cNvSpPr/>
          <p:nvPr/>
        </p:nvSpPr>
        <p:spPr>
          <a:xfrm>
            <a:off x="3108960" y="2532960"/>
            <a:ext cx="141660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Python</a:t>
            </a:r>
            <a:endParaRPr lang="fr-FR" sz="1600" b="0" u="none" strike="noStrike">
              <a:solidFill>
                <a:srgbClr val="000000"/>
              </a:solidFill>
              <a:effectLst/>
              <a:uFillTx/>
              <a:latin typeface="Arial"/>
            </a:endParaRPr>
          </a:p>
        </p:txBody>
      </p:sp>
      <p:sp>
        <p:nvSpPr>
          <p:cNvPr id="271" name="Text 12"/>
          <p:cNvSpPr/>
          <p:nvPr/>
        </p:nvSpPr>
        <p:spPr>
          <a:xfrm>
            <a:off x="3127320" y="2788920"/>
            <a:ext cx="13708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20" b="0" u="none" strike="noStrike">
                <a:solidFill>
                  <a:srgbClr val="475569"/>
                </a:solidFill>
                <a:effectLst/>
                <a:uFillTx/>
                <a:latin typeface="Aptos"/>
              </a:rPr>
              <a:t>Nettoyage et</a:t>
            </a:r>
            <a:endParaRPr lang="fr-FR" sz="1220" b="0" u="none" strike="noStrike">
              <a:solidFill>
                <a:srgbClr val="000000"/>
              </a:solidFill>
              <a:effectLst/>
              <a:uFillTx/>
              <a:latin typeface="Arial"/>
            </a:endParaRPr>
          </a:p>
          <a:p>
            <a:pPr algn="ctr" defTabSz="914400">
              <a:lnSpc>
                <a:spcPct val="100000"/>
              </a:lnSpc>
              <a:tabLst>
                <a:tab pos="0" algn="l"/>
              </a:tabLst>
            </a:pPr>
            <a:r>
              <a:rPr lang="en-US" sz="1220" b="0" u="none" strike="noStrike">
                <a:solidFill>
                  <a:srgbClr val="475569"/>
                </a:solidFill>
                <a:effectLst/>
                <a:uFillTx/>
                <a:latin typeface="Aptos"/>
              </a:rPr>
              <a:t>transformation</a:t>
            </a:r>
            <a:endParaRPr lang="fr-FR" sz="1220" b="0" u="none" strike="noStrike">
              <a:solidFill>
                <a:srgbClr val="000000"/>
              </a:solidFill>
              <a:effectLst/>
              <a:uFillTx/>
              <a:latin typeface="Arial"/>
            </a:endParaRPr>
          </a:p>
        </p:txBody>
      </p:sp>
      <p:sp>
        <p:nvSpPr>
          <p:cNvPr id="272" name="Shape 13"/>
          <p:cNvSpPr/>
          <p:nvPr/>
        </p:nvSpPr>
        <p:spPr>
          <a:xfrm>
            <a:off x="4718880" y="2313360"/>
            <a:ext cx="593640" cy="401760"/>
          </a:xfrm>
          <a:prstGeom prst="chevron">
            <a:avLst>
              <a:gd name="adj" fmla="val 50000"/>
            </a:avLst>
          </a:prstGeom>
          <a:solidFill>
            <a:srgbClr val="CBD5E1"/>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73" name="Shape 14"/>
          <p:cNvSpPr/>
          <p:nvPr/>
        </p:nvSpPr>
        <p:spPr>
          <a:xfrm>
            <a:off x="5356080" y="1828800"/>
            <a:ext cx="1599480" cy="1416600"/>
          </a:xfrm>
          <a:prstGeom prst="roundRect">
            <a:avLst>
              <a:gd name="adj" fmla="val 5161"/>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74" name="Shape 15"/>
          <p:cNvSpPr/>
          <p:nvPr/>
        </p:nvSpPr>
        <p:spPr>
          <a:xfrm>
            <a:off x="5932080" y="1974960"/>
            <a:ext cx="456480" cy="45648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75" name="Text 16"/>
          <p:cNvSpPr/>
          <p:nvPr/>
        </p:nvSpPr>
        <p:spPr>
          <a:xfrm>
            <a:off x="5447520" y="2496960"/>
            <a:ext cx="141660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SQL</a:t>
            </a:r>
            <a:endParaRPr lang="fr-FR" sz="1600" b="0" u="none" strike="noStrike">
              <a:solidFill>
                <a:srgbClr val="000000"/>
              </a:solidFill>
              <a:effectLst/>
              <a:uFillTx/>
              <a:latin typeface="Arial"/>
            </a:endParaRPr>
          </a:p>
        </p:txBody>
      </p:sp>
      <p:sp>
        <p:nvSpPr>
          <p:cNvPr id="276" name="Text 17"/>
          <p:cNvSpPr/>
          <p:nvPr/>
        </p:nvSpPr>
        <p:spPr>
          <a:xfrm>
            <a:off x="5465880" y="2788920"/>
            <a:ext cx="13708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20" b="0" u="none" strike="noStrike">
                <a:solidFill>
                  <a:srgbClr val="475569"/>
                </a:solidFill>
                <a:effectLst/>
                <a:uFillTx/>
                <a:latin typeface="Aptos"/>
              </a:rPr>
              <a:t>INSERT INTO</a:t>
            </a:r>
            <a:endParaRPr lang="fr-FR" sz="1220" b="0" u="none" strike="noStrike">
              <a:solidFill>
                <a:srgbClr val="000000"/>
              </a:solidFill>
              <a:effectLst/>
              <a:uFillTx/>
              <a:latin typeface="Arial"/>
            </a:endParaRPr>
          </a:p>
          <a:p>
            <a:pPr algn="ctr" defTabSz="914400">
              <a:lnSpc>
                <a:spcPct val="100000"/>
              </a:lnSpc>
              <a:tabLst>
                <a:tab pos="0" algn="l"/>
              </a:tabLst>
            </a:pPr>
            <a:r>
              <a:rPr lang="en-US" sz="1220" b="0" u="none" strike="noStrike">
                <a:solidFill>
                  <a:srgbClr val="475569"/>
                </a:solidFill>
                <a:effectLst/>
                <a:uFillTx/>
                <a:latin typeface="Aptos"/>
              </a:rPr>
              <a:t>ligne/station/dessert</a:t>
            </a:r>
            <a:endParaRPr lang="fr-FR" sz="1220" b="0" u="none" strike="noStrike">
              <a:solidFill>
                <a:srgbClr val="000000"/>
              </a:solidFill>
              <a:effectLst/>
              <a:uFillTx/>
              <a:latin typeface="Arial"/>
            </a:endParaRPr>
          </a:p>
        </p:txBody>
      </p:sp>
      <p:sp>
        <p:nvSpPr>
          <p:cNvPr id="277" name="Shape 18"/>
          <p:cNvSpPr/>
          <p:nvPr/>
        </p:nvSpPr>
        <p:spPr>
          <a:xfrm>
            <a:off x="7057440" y="2313360"/>
            <a:ext cx="593640" cy="401760"/>
          </a:xfrm>
          <a:prstGeom prst="chevron">
            <a:avLst>
              <a:gd name="adj" fmla="val 50000"/>
            </a:avLst>
          </a:prstGeom>
          <a:solidFill>
            <a:srgbClr val="CBD5E1"/>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78" name="Shape 19"/>
          <p:cNvSpPr/>
          <p:nvPr/>
        </p:nvSpPr>
        <p:spPr>
          <a:xfrm>
            <a:off x="7730640" y="1828800"/>
            <a:ext cx="1599480" cy="1416600"/>
          </a:xfrm>
          <a:prstGeom prst="roundRect">
            <a:avLst>
              <a:gd name="adj" fmla="val 5161"/>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79" name="Shape 20"/>
          <p:cNvSpPr/>
          <p:nvPr/>
        </p:nvSpPr>
        <p:spPr>
          <a:xfrm>
            <a:off x="8306640" y="1974960"/>
            <a:ext cx="456480" cy="456480"/>
          </a:xfrm>
          <a:prstGeom prst="ellipse">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80" name="Text 21"/>
          <p:cNvSpPr/>
          <p:nvPr/>
        </p:nvSpPr>
        <p:spPr>
          <a:xfrm>
            <a:off x="7786080" y="2532960"/>
            <a:ext cx="154404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600" b="1" u="none" strike="noStrike">
                <a:solidFill>
                  <a:srgbClr val="111827"/>
                </a:solidFill>
                <a:effectLst/>
                <a:uFillTx/>
                <a:latin typeface="Aptos"/>
              </a:rPr>
              <a:t>PostgreSQL</a:t>
            </a:r>
            <a:endParaRPr lang="fr-FR" sz="1600" b="0" u="none" strike="noStrike">
              <a:solidFill>
                <a:srgbClr val="000000"/>
              </a:solidFill>
              <a:effectLst/>
              <a:uFillTx/>
              <a:latin typeface="Arial"/>
            </a:endParaRPr>
          </a:p>
        </p:txBody>
      </p:sp>
      <p:sp>
        <p:nvSpPr>
          <p:cNvPr id="281" name="Text 22"/>
          <p:cNvSpPr/>
          <p:nvPr/>
        </p:nvSpPr>
        <p:spPr>
          <a:xfrm>
            <a:off x="7876440" y="2824920"/>
            <a:ext cx="13708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220" b="0" u="none" strike="noStrike">
                <a:solidFill>
                  <a:srgbClr val="475569"/>
                </a:solidFill>
                <a:effectLst/>
                <a:uFillTx/>
                <a:latin typeface="Aptos"/>
              </a:rPr>
              <a:t>Schéma +</a:t>
            </a:r>
            <a:endParaRPr lang="fr-FR" sz="1220" b="0" u="none" strike="noStrike">
              <a:solidFill>
                <a:srgbClr val="000000"/>
              </a:solidFill>
              <a:effectLst/>
              <a:uFillTx/>
              <a:latin typeface="Arial"/>
            </a:endParaRPr>
          </a:p>
          <a:p>
            <a:pPr algn="ctr" defTabSz="914400">
              <a:lnSpc>
                <a:spcPct val="100000"/>
              </a:lnSpc>
              <a:tabLst>
                <a:tab pos="0" algn="l"/>
              </a:tabLst>
            </a:pPr>
            <a:r>
              <a:rPr lang="en-US" sz="1220" b="0" u="none" strike="noStrike">
                <a:solidFill>
                  <a:srgbClr val="475569"/>
                </a:solidFill>
                <a:effectLst/>
                <a:uFillTx/>
                <a:latin typeface="Aptos"/>
              </a:rPr>
              <a:t>chargement</a:t>
            </a:r>
            <a:endParaRPr lang="fr-FR" sz="1220" b="0" u="none" strike="noStrike">
              <a:solidFill>
                <a:srgbClr val="000000"/>
              </a:solidFill>
              <a:effectLst/>
              <a:uFillTx/>
              <a:latin typeface="Arial"/>
            </a:endParaRPr>
          </a:p>
        </p:txBody>
      </p:sp>
      <p:sp>
        <p:nvSpPr>
          <p:cNvPr id="282" name="Shape 23"/>
          <p:cNvSpPr/>
          <p:nvPr/>
        </p:nvSpPr>
        <p:spPr>
          <a:xfrm>
            <a:off x="1051560" y="4114800"/>
            <a:ext cx="3016800" cy="1416600"/>
          </a:xfrm>
          <a:prstGeom prst="roundRect">
            <a:avLst>
              <a:gd name="adj" fmla="val 5161"/>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83" name="Text 24"/>
          <p:cNvSpPr/>
          <p:nvPr/>
        </p:nvSpPr>
        <p:spPr>
          <a:xfrm>
            <a:off x="1234440" y="4316040"/>
            <a:ext cx="91368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800" b="1" u="none" strike="noStrike">
                <a:solidFill>
                  <a:srgbClr val="FFBE00"/>
                </a:solidFill>
                <a:effectLst/>
                <a:uFillTx/>
                <a:latin typeface="Aptos"/>
              </a:rPr>
              <a:t>16</a:t>
            </a:r>
            <a:endParaRPr lang="fr-FR" sz="2800" b="0" u="none" strike="noStrike">
              <a:solidFill>
                <a:srgbClr val="000000"/>
              </a:solidFill>
              <a:effectLst/>
              <a:uFillTx/>
              <a:latin typeface="Arial"/>
            </a:endParaRPr>
          </a:p>
        </p:txBody>
      </p:sp>
      <p:sp>
        <p:nvSpPr>
          <p:cNvPr id="284" name="Text 25"/>
          <p:cNvSpPr/>
          <p:nvPr/>
        </p:nvSpPr>
        <p:spPr>
          <a:xfrm>
            <a:off x="1984320" y="4434840"/>
            <a:ext cx="107532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1" u="none" strike="noStrike">
                <a:solidFill>
                  <a:srgbClr val="111827"/>
                </a:solidFill>
                <a:effectLst/>
                <a:uFillTx/>
                <a:latin typeface="Aptos"/>
              </a:rPr>
              <a:t>lignes</a:t>
            </a:r>
            <a:endParaRPr lang="fr-FR" sz="1500" b="0" u="none" strike="noStrike">
              <a:solidFill>
                <a:srgbClr val="000000"/>
              </a:solidFill>
              <a:effectLst/>
              <a:uFillTx/>
              <a:latin typeface="Arial"/>
            </a:endParaRPr>
          </a:p>
        </p:txBody>
      </p:sp>
      <p:sp>
        <p:nvSpPr>
          <p:cNvPr id="285" name="Text 26"/>
          <p:cNvSpPr/>
          <p:nvPr/>
        </p:nvSpPr>
        <p:spPr>
          <a:xfrm>
            <a:off x="1234440" y="4800600"/>
            <a:ext cx="2513880" cy="31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80" b="0" u="none" strike="noStrike">
                <a:solidFill>
                  <a:srgbClr val="475569"/>
                </a:solidFill>
                <a:effectLst/>
                <a:uFillTx/>
                <a:latin typeface="Aptos"/>
              </a:rPr>
              <a:t>Jeu d'insertion : lignes de métro</a:t>
            </a:r>
            <a:endParaRPr lang="fr-FR" sz="1280" b="0" u="none" strike="noStrike">
              <a:solidFill>
                <a:srgbClr val="000000"/>
              </a:solidFill>
              <a:effectLst/>
              <a:uFillTx/>
              <a:latin typeface="Arial"/>
            </a:endParaRPr>
          </a:p>
        </p:txBody>
      </p:sp>
      <p:sp>
        <p:nvSpPr>
          <p:cNvPr id="286" name="Shape 27"/>
          <p:cNvSpPr/>
          <p:nvPr/>
        </p:nvSpPr>
        <p:spPr>
          <a:xfrm>
            <a:off x="4663440" y="4114800"/>
            <a:ext cx="3016800" cy="1416600"/>
          </a:xfrm>
          <a:prstGeom prst="roundRect">
            <a:avLst>
              <a:gd name="adj" fmla="val 5161"/>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87" name="Text 28"/>
          <p:cNvSpPr/>
          <p:nvPr/>
        </p:nvSpPr>
        <p:spPr>
          <a:xfrm>
            <a:off x="4846320" y="4316040"/>
            <a:ext cx="127332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800" b="1" u="none" strike="noStrike">
                <a:solidFill>
                  <a:srgbClr val="003CA6"/>
                </a:solidFill>
                <a:effectLst/>
                <a:uFillTx/>
                <a:latin typeface="Aptos"/>
              </a:rPr>
              <a:t>321</a:t>
            </a:r>
            <a:endParaRPr lang="fr-FR" sz="2800" b="0" u="none" strike="noStrike">
              <a:solidFill>
                <a:srgbClr val="000000"/>
              </a:solidFill>
              <a:effectLst/>
              <a:uFillTx/>
              <a:latin typeface="Arial"/>
            </a:endParaRPr>
          </a:p>
        </p:txBody>
      </p:sp>
      <p:sp>
        <p:nvSpPr>
          <p:cNvPr id="288" name="Text 29"/>
          <p:cNvSpPr/>
          <p:nvPr/>
        </p:nvSpPr>
        <p:spPr>
          <a:xfrm>
            <a:off x="5704200" y="4434840"/>
            <a:ext cx="124344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1" u="none" strike="noStrike">
                <a:solidFill>
                  <a:srgbClr val="111827"/>
                </a:solidFill>
                <a:effectLst/>
                <a:uFillTx/>
                <a:latin typeface="Aptos"/>
              </a:rPr>
              <a:t>stations</a:t>
            </a:r>
            <a:endParaRPr lang="fr-FR" sz="1500" b="0" u="none" strike="noStrike">
              <a:solidFill>
                <a:srgbClr val="000000"/>
              </a:solidFill>
              <a:effectLst/>
              <a:uFillTx/>
              <a:latin typeface="Arial"/>
            </a:endParaRPr>
          </a:p>
        </p:txBody>
      </p:sp>
      <p:sp>
        <p:nvSpPr>
          <p:cNvPr id="289" name="Text 30"/>
          <p:cNvSpPr/>
          <p:nvPr/>
        </p:nvSpPr>
        <p:spPr>
          <a:xfrm>
            <a:off x="4846320" y="4800600"/>
            <a:ext cx="2513880" cy="31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80" b="0" u="none" strike="noStrike">
                <a:solidFill>
                  <a:srgbClr val="475569"/>
                </a:solidFill>
                <a:effectLst/>
                <a:uFillTx/>
                <a:latin typeface="Aptos"/>
              </a:rPr>
              <a:t>Stations insérées dans le script</a:t>
            </a:r>
            <a:endParaRPr lang="fr-FR" sz="1280" b="0" u="none" strike="noStrike">
              <a:solidFill>
                <a:srgbClr val="000000"/>
              </a:solidFill>
              <a:effectLst/>
              <a:uFillTx/>
              <a:latin typeface="Arial"/>
            </a:endParaRPr>
          </a:p>
        </p:txBody>
      </p:sp>
      <p:sp>
        <p:nvSpPr>
          <p:cNvPr id="290" name="Shape 31"/>
          <p:cNvSpPr/>
          <p:nvPr/>
        </p:nvSpPr>
        <p:spPr>
          <a:xfrm>
            <a:off x="8275320" y="4114800"/>
            <a:ext cx="3016800" cy="1416600"/>
          </a:xfrm>
          <a:prstGeom prst="roundRect">
            <a:avLst>
              <a:gd name="adj" fmla="val 5161"/>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291" name="Text 32"/>
          <p:cNvSpPr/>
          <p:nvPr/>
        </p:nvSpPr>
        <p:spPr>
          <a:xfrm>
            <a:off x="8458200" y="4316040"/>
            <a:ext cx="144144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800" b="1" u="none" strike="noStrike">
                <a:solidFill>
                  <a:srgbClr val="10B981"/>
                </a:solidFill>
                <a:effectLst/>
                <a:uFillTx/>
                <a:latin typeface="Aptos"/>
              </a:rPr>
              <a:t>405</a:t>
            </a:r>
            <a:endParaRPr lang="fr-FR" sz="2800" b="0" u="none" strike="noStrike">
              <a:solidFill>
                <a:srgbClr val="000000"/>
              </a:solidFill>
              <a:effectLst/>
              <a:uFillTx/>
              <a:latin typeface="Arial"/>
            </a:endParaRPr>
          </a:p>
        </p:txBody>
      </p:sp>
      <p:sp>
        <p:nvSpPr>
          <p:cNvPr id="292" name="Text 33"/>
          <p:cNvSpPr/>
          <p:nvPr/>
        </p:nvSpPr>
        <p:spPr>
          <a:xfrm>
            <a:off x="9244080" y="4434840"/>
            <a:ext cx="123156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1" u="none" strike="noStrike">
                <a:solidFill>
                  <a:srgbClr val="111827"/>
                </a:solidFill>
                <a:effectLst/>
                <a:uFillTx/>
                <a:latin typeface="Aptos"/>
              </a:rPr>
              <a:t>dessertes</a:t>
            </a:r>
            <a:endParaRPr lang="fr-FR" sz="1500" b="0" u="none" strike="noStrike">
              <a:solidFill>
                <a:srgbClr val="000000"/>
              </a:solidFill>
              <a:effectLst/>
              <a:uFillTx/>
              <a:latin typeface="Arial"/>
            </a:endParaRPr>
          </a:p>
        </p:txBody>
      </p:sp>
      <p:sp>
        <p:nvSpPr>
          <p:cNvPr id="293" name="Text 34"/>
          <p:cNvSpPr/>
          <p:nvPr/>
        </p:nvSpPr>
        <p:spPr>
          <a:xfrm>
            <a:off x="8458200" y="4800600"/>
            <a:ext cx="2513880" cy="31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280" b="0" u="none" strike="noStrike">
                <a:solidFill>
                  <a:srgbClr val="475569"/>
                </a:solidFill>
                <a:effectLst/>
                <a:uFillTx/>
                <a:latin typeface="Aptos"/>
              </a:rPr>
              <a:t>Liens ligne / station exploités</a:t>
            </a:r>
            <a:endParaRPr lang="fr-FR" sz="1280" b="0" u="none" strike="noStrike">
              <a:solidFill>
                <a:srgbClr val="000000"/>
              </a:solidFill>
              <a:effectLst/>
              <a:uFillTx/>
              <a:latin typeface="Arial"/>
            </a:endParaRPr>
          </a:p>
        </p:txBody>
      </p:sp>
      <p:sp>
        <p:nvSpPr>
          <p:cNvPr id="294" name="Text 38"/>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295" name="Text 39"/>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296"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297"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Organisation du travail avec GitHub</a:t>
            </a:r>
            <a:endParaRPr lang="fr-FR" sz="2600" b="0" u="none" strike="noStrike">
              <a:solidFill>
                <a:srgbClr val="000000"/>
              </a:solidFill>
              <a:effectLst/>
              <a:uFillTx/>
              <a:latin typeface="Arial"/>
            </a:endParaRPr>
          </a:p>
        </p:txBody>
      </p:sp>
      <p:sp>
        <p:nvSpPr>
          <p:cNvPr id="298"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4748B"/>
                </a:solidFill>
                <a:effectLst/>
                <a:uFillTx/>
                <a:latin typeface="Aptos"/>
                <a:ea typeface="Aptos"/>
              </a:rPr>
              <a:t>Le dépôt sert de point central pour les scripts, le schéma, les données et le script vidéo.</a:t>
            </a:r>
            <a:endParaRPr lang="fr-FR" sz="1050" b="0" u="none" strike="noStrike">
              <a:solidFill>
                <a:srgbClr val="000000"/>
              </a:solidFill>
              <a:effectLst/>
              <a:uFillTx/>
              <a:latin typeface="Arial"/>
            </a:endParaRPr>
          </a:p>
        </p:txBody>
      </p:sp>
      <p:sp>
        <p:nvSpPr>
          <p:cNvPr id="299"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300" name="Shape 4"/>
          <p:cNvSpPr/>
          <p:nvPr/>
        </p:nvSpPr>
        <p:spPr>
          <a:xfrm>
            <a:off x="685800" y="1417320"/>
            <a:ext cx="6582960" cy="4525560"/>
          </a:xfrm>
          <a:prstGeom prst="roundRect">
            <a:avLst>
              <a:gd name="adj" fmla="val 1616"/>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01" name="Shape 5"/>
          <p:cNvSpPr/>
          <p:nvPr/>
        </p:nvSpPr>
        <p:spPr>
          <a:xfrm>
            <a:off x="914400" y="1719000"/>
            <a:ext cx="6125760" cy="3912840"/>
          </a:xfrm>
          <a:prstGeom prst="roundRect">
            <a:avLst>
              <a:gd name="adj" fmla="val 701"/>
            </a:avLst>
          </a:prstGeom>
          <a:solidFill>
            <a:srgbClr val="F8FAFC"/>
          </a:solidFill>
          <a:ln w="12700">
            <a:solidFill>
              <a:srgbClr val="CBD5E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02" name="Shape 6"/>
          <p:cNvSpPr/>
          <p:nvPr/>
        </p:nvSpPr>
        <p:spPr>
          <a:xfrm>
            <a:off x="914400" y="1719000"/>
            <a:ext cx="6125760" cy="383400"/>
          </a:xfrm>
          <a:prstGeom prst="rect">
            <a:avLst/>
          </a:prstGeom>
          <a:solidFill>
            <a:srgbClr val="E2E8F0"/>
          </a:solidFill>
          <a:ln w="12700">
            <a:solidFill>
              <a:srgbClr val="E2E8F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03" name="Shape 7"/>
          <p:cNvSpPr/>
          <p:nvPr/>
        </p:nvSpPr>
        <p:spPr>
          <a:xfrm>
            <a:off x="1078920" y="1856160"/>
            <a:ext cx="72360" cy="72360"/>
          </a:xfrm>
          <a:prstGeom prst="ellipse">
            <a:avLst/>
          </a:prstGeom>
          <a:solidFill>
            <a:srgbClr val="EF4444"/>
          </a:solidFill>
          <a:ln w="12700">
            <a:solidFill>
              <a:srgbClr val="EF4444"/>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FFFFFF"/>
              </a:solidFill>
              <a:effectLst/>
              <a:uFillTx/>
              <a:latin typeface="Arial"/>
            </a:endParaRPr>
          </a:p>
        </p:txBody>
      </p:sp>
      <p:sp>
        <p:nvSpPr>
          <p:cNvPr id="304" name="Shape 8"/>
          <p:cNvSpPr/>
          <p:nvPr/>
        </p:nvSpPr>
        <p:spPr>
          <a:xfrm>
            <a:off x="1243440" y="1856160"/>
            <a:ext cx="72360" cy="72360"/>
          </a:xfrm>
          <a:prstGeom prst="ellipse">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000000"/>
              </a:solidFill>
              <a:effectLst/>
              <a:uFillTx/>
              <a:latin typeface="Arial"/>
            </a:endParaRPr>
          </a:p>
        </p:txBody>
      </p:sp>
      <p:sp>
        <p:nvSpPr>
          <p:cNvPr id="305" name="Shape 9"/>
          <p:cNvSpPr/>
          <p:nvPr/>
        </p:nvSpPr>
        <p:spPr>
          <a:xfrm>
            <a:off x="1408320" y="1856160"/>
            <a:ext cx="72360" cy="7236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6840" rIns="90000" bIns="6840" anchor="t">
            <a:noAutofit/>
          </a:bodyPr>
          <a:lstStyle/>
          <a:p>
            <a:pPr>
              <a:lnSpc>
                <a:spcPct val="100000"/>
              </a:lnSpc>
            </a:pPr>
            <a:endParaRPr lang="fr-FR" sz="1800" b="0" u="none" strike="noStrike">
              <a:solidFill>
                <a:srgbClr val="000000"/>
              </a:solidFill>
              <a:effectLst/>
              <a:uFillTx/>
              <a:latin typeface="Arial"/>
            </a:endParaRPr>
          </a:p>
        </p:txBody>
      </p:sp>
      <p:sp>
        <p:nvSpPr>
          <p:cNvPr id="306" name="Text 10"/>
          <p:cNvSpPr/>
          <p:nvPr/>
        </p:nvSpPr>
        <p:spPr>
          <a:xfrm>
            <a:off x="1572840" y="1810440"/>
            <a:ext cx="49827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950" b="0" u="none" strike="noStrike">
                <a:solidFill>
                  <a:srgbClr val="475569"/>
                </a:solidFill>
                <a:effectLst/>
                <a:uFillTx/>
                <a:latin typeface="Aptos"/>
              </a:rPr>
              <a:t>github.com/Ktur93/BUT1-SAE-Base-de-Donnees-Metro-Parisien</a:t>
            </a:r>
            <a:endParaRPr lang="fr-FR" sz="950" b="0" u="none" strike="noStrike">
              <a:solidFill>
                <a:srgbClr val="000000"/>
              </a:solidFill>
              <a:effectLst/>
              <a:uFillTx/>
              <a:latin typeface="Arial"/>
            </a:endParaRPr>
          </a:p>
        </p:txBody>
      </p:sp>
      <p:sp>
        <p:nvSpPr>
          <p:cNvPr id="307" name="Text 11"/>
          <p:cNvSpPr/>
          <p:nvPr/>
        </p:nvSpPr>
        <p:spPr>
          <a:xfrm>
            <a:off x="1188720" y="2295720"/>
            <a:ext cx="51199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900" b="1" u="none" strike="noStrike">
                <a:solidFill>
                  <a:srgbClr val="111827"/>
                </a:solidFill>
                <a:effectLst/>
                <a:uFillTx/>
                <a:latin typeface="Aptos"/>
              </a:rPr>
              <a:t>Ktur93 / BUT1-SAE-Base-de-Donnees-Metro-Parisien</a:t>
            </a:r>
            <a:endParaRPr lang="fr-FR" sz="1900" b="0" u="none" strike="noStrike">
              <a:solidFill>
                <a:srgbClr val="000000"/>
              </a:solidFill>
              <a:effectLst/>
              <a:uFillTx/>
              <a:latin typeface="Arial"/>
            </a:endParaRPr>
          </a:p>
        </p:txBody>
      </p:sp>
      <p:sp>
        <p:nvSpPr>
          <p:cNvPr id="308" name="Text 12"/>
          <p:cNvSpPr/>
          <p:nvPr/>
        </p:nvSpPr>
        <p:spPr>
          <a:xfrm>
            <a:off x="1207080" y="2759760"/>
            <a:ext cx="2392560" cy="1638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50" b="0" u="none" strike="noStrike">
                <a:solidFill>
                  <a:srgbClr val="64748B"/>
                </a:solidFill>
                <a:effectLst/>
                <a:uFillTx/>
                <a:latin typeface="Aptos"/>
              </a:rPr>
              <a:t>Public - main - 11 commits</a:t>
            </a:r>
            <a:endParaRPr lang="fr-FR" sz="1150" b="0" u="none" strike="noStrike">
              <a:solidFill>
                <a:srgbClr val="000000"/>
              </a:solidFill>
              <a:effectLst/>
              <a:uFillTx/>
              <a:latin typeface="Arial"/>
            </a:endParaRPr>
          </a:p>
        </p:txBody>
      </p:sp>
      <p:sp>
        <p:nvSpPr>
          <p:cNvPr id="309" name="Shape 13"/>
          <p:cNvSpPr/>
          <p:nvPr/>
        </p:nvSpPr>
        <p:spPr>
          <a:xfrm>
            <a:off x="1170360" y="3035880"/>
            <a:ext cx="5558760" cy="255240"/>
          </a:xfrm>
          <a:prstGeom prst="rect">
            <a:avLst/>
          </a:prstGeom>
          <a:solidFill>
            <a:srgbClr val="FFFFFF"/>
          </a:solidFill>
          <a:ln w="12700">
            <a:solidFill>
              <a:srgbClr val="F1F5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10" name="Text 14"/>
          <p:cNvSpPr/>
          <p:nvPr/>
        </p:nvSpPr>
        <p:spPr>
          <a:xfrm>
            <a:off x="1325880" y="3090600"/>
            <a:ext cx="24681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70" b="0" u="none" strike="noStrike">
                <a:solidFill>
                  <a:srgbClr val="374151"/>
                </a:solidFill>
                <a:effectLst/>
                <a:uFillTx/>
                <a:latin typeface="Aptos"/>
              </a:rPr>
              <a:t>README.md</a:t>
            </a:r>
            <a:endParaRPr lang="fr-FR" sz="1170" b="0" u="none" strike="noStrike">
              <a:solidFill>
                <a:srgbClr val="000000"/>
              </a:solidFill>
              <a:effectLst/>
              <a:uFillTx/>
              <a:latin typeface="Arial"/>
            </a:endParaRPr>
          </a:p>
        </p:txBody>
      </p:sp>
      <p:sp>
        <p:nvSpPr>
          <p:cNvPr id="311" name="Text 15"/>
          <p:cNvSpPr/>
          <p:nvPr/>
        </p:nvSpPr>
        <p:spPr>
          <a:xfrm>
            <a:off x="5220000" y="3090600"/>
            <a:ext cx="131724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50" b="0" u="none" strike="noStrike">
                <a:solidFill>
                  <a:srgbClr val="64748B"/>
                </a:solidFill>
                <a:effectLst/>
                <a:uFillTx/>
                <a:latin typeface="Aptos"/>
              </a:rPr>
              <a:t>SQL / données</a:t>
            </a:r>
            <a:endParaRPr lang="fr-FR" sz="1050" b="0" u="none" strike="noStrike">
              <a:solidFill>
                <a:srgbClr val="000000"/>
              </a:solidFill>
              <a:effectLst/>
              <a:uFillTx/>
              <a:latin typeface="Arial"/>
            </a:endParaRPr>
          </a:p>
        </p:txBody>
      </p:sp>
      <p:sp>
        <p:nvSpPr>
          <p:cNvPr id="312" name="Shape 16"/>
          <p:cNvSpPr/>
          <p:nvPr/>
        </p:nvSpPr>
        <p:spPr>
          <a:xfrm>
            <a:off x="1170360" y="3401640"/>
            <a:ext cx="5558760" cy="255240"/>
          </a:xfrm>
          <a:prstGeom prst="rect">
            <a:avLst/>
          </a:prstGeom>
          <a:solidFill>
            <a:srgbClr val="F8FAFC"/>
          </a:solidFill>
          <a:ln w="12700">
            <a:solidFill>
              <a:srgbClr val="F1F5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13" name="Text 17"/>
          <p:cNvSpPr/>
          <p:nvPr/>
        </p:nvSpPr>
        <p:spPr>
          <a:xfrm>
            <a:off x="1325880" y="3456360"/>
            <a:ext cx="24681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70" b="0" u="none" strike="noStrike">
                <a:solidFill>
                  <a:srgbClr val="374151"/>
                </a:solidFill>
                <a:effectLst/>
                <a:uFillTx/>
                <a:latin typeface="Aptos"/>
              </a:rPr>
              <a:t>metro_parisien.sql</a:t>
            </a:r>
            <a:endParaRPr lang="fr-FR" sz="1170" b="0" u="none" strike="noStrike">
              <a:solidFill>
                <a:srgbClr val="000000"/>
              </a:solidFill>
              <a:effectLst/>
              <a:uFillTx/>
              <a:latin typeface="Arial"/>
            </a:endParaRPr>
          </a:p>
        </p:txBody>
      </p:sp>
      <p:sp>
        <p:nvSpPr>
          <p:cNvPr id="314" name="Text 18"/>
          <p:cNvSpPr/>
          <p:nvPr/>
        </p:nvSpPr>
        <p:spPr>
          <a:xfrm>
            <a:off x="5220000" y="3456360"/>
            <a:ext cx="131724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50" b="0" u="none" strike="noStrike">
                <a:solidFill>
                  <a:srgbClr val="64748B"/>
                </a:solidFill>
                <a:effectLst/>
                <a:uFillTx/>
                <a:latin typeface="Aptos"/>
              </a:rPr>
              <a:t>SQL / données</a:t>
            </a:r>
            <a:endParaRPr lang="fr-FR" sz="1050" b="0" u="none" strike="noStrike">
              <a:solidFill>
                <a:srgbClr val="000000"/>
              </a:solidFill>
              <a:effectLst/>
              <a:uFillTx/>
              <a:latin typeface="Arial"/>
            </a:endParaRPr>
          </a:p>
        </p:txBody>
      </p:sp>
      <p:sp>
        <p:nvSpPr>
          <p:cNvPr id="315" name="Shape 19"/>
          <p:cNvSpPr/>
          <p:nvPr/>
        </p:nvSpPr>
        <p:spPr>
          <a:xfrm>
            <a:off x="1170360" y="3767400"/>
            <a:ext cx="5558760" cy="255240"/>
          </a:xfrm>
          <a:prstGeom prst="rect">
            <a:avLst/>
          </a:prstGeom>
          <a:solidFill>
            <a:srgbClr val="FFFFFF"/>
          </a:solidFill>
          <a:ln w="12700">
            <a:solidFill>
              <a:srgbClr val="F1F5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16" name="Text 20"/>
          <p:cNvSpPr/>
          <p:nvPr/>
        </p:nvSpPr>
        <p:spPr>
          <a:xfrm>
            <a:off x="1325880" y="3822120"/>
            <a:ext cx="24681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70" b="0" u="none" strike="noStrike">
                <a:solidFill>
                  <a:srgbClr val="374151"/>
                </a:solidFill>
                <a:effectLst/>
                <a:uFillTx/>
                <a:latin typeface="Aptos"/>
              </a:rPr>
              <a:t>inserts_metro_idf_final.sql</a:t>
            </a:r>
            <a:endParaRPr lang="fr-FR" sz="1170" b="0" u="none" strike="noStrike">
              <a:solidFill>
                <a:srgbClr val="000000"/>
              </a:solidFill>
              <a:effectLst/>
              <a:uFillTx/>
              <a:latin typeface="Arial"/>
            </a:endParaRPr>
          </a:p>
        </p:txBody>
      </p:sp>
      <p:sp>
        <p:nvSpPr>
          <p:cNvPr id="317" name="Text 21"/>
          <p:cNvSpPr/>
          <p:nvPr/>
        </p:nvSpPr>
        <p:spPr>
          <a:xfrm>
            <a:off x="5220000" y="3822120"/>
            <a:ext cx="131724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50" b="0" u="none" strike="noStrike">
                <a:solidFill>
                  <a:srgbClr val="64748B"/>
                </a:solidFill>
                <a:effectLst/>
                <a:uFillTx/>
                <a:latin typeface="Aptos"/>
              </a:rPr>
              <a:t>SQL / données</a:t>
            </a:r>
            <a:endParaRPr lang="fr-FR" sz="1050" b="0" u="none" strike="noStrike">
              <a:solidFill>
                <a:srgbClr val="000000"/>
              </a:solidFill>
              <a:effectLst/>
              <a:uFillTx/>
              <a:latin typeface="Arial"/>
            </a:endParaRPr>
          </a:p>
        </p:txBody>
      </p:sp>
      <p:sp>
        <p:nvSpPr>
          <p:cNvPr id="318" name="Shape 22"/>
          <p:cNvSpPr/>
          <p:nvPr/>
        </p:nvSpPr>
        <p:spPr>
          <a:xfrm>
            <a:off x="1170360" y="4133160"/>
            <a:ext cx="5558760" cy="255240"/>
          </a:xfrm>
          <a:prstGeom prst="rect">
            <a:avLst/>
          </a:prstGeom>
          <a:solidFill>
            <a:srgbClr val="F8FAFC"/>
          </a:solidFill>
          <a:ln w="12700">
            <a:solidFill>
              <a:srgbClr val="F1F5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19" name="Text 23"/>
          <p:cNvSpPr/>
          <p:nvPr/>
        </p:nvSpPr>
        <p:spPr>
          <a:xfrm>
            <a:off x="1325880" y="4187880"/>
            <a:ext cx="24681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70" b="0" u="none" strike="noStrike">
                <a:solidFill>
                  <a:srgbClr val="374151"/>
                </a:solidFill>
                <a:effectLst/>
                <a:uFillTx/>
                <a:latin typeface="Aptos"/>
              </a:rPr>
              <a:t>schemaMetro.png</a:t>
            </a:r>
            <a:endParaRPr lang="fr-FR" sz="1170" b="0" u="none" strike="noStrike">
              <a:solidFill>
                <a:srgbClr val="000000"/>
              </a:solidFill>
              <a:effectLst/>
              <a:uFillTx/>
              <a:latin typeface="Arial"/>
            </a:endParaRPr>
          </a:p>
        </p:txBody>
      </p:sp>
      <p:sp>
        <p:nvSpPr>
          <p:cNvPr id="320" name="Text 24"/>
          <p:cNvSpPr/>
          <p:nvPr/>
        </p:nvSpPr>
        <p:spPr>
          <a:xfrm>
            <a:off x="5669280" y="4187880"/>
            <a:ext cx="8679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50" b="0" u="none" strike="noStrike">
                <a:solidFill>
                  <a:srgbClr val="64748B"/>
                </a:solidFill>
                <a:effectLst/>
                <a:uFillTx/>
                <a:latin typeface="Aptos"/>
              </a:rPr>
              <a:t>visuel</a:t>
            </a:r>
            <a:endParaRPr lang="fr-FR" sz="1050" b="0" u="none" strike="noStrike">
              <a:solidFill>
                <a:srgbClr val="000000"/>
              </a:solidFill>
              <a:effectLst/>
              <a:uFillTx/>
              <a:latin typeface="Arial"/>
            </a:endParaRPr>
          </a:p>
        </p:txBody>
      </p:sp>
      <p:sp>
        <p:nvSpPr>
          <p:cNvPr id="321" name="Shape 25"/>
          <p:cNvSpPr/>
          <p:nvPr/>
        </p:nvSpPr>
        <p:spPr>
          <a:xfrm>
            <a:off x="1170360" y="4498920"/>
            <a:ext cx="5558760" cy="255240"/>
          </a:xfrm>
          <a:prstGeom prst="rect">
            <a:avLst/>
          </a:prstGeom>
          <a:solidFill>
            <a:srgbClr val="FFFFFF"/>
          </a:solidFill>
          <a:ln w="12700">
            <a:solidFill>
              <a:srgbClr val="F1F5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22" name="Text 26"/>
          <p:cNvSpPr/>
          <p:nvPr/>
        </p:nvSpPr>
        <p:spPr>
          <a:xfrm>
            <a:off x="1325880" y="4553640"/>
            <a:ext cx="24681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70" b="0" u="none" strike="noStrike">
                <a:solidFill>
                  <a:srgbClr val="374151"/>
                </a:solidFill>
                <a:effectLst/>
                <a:uFillTx/>
                <a:latin typeface="Aptos"/>
              </a:rPr>
              <a:t>script.py</a:t>
            </a:r>
            <a:endParaRPr lang="fr-FR" sz="1170" b="0" u="none" strike="noStrike">
              <a:solidFill>
                <a:srgbClr val="000000"/>
              </a:solidFill>
              <a:effectLst/>
              <a:uFillTx/>
              <a:latin typeface="Arial"/>
            </a:endParaRPr>
          </a:p>
        </p:txBody>
      </p:sp>
      <p:sp>
        <p:nvSpPr>
          <p:cNvPr id="323" name="Text 27"/>
          <p:cNvSpPr/>
          <p:nvPr/>
        </p:nvSpPr>
        <p:spPr>
          <a:xfrm>
            <a:off x="5220000" y="4553640"/>
            <a:ext cx="131724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50" b="0" u="none" strike="noStrike">
                <a:solidFill>
                  <a:srgbClr val="64748B"/>
                </a:solidFill>
                <a:effectLst/>
                <a:uFillTx/>
                <a:latin typeface="Aptos"/>
              </a:rPr>
              <a:t>automatisation</a:t>
            </a:r>
            <a:endParaRPr lang="fr-FR" sz="1050" b="0" u="none" strike="noStrike">
              <a:solidFill>
                <a:srgbClr val="000000"/>
              </a:solidFill>
              <a:effectLst/>
              <a:uFillTx/>
              <a:latin typeface="Arial"/>
            </a:endParaRPr>
          </a:p>
        </p:txBody>
      </p:sp>
      <p:sp>
        <p:nvSpPr>
          <p:cNvPr id="324" name="Shape 28"/>
          <p:cNvSpPr/>
          <p:nvPr/>
        </p:nvSpPr>
        <p:spPr>
          <a:xfrm>
            <a:off x="1170360" y="4864680"/>
            <a:ext cx="5558760" cy="255240"/>
          </a:xfrm>
          <a:prstGeom prst="rect">
            <a:avLst/>
          </a:prstGeom>
          <a:solidFill>
            <a:srgbClr val="F8FAFC"/>
          </a:solidFill>
          <a:ln w="12700">
            <a:solidFill>
              <a:srgbClr val="F1F5F9"/>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25" name="Text 29"/>
          <p:cNvSpPr/>
          <p:nvPr/>
        </p:nvSpPr>
        <p:spPr>
          <a:xfrm>
            <a:off x="1325880" y="4919400"/>
            <a:ext cx="24681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170" b="0" u="none" strike="noStrike">
                <a:solidFill>
                  <a:srgbClr val="374151"/>
                </a:solidFill>
                <a:effectLst/>
                <a:uFillTx/>
                <a:latin typeface="Aptos"/>
              </a:rPr>
              <a:t>scriptVideo.md</a:t>
            </a:r>
            <a:endParaRPr lang="fr-FR" sz="1170" b="0" u="none" strike="noStrike">
              <a:solidFill>
                <a:srgbClr val="000000"/>
              </a:solidFill>
              <a:effectLst/>
              <a:uFillTx/>
              <a:latin typeface="Arial"/>
            </a:endParaRPr>
          </a:p>
        </p:txBody>
      </p:sp>
      <p:sp>
        <p:nvSpPr>
          <p:cNvPr id="326" name="Text 30"/>
          <p:cNvSpPr/>
          <p:nvPr/>
        </p:nvSpPr>
        <p:spPr>
          <a:xfrm>
            <a:off x="5669280" y="4919400"/>
            <a:ext cx="8679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1050" b="0" u="none" strike="noStrike">
                <a:solidFill>
                  <a:srgbClr val="64748B"/>
                </a:solidFill>
                <a:effectLst/>
                <a:uFillTx/>
                <a:latin typeface="Aptos"/>
              </a:rPr>
              <a:t>oral</a:t>
            </a:r>
            <a:endParaRPr lang="fr-FR" sz="1050" b="0" u="none" strike="noStrike">
              <a:solidFill>
                <a:srgbClr val="000000"/>
              </a:solidFill>
              <a:effectLst/>
              <a:uFillTx/>
              <a:latin typeface="Arial"/>
            </a:endParaRPr>
          </a:p>
        </p:txBody>
      </p:sp>
      <p:sp>
        <p:nvSpPr>
          <p:cNvPr id="327" name="Shape 31"/>
          <p:cNvSpPr/>
          <p:nvPr/>
        </p:nvSpPr>
        <p:spPr>
          <a:xfrm>
            <a:off x="7543800" y="1417320"/>
            <a:ext cx="3976920" cy="4525560"/>
          </a:xfrm>
          <a:prstGeom prst="roundRect">
            <a:avLst>
              <a:gd name="adj" fmla="val 1839"/>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28" name="Text 32"/>
          <p:cNvSpPr/>
          <p:nvPr/>
        </p:nvSpPr>
        <p:spPr>
          <a:xfrm>
            <a:off x="7845480" y="1737360"/>
            <a:ext cx="33141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900" b="1" u="none" strike="noStrike">
                <a:solidFill>
                  <a:srgbClr val="111827"/>
                </a:solidFill>
                <a:effectLst/>
                <a:uFillTx/>
                <a:latin typeface="Aptos"/>
              </a:rPr>
              <a:t>Ce que GitHub apporte</a:t>
            </a:r>
            <a:endParaRPr lang="fr-FR" sz="1900" b="0" u="none" strike="noStrike">
              <a:solidFill>
                <a:srgbClr val="000000"/>
              </a:solidFill>
              <a:effectLst/>
              <a:uFillTx/>
              <a:latin typeface="Arial"/>
            </a:endParaRPr>
          </a:p>
        </p:txBody>
      </p:sp>
      <p:sp>
        <p:nvSpPr>
          <p:cNvPr id="329" name="Shape 33"/>
          <p:cNvSpPr/>
          <p:nvPr/>
        </p:nvSpPr>
        <p:spPr>
          <a:xfrm>
            <a:off x="7845480" y="232128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30" name="Text 34"/>
          <p:cNvSpPr/>
          <p:nvPr/>
        </p:nvSpPr>
        <p:spPr>
          <a:xfrm>
            <a:off x="8010000" y="2248200"/>
            <a:ext cx="31539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60" b="0" u="none" strike="noStrike">
                <a:solidFill>
                  <a:srgbClr val="374151"/>
                </a:solidFill>
                <a:effectLst/>
                <a:uFillTx/>
                <a:latin typeface="Aptos"/>
              </a:rPr>
              <a:t>Centralisation des fichiers</a:t>
            </a:r>
            <a:endParaRPr lang="fr-FR" sz="1460" b="0" u="none" strike="noStrike">
              <a:solidFill>
                <a:srgbClr val="000000"/>
              </a:solidFill>
              <a:effectLst/>
              <a:uFillTx/>
              <a:latin typeface="Arial"/>
            </a:endParaRPr>
          </a:p>
        </p:txBody>
      </p:sp>
      <p:sp>
        <p:nvSpPr>
          <p:cNvPr id="331" name="Shape 35"/>
          <p:cNvSpPr/>
          <p:nvPr/>
        </p:nvSpPr>
        <p:spPr>
          <a:xfrm>
            <a:off x="7845480" y="263340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32" name="Text 36"/>
          <p:cNvSpPr/>
          <p:nvPr/>
        </p:nvSpPr>
        <p:spPr>
          <a:xfrm>
            <a:off x="8010000" y="2560320"/>
            <a:ext cx="31539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60" b="0" u="none" strike="noStrike">
                <a:solidFill>
                  <a:srgbClr val="374151"/>
                </a:solidFill>
                <a:effectLst/>
                <a:uFillTx/>
                <a:latin typeface="Aptos"/>
              </a:rPr>
              <a:t>Historique des modifications</a:t>
            </a:r>
            <a:endParaRPr lang="fr-FR" sz="1460" b="0" u="none" strike="noStrike">
              <a:solidFill>
                <a:srgbClr val="000000"/>
              </a:solidFill>
              <a:effectLst/>
              <a:uFillTx/>
              <a:latin typeface="Arial"/>
            </a:endParaRPr>
          </a:p>
        </p:txBody>
      </p:sp>
      <p:sp>
        <p:nvSpPr>
          <p:cNvPr id="333" name="Shape 37"/>
          <p:cNvSpPr/>
          <p:nvPr/>
        </p:nvSpPr>
        <p:spPr>
          <a:xfrm>
            <a:off x="7845480" y="301752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34" name="Text 38"/>
          <p:cNvSpPr/>
          <p:nvPr/>
        </p:nvSpPr>
        <p:spPr>
          <a:xfrm>
            <a:off x="8010000" y="2944440"/>
            <a:ext cx="31539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60" b="0" u="none" strike="noStrike">
                <a:solidFill>
                  <a:srgbClr val="374151"/>
                </a:solidFill>
                <a:effectLst/>
                <a:uFillTx/>
                <a:latin typeface="Aptos"/>
              </a:rPr>
              <a:t>Travail simultané sans échanges par mail</a:t>
            </a:r>
            <a:endParaRPr lang="fr-FR" sz="1460" b="0" u="none" strike="noStrike">
              <a:solidFill>
                <a:srgbClr val="000000"/>
              </a:solidFill>
              <a:effectLst/>
              <a:uFillTx/>
              <a:latin typeface="Arial"/>
            </a:endParaRPr>
          </a:p>
        </p:txBody>
      </p:sp>
      <p:sp>
        <p:nvSpPr>
          <p:cNvPr id="335" name="Shape 39"/>
          <p:cNvSpPr/>
          <p:nvPr/>
        </p:nvSpPr>
        <p:spPr>
          <a:xfrm>
            <a:off x="7845480" y="340164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36" name="Text 40"/>
          <p:cNvSpPr/>
          <p:nvPr/>
        </p:nvSpPr>
        <p:spPr>
          <a:xfrm>
            <a:off x="8010000" y="3328560"/>
            <a:ext cx="31539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60" b="0" u="none" strike="noStrike">
                <a:solidFill>
                  <a:srgbClr val="374151"/>
                </a:solidFill>
                <a:effectLst/>
                <a:uFillTx/>
                <a:latin typeface="Aptos"/>
              </a:rPr>
              <a:t>Versionning des scripts SQL</a:t>
            </a:r>
            <a:endParaRPr lang="fr-FR" sz="1460" b="0" u="none" strike="noStrike">
              <a:solidFill>
                <a:srgbClr val="000000"/>
              </a:solidFill>
              <a:effectLst/>
              <a:uFillTx/>
              <a:latin typeface="Arial"/>
            </a:endParaRPr>
          </a:p>
        </p:txBody>
      </p:sp>
      <p:sp>
        <p:nvSpPr>
          <p:cNvPr id="337" name="Shape 41"/>
          <p:cNvSpPr/>
          <p:nvPr/>
        </p:nvSpPr>
        <p:spPr>
          <a:xfrm>
            <a:off x="7845480" y="378576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38" name="Text 42"/>
          <p:cNvSpPr/>
          <p:nvPr/>
        </p:nvSpPr>
        <p:spPr>
          <a:xfrm>
            <a:off x="8010000" y="3712320"/>
            <a:ext cx="315396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60" b="0" u="none" strike="noStrike">
                <a:solidFill>
                  <a:srgbClr val="374151"/>
                </a:solidFill>
                <a:effectLst/>
                <a:uFillTx/>
                <a:latin typeface="Aptos"/>
              </a:rPr>
              <a:t>Support clair pour la répartition des tâches</a:t>
            </a:r>
            <a:endParaRPr lang="fr-FR" sz="1460" b="0" u="none" strike="noStrike">
              <a:solidFill>
                <a:srgbClr val="000000"/>
              </a:solidFill>
              <a:effectLst/>
              <a:uFillTx/>
              <a:latin typeface="Arial"/>
            </a:endParaRPr>
          </a:p>
        </p:txBody>
      </p:sp>
      <p:sp>
        <p:nvSpPr>
          <p:cNvPr id="339" name="Shape 43"/>
          <p:cNvSpPr/>
          <p:nvPr/>
        </p:nvSpPr>
        <p:spPr>
          <a:xfrm>
            <a:off x="7818120" y="4526280"/>
            <a:ext cx="3245400" cy="913680"/>
          </a:xfrm>
          <a:prstGeom prst="roundRect">
            <a:avLst>
              <a:gd name="adj" fmla="val 4000"/>
            </a:avLst>
          </a:prstGeom>
          <a:solidFill>
            <a:srgbClr val="EEF2FF"/>
          </a:solidFill>
          <a:ln w="12700">
            <a:solidFill>
              <a:srgbClr val="C7D2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40" name="Text 44"/>
          <p:cNvSpPr/>
          <p:nvPr/>
        </p:nvSpPr>
        <p:spPr>
          <a:xfrm>
            <a:off x="8092440" y="4782240"/>
            <a:ext cx="2696760" cy="3193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20" b="0" u="none" strike="noStrike">
                <a:solidFill>
                  <a:srgbClr val="3730A3"/>
                </a:solidFill>
                <a:effectLst/>
                <a:uFillTx/>
                <a:latin typeface="Aptos"/>
              </a:rPr>
              <a:t>Le dépôt contient le schéma, les scripts de création, les données et le texte de présentation.</a:t>
            </a:r>
            <a:endParaRPr lang="fr-FR" sz="1320" b="0" u="none" strike="noStrike">
              <a:solidFill>
                <a:srgbClr val="000000"/>
              </a:solidFill>
              <a:effectLst/>
              <a:uFillTx/>
              <a:latin typeface="Arial"/>
            </a:endParaRPr>
          </a:p>
        </p:txBody>
      </p:sp>
      <p:sp>
        <p:nvSpPr>
          <p:cNvPr id="341" name="Text 45"/>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342" name="Text 46"/>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43"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344"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Extrait du script SQL</a:t>
            </a:r>
            <a:endParaRPr lang="fr-FR" sz="2600" b="0" u="none" strike="noStrike">
              <a:solidFill>
                <a:srgbClr val="000000"/>
              </a:solidFill>
              <a:effectLst/>
              <a:uFillTx/>
              <a:latin typeface="Arial"/>
            </a:endParaRPr>
          </a:p>
        </p:txBody>
      </p:sp>
      <p:sp>
        <p:nvSpPr>
          <p:cNvPr id="345"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4748B"/>
                </a:solidFill>
                <a:effectLst/>
                <a:uFillTx/>
                <a:latin typeface="Aptos"/>
                <a:ea typeface="Aptos"/>
              </a:rPr>
              <a:t>Le projet combine un script de création du modèle et un script d'insertion des données.</a:t>
            </a:r>
            <a:endParaRPr lang="fr-FR" sz="1050" b="0" u="none" strike="noStrike">
              <a:solidFill>
                <a:srgbClr val="000000"/>
              </a:solidFill>
              <a:effectLst/>
              <a:uFillTx/>
              <a:latin typeface="Arial"/>
            </a:endParaRPr>
          </a:p>
        </p:txBody>
      </p:sp>
      <p:sp>
        <p:nvSpPr>
          <p:cNvPr id="346"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347" name="Shape 4"/>
          <p:cNvSpPr/>
          <p:nvPr/>
        </p:nvSpPr>
        <p:spPr>
          <a:xfrm>
            <a:off x="658440" y="1389960"/>
            <a:ext cx="5439960" cy="5028480"/>
          </a:xfrm>
          <a:prstGeom prst="roundRect">
            <a:avLst>
              <a:gd name="adj" fmla="val 1455"/>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48" name="Shape 5"/>
          <p:cNvSpPr/>
          <p:nvPr/>
        </p:nvSpPr>
        <p:spPr>
          <a:xfrm>
            <a:off x="6355080" y="1389960"/>
            <a:ext cx="5165640" cy="5028480"/>
          </a:xfrm>
          <a:prstGeom prst="roundRect">
            <a:avLst>
              <a:gd name="adj" fmla="val 1455"/>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49" name="Text 6"/>
          <p:cNvSpPr/>
          <p:nvPr/>
        </p:nvSpPr>
        <p:spPr>
          <a:xfrm>
            <a:off x="914400" y="1655099"/>
            <a:ext cx="219384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Création du schéma</a:t>
            </a:r>
            <a:endParaRPr lang="fr-FR" sz="1800" b="0" u="none" strike="noStrike">
              <a:solidFill>
                <a:srgbClr val="000000"/>
              </a:solidFill>
              <a:effectLst/>
              <a:uFillTx/>
              <a:latin typeface="Arial"/>
            </a:endParaRPr>
          </a:p>
        </p:txBody>
      </p:sp>
      <p:sp>
        <p:nvSpPr>
          <p:cNvPr id="350" name="Text 7"/>
          <p:cNvSpPr/>
          <p:nvPr/>
        </p:nvSpPr>
        <p:spPr>
          <a:xfrm>
            <a:off x="6602040" y="1664280"/>
            <a:ext cx="219384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Insertion des données</a:t>
            </a:r>
            <a:endParaRPr lang="fr-FR" sz="1800" b="0" u="none" strike="noStrike">
              <a:solidFill>
                <a:srgbClr val="000000"/>
              </a:solidFill>
              <a:effectLst/>
              <a:uFillTx/>
              <a:latin typeface="Arial"/>
            </a:endParaRPr>
          </a:p>
        </p:txBody>
      </p:sp>
      <p:sp>
        <p:nvSpPr>
          <p:cNvPr id="351" name="Text 8"/>
          <p:cNvSpPr/>
          <p:nvPr/>
        </p:nvSpPr>
        <p:spPr>
          <a:xfrm>
            <a:off x="776688" y="2011680"/>
            <a:ext cx="5341358" cy="4159800"/>
          </a:xfrm>
          <a:prstGeom prst="rect">
            <a:avLst/>
          </a:prstGeom>
          <a:noFill/>
          <a:ln w="0">
            <a:noFill/>
          </a:ln>
        </p:spPr>
        <p:style>
          <a:lnRef idx="0">
            <a:scrgbClr r="0" g="0" b="0"/>
          </a:lnRef>
          <a:fillRef idx="0">
            <a:scrgbClr r="0" g="0" b="0"/>
          </a:fillRef>
          <a:effectRef idx="0">
            <a:scrgbClr r="0" g="0" b="0"/>
          </a:effectRef>
          <a:fontRef idx="minor"/>
        </p:style>
        <p:txBody>
          <a:bodyPr lIns="1080" tIns="1080" rIns="1080" bIns="1080" anchor="ctr">
            <a:noAutofit/>
          </a:bodyPr>
          <a:lstStyle/>
          <a:p>
            <a:pPr>
              <a:lnSpc>
                <a:spcPct val="100000"/>
              </a:lnSpc>
            </a:pPr>
            <a:r>
              <a:rPr lang="en-US" sz="1400" b="0" u="none" strike="noStrike" dirty="0">
                <a:effectLst/>
                <a:uFillTx/>
                <a:latin typeface="Consolas"/>
                <a:ea typeface="Consolas"/>
              </a:rPr>
              <a:t> 1 CREATE TABLE </a:t>
            </a:r>
            <a:r>
              <a:rPr lang="en-US" sz="1400" b="0" u="none" strike="noStrike" dirty="0" err="1">
                <a:effectLst/>
                <a:uFillTx/>
                <a:latin typeface="Consolas"/>
                <a:ea typeface="Consolas"/>
              </a:rPr>
              <a:t>trajet</a:t>
            </a:r>
            <a:r>
              <a:rPr lang="en-US" sz="1400" b="0" u="none" strike="noStrike" dirty="0">
                <a:effectLst/>
                <a:uFillTx/>
                <a:latin typeface="Consolas"/>
                <a:ea typeface="Consolas"/>
              </a:rPr>
              <a:t> (</a:t>
            </a:r>
            <a:endParaRPr lang="fr-FR" sz="1400" b="0" u="none" strike="noStrike" dirty="0">
              <a:effectLst/>
              <a:uFillTx/>
              <a:latin typeface="Arial"/>
              <a:cs typeface="Arial"/>
            </a:endParaRPr>
          </a:p>
          <a:p>
            <a:pPr>
              <a:lnSpc>
                <a:spcPct val="100000"/>
              </a:lnSpc>
            </a:pPr>
            <a:r>
              <a:rPr lang="en-US" sz="1400" b="0" u="none" strike="noStrike" dirty="0">
                <a:effectLst/>
                <a:uFillTx/>
                <a:latin typeface="Consolas"/>
                <a:ea typeface="Consolas"/>
              </a:rPr>
              <a:t> 2   </a:t>
            </a:r>
            <a:r>
              <a:rPr lang="en-US" sz="1400" b="0" u="none" strike="noStrike" dirty="0" err="1">
                <a:effectLst/>
                <a:uFillTx/>
                <a:latin typeface="Consolas"/>
                <a:ea typeface="Consolas"/>
              </a:rPr>
              <a:t>trajet_id</a:t>
            </a:r>
            <a:r>
              <a:rPr lang="en-US" sz="1400" b="0" u="none" strike="noStrike" dirty="0">
                <a:effectLst/>
                <a:uFillTx/>
                <a:latin typeface="Consolas"/>
                <a:ea typeface="Consolas"/>
              </a:rPr>
              <a:t> INT NOT NULL AUTO_INCREMENT,</a:t>
            </a:r>
            <a:endParaRPr lang="fr-FR" sz="1400" b="0" u="none" strike="noStrike" dirty="0">
              <a:effectLst/>
              <a:uFillTx/>
              <a:latin typeface="Arial"/>
              <a:cs typeface="Arial"/>
            </a:endParaRPr>
          </a:p>
          <a:p>
            <a:pPr>
              <a:lnSpc>
                <a:spcPct val="100000"/>
              </a:lnSpc>
            </a:pPr>
            <a:r>
              <a:rPr lang="en-US" sz="1400" b="0" u="none" strike="noStrike" dirty="0">
                <a:effectLst/>
                <a:uFillTx/>
                <a:latin typeface="Consolas"/>
                <a:ea typeface="Consolas"/>
              </a:rPr>
              <a:t> 3   </a:t>
            </a:r>
            <a:r>
              <a:rPr lang="en-US" sz="1400" b="0" u="none" strike="noStrike" dirty="0" err="1">
                <a:effectLst/>
                <a:uFillTx/>
                <a:latin typeface="Consolas"/>
                <a:ea typeface="Consolas"/>
              </a:rPr>
              <a:t>ligne_id</a:t>
            </a:r>
            <a:r>
              <a:rPr lang="en-US" sz="1400" b="0" u="none" strike="noStrike" dirty="0">
                <a:effectLst/>
                <a:uFillTx/>
                <a:latin typeface="Consolas"/>
                <a:ea typeface="Consolas"/>
              </a:rPr>
              <a:t> INT NOT NULL,</a:t>
            </a:r>
            <a:endParaRPr lang="fr-FR" sz="1400" b="0" u="none" strike="noStrike" dirty="0">
              <a:effectLst/>
              <a:uFillTx/>
              <a:latin typeface="Arial"/>
              <a:cs typeface="Arial"/>
            </a:endParaRPr>
          </a:p>
          <a:p>
            <a:pPr>
              <a:lnSpc>
                <a:spcPct val="100000"/>
              </a:lnSpc>
            </a:pPr>
            <a:r>
              <a:rPr lang="en-US" sz="1400" b="0" u="none" strike="noStrike" dirty="0">
                <a:effectLst/>
                <a:uFillTx/>
                <a:latin typeface="Consolas"/>
                <a:ea typeface="Consolas"/>
              </a:rPr>
              <a:t> 4   </a:t>
            </a:r>
            <a:r>
              <a:rPr lang="en-US" sz="1400" b="0" u="none" strike="noStrike" dirty="0" err="1">
                <a:effectLst/>
                <a:uFillTx/>
                <a:latin typeface="Consolas"/>
                <a:ea typeface="Consolas"/>
              </a:rPr>
              <a:t>heure_depart</a:t>
            </a:r>
            <a:r>
              <a:rPr lang="en-US" sz="1400" b="0" u="none" strike="noStrike" dirty="0">
                <a:effectLst/>
                <a:uFillTx/>
                <a:latin typeface="Consolas"/>
                <a:ea typeface="Consolas"/>
              </a:rPr>
              <a:t> TIME NOT NULL,</a:t>
            </a:r>
            <a:endParaRPr lang="fr-FR" sz="1400" b="0" u="none" strike="noStrike" dirty="0">
              <a:effectLst/>
              <a:uFillTx/>
              <a:latin typeface="Arial"/>
              <a:cs typeface="Arial"/>
            </a:endParaRPr>
          </a:p>
          <a:p>
            <a:pPr>
              <a:lnSpc>
                <a:spcPct val="100000"/>
              </a:lnSpc>
            </a:pPr>
            <a:r>
              <a:rPr lang="en-US" sz="1400" b="0" u="none" strike="noStrike" dirty="0">
                <a:effectLst/>
                <a:uFillTx/>
                <a:latin typeface="Consolas"/>
                <a:ea typeface="Consolas"/>
              </a:rPr>
              <a:t> 5   </a:t>
            </a:r>
            <a:r>
              <a:rPr lang="en-US" sz="1400" b="0" u="none" strike="noStrike" dirty="0" err="1">
                <a:effectLst/>
                <a:uFillTx/>
                <a:latin typeface="Consolas"/>
                <a:ea typeface="Consolas"/>
              </a:rPr>
              <a:t>heure_arrivee</a:t>
            </a:r>
            <a:r>
              <a:rPr lang="en-US" sz="1400" b="0" u="none" strike="noStrike" dirty="0">
                <a:effectLst/>
                <a:uFillTx/>
                <a:latin typeface="Consolas"/>
                <a:ea typeface="Consolas"/>
              </a:rPr>
              <a:t> TIME NOT NULL,</a:t>
            </a:r>
            <a:endParaRPr lang="fr-FR" sz="1400" b="0" u="none" strike="noStrike" dirty="0">
              <a:effectLst/>
              <a:uFillTx/>
              <a:latin typeface="Arial"/>
              <a:cs typeface="Arial"/>
            </a:endParaRPr>
          </a:p>
          <a:p>
            <a:pPr>
              <a:lnSpc>
                <a:spcPct val="100000"/>
              </a:lnSpc>
            </a:pPr>
            <a:r>
              <a:rPr lang="en-US" sz="1400" b="0" u="none" strike="noStrike">
                <a:effectLst/>
                <a:uFillTx/>
                <a:latin typeface="Consolas"/>
                <a:ea typeface="Consolas"/>
              </a:rPr>
              <a:t> 6   direction VARCHAR(100)</a:t>
            </a:r>
            <a:r>
              <a:rPr lang="en-US" sz="1400" b="0" u="none" strike="noStrike" dirty="0">
                <a:effectLst/>
                <a:uFillTx/>
                <a:latin typeface="Consolas"/>
                <a:ea typeface="Consolas"/>
              </a:rPr>
              <a:t> </a:t>
            </a:r>
            <a:r>
              <a:rPr lang="en-US" sz="1400" b="0" u="none" strike="noStrike">
                <a:effectLst/>
                <a:uFillTx/>
                <a:latin typeface="Consolas"/>
                <a:ea typeface="Consolas"/>
              </a:rPr>
              <a:t>NOT</a:t>
            </a:r>
            <a:r>
              <a:rPr lang="en-US" sz="1400" b="0" u="none" strike="noStrike" dirty="0">
                <a:effectLst/>
                <a:uFillTx/>
                <a:latin typeface="Consolas"/>
                <a:ea typeface="Consolas"/>
              </a:rPr>
              <a:t> </a:t>
            </a:r>
            <a:r>
              <a:rPr lang="en-US" sz="1400" b="0" u="none" strike="noStrike">
                <a:effectLst/>
                <a:uFillTx/>
                <a:latin typeface="Consolas"/>
                <a:ea typeface="Consolas"/>
              </a:rPr>
              <a:t>NULL,</a:t>
            </a:r>
            <a:endParaRPr lang="fr-FR" sz="1400" b="0" u="none" strike="noStrike">
              <a:effectLst/>
              <a:uFillTx/>
              <a:latin typeface="Arial"/>
              <a:cs typeface="Arial"/>
            </a:endParaRPr>
          </a:p>
          <a:p>
            <a:pPr>
              <a:lnSpc>
                <a:spcPct val="100000"/>
              </a:lnSpc>
            </a:pPr>
            <a:r>
              <a:rPr lang="en-US" sz="1400" b="0" u="none" strike="noStrike" dirty="0">
                <a:effectLst/>
                <a:uFillTx/>
                <a:latin typeface="Consolas"/>
                <a:ea typeface="Consolas"/>
              </a:rPr>
              <a:t> 7   </a:t>
            </a:r>
            <a:r>
              <a:rPr lang="en-US" sz="1400" b="0" u="none" strike="noStrike" dirty="0" err="1">
                <a:effectLst/>
                <a:uFillTx/>
                <a:latin typeface="Consolas"/>
                <a:ea typeface="Consolas"/>
              </a:rPr>
              <a:t>sens</a:t>
            </a:r>
            <a:r>
              <a:rPr lang="en-US" sz="1400" b="0" u="none" strike="noStrike" dirty="0">
                <a:effectLst/>
                <a:uFillTx/>
                <a:latin typeface="Consolas"/>
                <a:ea typeface="Consolas"/>
              </a:rPr>
              <a:t> TINYINT NOT NULL,</a:t>
            </a:r>
            <a:endParaRPr lang="fr-FR" sz="1400" b="0" u="none" strike="noStrike" dirty="0">
              <a:effectLst/>
              <a:uFillTx/>
              <a:latin typeface="Arial"/>
              <a:cs typeface="Arial"/>
            </a:endParaRPr>
          </a:p>
          <a:p>
            <a:pPr>
              <a:lnSpc>
                <a:spcPct val="100000"/>
              </a:lnSpc>
            </a:pPr>
            <a:r>
              <a:rPr lang="en-US" sz="1400" b="0" u="none" strike="noStrike" dirty="0">
                <a:effectLst/>
                <a:uFillTx/>
                <a:latin typeface="Consolas"/>
                <a:ea typeface="Consolas"/>
              </a:rPr>
              <a:t> 8   CONSTRAINT </a:t>
            </a:r>
            <a:r>
              <a:rPr lang="en-US" sz="1400" b="0" u="none" strike="noStrike" dirty="0" err="1">
                <a:effectLst/>
                <a:uFillTx/>
                <a:latin typeface="Consolas"/>
                <a:ea typeface="Consolas"/>
              </a:rPr>
              <a:t>pk_trajet</a:t>
            </a:r>
            <a:r>
              <a:rPr lang="en-US" sz="1400" b="0" u="none" strike="noStrike" dirty="0">
                <a:effectLst/>
                <a:uFillTx/>
                <a:latin typeface="Consolas"/>
                <a:ea typeface="Consolas"/>
              </a:rPr>
              <a:t> PRIMARY KEY (</a:t>
            </a:r>
            <a:r>
              <a:rPr lang="en-US" sz="1400" b="0" u="none" strike="noStrike" dirty="0" err="1">
                <a:effectLst/>
                <a:uFillTx/>
                <a:latin typeface="Consolas"/>
                <a:ea typeface="Consolas"/>
              </a:rPr>
              <a:t>trajet_id</a:t>
            </a:r>
            <a:r>
              <a:rPr lang="en-US" sz="1400" b="0" u="none" strike="noStrike" dirty="0">
                <a:effectLst/>
                <a:uFillTx/>
                <a:latin typeface="Consolas"/>
                <a:ea typeface="Consolas"/>
              </a:rPr>
              <a:t>),</a:t>
            </a:r>
            <a:endParaRPr lang="fr-FR" sz="1400" b="0" u="none" strike="noStrike" dirty="0">
              <a:effectLst/>
              <a:uFillTx/>
              <a:latin typeface="Arial"/>
              <a:cs typeface="Arial"/>
            </a:endParaRPr>
          </a:p>
          <a:p>
            <a:pPr>
              <a:lnSpc>
                <a:spcPct val="100000"/>
              </a:lnSpc>
            </a:pPr>
            <a:r>
              <a:rPr lang="en-US" sz="1400" b="0" u="none" strike="noStrike" dirty="0">
                <a:effectLst/>
                <a:uFillTx/>
                <a:latin typeface="Consolas"/>
                <a:ea typeface="Consolas"/>
              </a:rPr>
              <a:t> 9   CONSTRAINT </a:t>
            </a:r>
            <a:r>
              <a:rPr lang="en-US" sz="1400" b="0" u="none" strike="noStrike" dirty="0" err="1">
                <a:effectLst/>
                <a:uFillTx/>
                <a:latin typeface="Consolas"/>
                <a:ea typeface="Consolas"/>
              </a:rPr>
              <a:t>fk_trajet_ligne</a:t>
            </a:r>
            <a:r>
              <a:rPr lang="en-US" sz="1400" b="0" u="none" strike="noStrike" dirty="0">
                <a:effectLst/>
                <a:uFillTx/>
                <a:latin typeface="Consolas"/>
                <a:ea typeface="Consolas"/>
              </a:rPr>
              <a:t> FOREIGN KEY (</a:t>
            </a:r>
            <a:r>
              <a:rPr lang="en-US" sz="1400" b="0" u="none" strike="noStrike" dirty="0" err="1">
                <a:effectLst/>
                <a:uFillTx/>
                <a:latin typeface="Consolas"/>
                <a:ea typeface="Consolas"/>
              </a:rPr>
              <a:t>ligne_id</a:t>
            </a:r>
            <a:r>
              <a:rPr lang="en-US" sz="1400" b="0" u="none" strike="noStrike" dirty="0">
                <a:effectLst/>
                <a:uFillTx/>
                <a:latin typeface="Consolas"/>
                <a:ea typeface="Consolas"/>
              </a:rPr>
              <a:t>)</a:t>
            </a:r>
            <a:endParaRPr lang="fr-FR" sz="1400" b="0" u="none" strike="noStrike" dirty="0">
              <a:effectLst/>
              <a:uFillTx/>
              <a:latin typeface="Arial"/>
              <a:cs typeface="Arial"/>
            </a:endParaRPr>
          </a:p>
          <a:p>
            <a:pPr>
              <a:lnSpc>
                <a:spcPct val="100000"/>
              </a:lnSpc>
            </a:pPr>
            <a:r>
              <a:rPr lang="en-US" sz="1400" b="0" u="none" strike="noStrike" dirty="0">
                <a:effectLst/>
                <a:uFillTx/>
                <a:latin typeface="Consolas"/>
                <a:ea typeface="Consolas"/>
              </a:rPr>
              <a:t>10     REFERENCES </a:t>
            </a:r>
            <a:r>
              <a:rPr lang="en-US" sz="1400" b="0" u="none" strike="noStrike" dirty="0" err="1">
                <a:effectLst/>
                <a:uFillTx/>
                <a:latin typeface="Consolas"/>
                <a:ea typeface="Consolas"/>
              </a:rPr>
              <a:t>ligne</a:t>
            </a:r>
            <a:r>
              <a:rPr lang="en-US" sz="1400" b="0" u="none" strike="noStrike" dirty="0">
                <a:effectLst/>
                <a:uFillTx/>
                <a:latin typeface="Consolas"/>
                <a:ea typeface="Consolas"/>
              </a:rPr>
              <a:t> (</a:t>
            </a:r>
            <a:r>
              <a:rPr lang="en-US" sz="1400" b="0" u="none" strike="noStrike" dirty="0" err="1">
                <a:effectLst/>
                <a:uFillTx/>
                <a:latin typeface="Consolas"/>
                <a:ea typeface="Consolas"/>
              </a:rPr>
              <a:t>ligne_id</a:t>
            </a:r>
            <a:r>
              <a:rPr lang="en-US" sz="1400" b="0" u="none" strike="noStrike" dirty="0">
                <a:effectLst/>
                <a:uFillTx/>
                <a:latin typeface="Consolas"/>
                <a:ea typeface="Consolas"/>
              </a:rPr>
              <a:t>)</a:t>
            </a:r>
            <a:endParaRPr lang="fr-FR" sz="1400" b="0" u="none" strike="noStrike" dirty="0">
              <a:effectLst/>
              <a:uFillTx/>
              <a:latin typeface="Arial"/>
              <a:cs typeface="Arial"/>
            </a:endParaRPr>
          </a:p>
          <a:p>
            <a:pPr defTabSz="914400">
              <a:lnSpc>
                <a:spcPct val="100000"/>
              </a:lnSpc>
              <a:tabLst>
                <a:tab pos="0" algn="l"/>
              </a:tabLst>
            </a:pPr>
            <a:r>
              <a:rPr lang="en-US" sz="1400" b="0" u="none" strike="noStrike">
                <a:effectLst/>
                <a:uFillTx/>
                <a:latin typeface="Consolas"/>
                <a:ea typeface="Consolas"/>
              </a:rPr>
              <a:t>11 );</a:t>
            </a:r>
            <a:endParaRPr lang="fr-FR" sz="1400" b="0" u="none" strike="noStrike">
              <a:effectLst/>
              <a:uFillTx/>
              <a:latin typeface="Arial"/>
              <a:cs typeface="Arial"/>
            </a:endParaRPr>
          </a:p>
        </p:txBody>
      </p:sp>
      <p:sp>
        <p:nvSpPr>
          <p:cNvPr id="352" name="Text 9"/>
          <p:cNvSpPr/>
          <p:nvPr/>
        </p:nvSpPr>
        <p:spPr>
          <a:xfrm>
            <a:off x="6601858" y="2011680"/>
            <a:ext cx="4929328" cy="4159800"/>
          </a:xfrm>
          <a:prstGeom prst="rect">
            <a:avLst/>
          </a:prstGeom>
          <a:noFill/>
          <a:ln w="0">
            <a:noFill/>
          </a:ln>
        </p:spPr>
        <p:style>
          <a:lnRef idx="0">
            <a:scrgbClr r="0" g="0" b="0"/>
          </a:lnRef>
          <a:fillRef idx="0">
            <a:scrgbClr r="0" g="0" b="0"/>
          </a:fillRef>
          <a:effectRef idx="0">
            <a:scrgbClr r="0" g="0" b="0"/>
          </a:effectRef>
          <a:fontRef idx="minor"/>
        </p:style>
        <p:txBody>
          <a:bodyPr lIns="1080" tIns="1080" rIns="1080" bIns="1080" anchor="ctr">
            <a:noAutofit/>
          </a:bodyPr>
          <a:lstStyle/>
          <a:p>
            <a:r>
              <a:rPr lang="en-US" sz="1400" b="0" u="none" strike="noStrike" dirty="0">
                <a:effectLst/>
                <a:uFillTx/>
                <a:latin typeface="Consolas"/>
                <a:ea typeface="Consolas"/>
              </a:rPr>
              <a:t> 1 INSERT INTO </a:t>
            </a:r>
            <a:r>
              <a:rPr lang="en-US" sz="1400" b="0" u="none" strike="noStrike" err="1">
                <a:effectLst/>
                <a:uFillTx/>
                <a:latin typeface="Consolas"/>
                <a:ea typeface="Consolas"/>
              </a:rPr>
              <a:t>ligne</a:t>
            </a:r>
            <a:r>
              <a:rPr lang="en-US" sz="1400" b="0" u="none" strike="noStrike" dirty="0">
                <a:effectLst/>
                <a:uFillTx/>
                <a:latin typeface="Consolas"/>
                <a:ea typeface="Consolas"/>
              </a:rPr>
              <a:t> (</a:t>
            </a:r>
            <a:r>
              <a:rPr lang="en-US" sz="1400" b="0" u="none" strike="noStrike" err="1">
                <a:effectLst/>
                <a:uFillTx/>
                <a:latin typeface="Consolas"/>
                <a:ea typeface="Consolas"/>
              </a:rPr>
              <a:t>ligne_id</a:t>
            </a:r>
            <a:r>
              <a:rPr lang="en-US" sz="1400" b="0" u="none" strike="noStrike" dirty="0">
                <a:effectLst/>
                <a:uFillTx/>
                <a:latin typeface="Consolas"/>
                <a:ea typeface="Consolas"/>
              </a:rPr>
              <a:t>, </a:t>
            </a:r>
            <a:r>
              <a:rPr lang="en-US" sz="1400" b="0" u="none" strike="noStrike" err="1">
                <a:effectLst/>
                <a:uFillTx/>
                <a:latin typeface="Consolas"/>
                <a:ea typeface="Consolas"/>
              </a:rPr>
              <a:t>numero_ligne</a:t>
            </a:r>
            <a:r>
              <a:rPr lang="en-US" sz="1400" b="0" u="none" strike="noStrike" dirty="0">
                <a:effectLst/>
                <a:uFillTx/>
                <a:latin typeface="Consolas"/>
                <a:ea typeface="Consolas"/>
              </a:rPr>
              <a:t>,</a:t>
            </a:r>
            <a:r>
              <a:rPr lang="en-US" sz="1400" dirty="0">
                <a:latin typeface="Consolas"/>
                <a:ea typeface="Consolas"/>
              </a:rPr>
              <a:t> </a:t>
            </a:r>
            <a:r>
              <a:rPr lang="en-US" sz="1400" b="0" u="none" strike="noStrike">
                <a:effectLst/>
                <a:uFillTx/>
                <a:latin typeface="Consolas"/>
                <a:ea typeface="Consolas"/>
              </a:rPr>
              <a:t>nom_ligne, </a:t>
            </a:r>
            <a:r>
              <a:rPr lang="en-US" sz="1400" b="0" u="none" strike="noStrike" err="1">
                <a:effectLst/>
                <a:uFillTx/>
                <a:latin typeface="Consolas"/>
                <a:ea typeface="Consolas"/>
              </a:rPr>
              <a:t>couleur_hex</a:t>
            </a:r>
            <a:r>
              <a:rPr lang="en-US" sz="1400" b="0" u="none" strike="noStrike" dirty="0">
                <a:effectLst/>
                <a:uFillTx/>
                <a:latin typeface="Consolas"/>
                <a:ea typeface="Consolas"/>
              </a:rPr>
              <a:t>)</a:t>
            </a:r>
            <a:endParaRPr lang="fr-FR" sz="1400" b="0" u="none" strike="noStrike" dirty="0">
              <a:effectLst/>
              <a:uFillTx/>
              <a:latin typeface="Arial"/>
              <a:cs typeface="Arial"/>
            </a:endParaRPr>
          </a:p>
          <a:p>
            <a:pPr>
              <a:lnSpc>
                <a:spcPct val="100000"/>
              </a:lnSpc>
            </a:pPr>
            <a:r>
              <a:rPr lang="en-US" sz="1400" b="0" u="none" strike="noStrike">
                <a:effectLst/>
                <a:uFillTx/>
                <a:latin typeface="Consolas"/>
                <a:ea typeface="Consolas"/>
              </a:rPr>
              <a:t> 2 VALUES</a:t>
            </a:r>
            <a:r>
              <a:rPr lang="en-US" sz="1400" b="0" u="none" strike="noStrike" dirty="0">
                <a:effectLst/>
                <a:uFillTx/>
                <a:latin typeface="Consolas"/>
                <a:ea typeface="Consolas"/>
              </a:rPr>
              <a:t> </a:t>
            </a:r>
            <a:r>
              <a:rPr lang="en-US" sz="1400" b="0" u="none" strike="noStrike">
                <a:effectLst/>
                <a:uFillTx/>
                <a:latin typeface="Consolas"/>
                <a:ea typeface="Consolas"/>
              </a:rPr>
              <a:t>(1, '1', 'Ligne 1', '#FFBE00');</a:t>
            </a:r>
            <a:endParaRPr lang="fr-FR" sz="1400" b="0" u="none" strike="noStrike">
              <a:effectLst/>
              <a:uFillTx/>
              <a:latin typeface="Arial"/>
              <a:cs typeface="Arial"/>
            </a:endParaRPr>
          </a:p>
          <a:p>
            <a:pPr>
              <a:lnSpc>
                <a:spcPct val="100000"/>
              </a:lnSpc>
            </a:pPr>
            <a:r>
              <a:rPr lang="en-US" sz="1400" b="0" u="none" strike="noStrike">
                <a:effectLst/>
                <a:uFillTx/>
                <a:latin typeface="Consolas"/>
                <a:ea typeface="Consolas"/>
              </a:rPr>
              <a:t> 3 </a:t>
            </a:r>
            <a:endParaRPr lang="fr-FR" sz="1400" b="0" u="none" strike="noStrike">
              <a:effectLst/>
              <a:uFillTx/>
              <a:latin typeface="Arial"/>
              <a:cs typeface="Arial"/>
            </a:endParaRPr>
          </a:p>
          <a:p>
            <a:pPr>
              <a:lnSpc>
                <a:spcPct val="100000"/>
              </a:lnSpc>
            </a:pPr>
            <a:r>
              <a:rPr lang="en-US" sz="1400" b="0" u="none" strike="noStrike">
                <a:effectLst/>
                <a:uFillTx/>
                <a:latin typeface="Consolas"/>
                <a:ea typeface="Consolas"/>
              </a:rPr>
              <a:t> 4 INSERT</a:t>
            </a:r>
            <a:r>
              <a:rPr lang="en-US" sz="1400" b="0" u="none" strike="noStrike" dirty="0">
                <a:effectLst/>
                <a:uFillTx/>
                <a:latin typeface="Consolas"/>
                <a:ea typeface="Consolas"/>
              </a:rPr>
              <a:t> </a:t>
            </a:r>
            <a:r>
              <a:rPr lang="en-US" sz="1400" b="0" u="none" strike="noStrike">
                <a:effectLst/>
                <a:uFillTx/>
                <a:latin typeface="Consolas"/>
                <a:ea typeface="Consolas"/>
              </a:rPr>
              <a:t>INTO station (</a:t>
            </a:r>
            <a:endParaRPr lang="fr-FR" sz="1400" b="0" u="none" strike="noStrike">
              <a:effectLst/>
              <a:uFillTx/>
              <a:latin typeface="Arial"/>
              <a:cs typeface="Arial"/>
            </a:endParaRPr>
          </a:p>
          <a:p>
            <a:pPr>
              <a:lnSpc>
                <a:spcPct val="100000"/>
              </a:lnSpc>
            </a:pPr>
            <a:r>
              <a:rPr lang="en-US" sz="1400" b="0" u="none" strike="noStrike" dirty="0">
                <a:effectLst/>
                <a:uFillTx/>
                <a:latin typeface="Consolas"/>
                <a:ea typeface="Consolas"/>
              </a:rPr>
              <a:t> 5   </a:t>
            </a:r>
            <a:r>
              <a:rPr lang="en-US" sz="1400" b="0" u="none" strike="noStrike" dirty="0" err="1">
                <a:effectLst/>
                <a:uFillTx/>
                <a:latin typeface="Consolas"/>
                <a:ea typeface="Consolas"/>
              </a:rPr>
              <a:t>station_id</a:t>
            </a:r>
            <a:r>
              <a:rPr lang="en-US" sz="1400" b="0" u="none" strike="noStrike" dirty="0">
                <a:effectLst/>
                <a:uFillTx/>
                <a:latin typeface="Consolas"/>
                <a:ea typeface="Consolas"/>
              </a:rPr>
              <a:t>, </a:t>
            </a:r>
            <a:r>
              <a:rPr lang="en-US" sz="1400" b="0" u="none" strike="noStrike" dirty="0" err="1">
                <a:effectLst/>
                <a:uFillTx/>
                <a:latin typeface="Consolas"/>
                <a:ea typeface="Consolas"/>
              </a:rPr>
              <a:t>nom_station</a:t>
            </a:r>
            <a:r>
              <a:rPr lang="en-US" sz="1400" b="0" u="none" strike="noStrike" dirty="0">
                <a:effectLst/>
                <a:uFillTx/>
                <a:latin typeface="Consolas"/>
                <a:ea typeface="Consolas"/>
              </a:rPr>
              <a:t>, </a:t>
            </a:r>
            <a:r>
              <a:rPr lang="en-US" sz="1400" b="0" u="none" strike="noStrike" dirty="0" err="1">
                <a:effectLst/>
                <a:uFillTx/>
                <a:latin typeface="Consolas"/>
                <a:ea typeface="Consolas"/>
              </a:rPr>
              <a:t>ville</a:t>
            </a:r>
            <a:r>
              <a:rPr lang="en-US" sz="1400" b="0" u="none" strike="noStrike" dirty="0">
                <a:effectLst/>
                <a:uFillTx/>
                <a:latin typeface="Consolas"/>
                <a:ea typeface="Consolas"/>
              </a:rPr>
              <a:t>, latitude,</a:t>
            </a:r>
            <a:endParaRPr lang="fr-FR" sz="1400" b="0" u="none" strike="noStrike" dirty="0">
              <a:effectLst/>
              <a:uFillTx/>
              <a:latin typeface="Arial"/>
              <a:cs typeface="Arial"/>
            </a:endParaRPr>
          </a:p>
          <a:p>
            <a:pPr>
              <a:lnSpc>
                <a:spcPct val="100000"/>
              </a:lnSpc>
            </a:pPr>
            <a:r>
              <a:rPr lang="en-US" sz="1400" b="0" u="none" strike="noStrike" dirty="0">
                <a:effectLst/>
                <a:uFillTx/>
                <a:latin typeface="Consolas"/>
                <a:ea typeface="Consolas"/>
              </a:rPr>
              <a:t> 6   longitude, </a:t>
            </a:r>
            <a:r>
              <a:rPr lang="en-US" sz="1400" b="0" u="none" strike="noStrike" dirty="0" err="1">
                <a:effectLst/>
                <a:uFillTx/>
                <a:latin typeface="Consolas"/>
                <a:ea typeface="Consolas"/>
              </a:rPr>
              <a:t>accessibilite_pmr</a:t>
            </a:r>
            <a:r>
              <a:rPr lang="en-US" sz="1400" b="0" u="none" strike="noStrike" dirty="0">
                <a:effectLst/>
                <a:uFillTx/>
                <a:latin typeface="Consolas"/>
                <a:ea typeface="Consolas"/>
              </a:rPr>
              <a:t>, </a:t>
            </a:r>
            <a:r>
              <a:rPr lang="en-US" sz="1400" b="0" u="none" strike="noStrike" dirty="0" err="1">
                <a:effectLst/>
                <a:uFillTx/>
                <a:latin typeface="Consolas"/>
                <a:ea typeface="Consolas"/>
              </a:rPr>
              <a:t>code_postal</a:t>
            </a:r>
            <a:endParaRPr lang="fr-FR" sz="1400" b="0" u="none" strike="noStrike" dirty="0" err="1">
              <a:effectLst/>
              <a:uFillTx/>
              <a:latin typeface="Arial"/>
              <a:cs typeface="Arial"/>
            </a:endParaRPr>
          </a:p>
          <a:p>
            <a:pPr>
              <a:lnSpc>
                <a:spcPct val="100000"/>
              </a:lnSpc>
            </a:pPr>
            <a:r>
              <a:rPr lang="en-US" sz="1400" b="0" u="none" strike="noStrike">
                <a:effectLst/>
                <a:uFillTx/>
                <a:latin typeface="Consolas"/>
                <a:ea typeface="Consolas"/>
              </a:rPr>
              <a:t> 7 )</a:t>
            </a:r>
            <a:r>
              <a:rPr lang="en-US" sz="1400" b="0" u="none" strike="noStrike" dirty="0">
                <a:effectLst/>
                <a:uFillTx/>
                <a:latin typeface="Consolas"/>
                <a:ea typeface="Consolas"/>
              </a:rPr>
              <a:t> </a:t>
            </a:r>
            <a:r>
              <a:rPr lang="en-US" sz="1400" b="0" u="none" strike="noStrike">
                <a:effectLst/>
                <a:uFillTx/>
                <a:latin typeface="Consolas"/>
                <a:ea typeface="Consolas"/>
              </a:rPr>
              <a:t>VALUES</a:t>
            </a:r>
            <a:r>
              <a:rPr lang="en-US" sz="1400" b="0" u="none" strike="noStrike" dirty="0">
                <a:effectLst/>
                <a:uFillTx/>
                <a:latin typeface="Consolas"/>
                <a:ea typeface="Consolas"/>
              </a:rPr>
              <a:t> </a:t>
            </a:r>
            <a:r>
              <a:rPr lang="en-US" sz="1400" b="0" u="none" strike="noStrike">
                <a:effectLst/>
                <a:uFillTx/>
                <a:latin typeface="Consolas"/>
                <a:ea typeface="Consolas"/>
              </a:rPr>
              <a:t>(</a:t>
            </a:r>
            <a:endParaRPr lang="fr-FR" sz="1400" b="0" u="none" strike="noStrike">
              <a:effectLst/>
              <a:uFillTx/>
              <a:latin typeface="Arial"/>
              <a:cs typeface="Arial"/>
            </a:endParaRPr>
          </a:p>
          <a:p>
            <a:pPr>
              <a:lnSpc>
                <a:spcPct val="100000"/>
              </a:lnSpc>
            </a:pPr>
            <a:r>
              <a:rPr lang="en-US" sz="1400" b="0" u="none" strike="noStrike" dirty="0">
                <a:effectLst/>
                <a:uFillTx/>
                <a:latin typeface="Consolas"/>
                <a:ea typeface="Consolas"/>
              </a:rPr>
              <a:t> 8   63284, '</a:t>
            </a:r>
            <a:r>
              <a:rPr lang="en-US" sz="1400" b="0" u="none" strike="noStrike" dirty="0" err="1">
                <a:effectLst/>
                <a:uFillTx/>
                <a:latin typeface="Consolas"/>
                <a:ea typeface="Consolas"/>
              </a:rPr>
              <a:t>Aéroport</a:t>
            </a:r>
            <a:r>
              <a:rPr lang="en-US" sz="1400" b="0" u="none" strike="noStrike" dirty="0">
                <a:effectLst/>
                <a:uFillTx/>
                <a:latin typeface="Consolas"/>
                <a:ea typeface="Consolas"/>
              </a:rPr>
              <a:t> </a:t>
            </a:r>
            <a:r>
              <a:rPr lang="en-US" sz="1400" b="0" u="none" strike="noStrike" dirty="0" err="1">
                <a:effectLst/>
                <a:uFillTx/>
                <a:latin typeface="Consolas"/>
                <a:ea typeface="Consolas"/>
              </a:rPr>
              <a:t>d''Orly</a:t>
            </a:r>
            <a:r>
              <a:rPr lang="en-US" sz="1400" b="0" u="none" strike="noStrike" dirty="0">
                <a:effectLst/>
                <a:uFillTx/>
                <a:latin typeface="Consolas"/>
                <a:ea typeface="Consolas"/>
              </a:rPr>
              <a:t>', '</a:t>
            </a:r>
            <a:r>
              <a:rPr lang="en-US" sz="1400" b="0" u="none" strike="noStrike" dirty="0" err="1">
                <a:effectLst/>
                <a:uFillTx/>
                <a:latin typeface="Consolas"/>
                <a:ea typeface="Consolas"/>
              </a:rPr>
              <a:t>Aéroport</a:t>
            </a:r>
            <a:r>
              <a:rPr lang="en-US" sz="1400" b="0" u="none" strike="noStrike" dirty="0">
                <a:effectLst/>
                <a:uFillTx/>
                <a:latin typeface="Consolas"/>
                <a:ea typeface="Consolas"/>
              </a:rPr>
              <a:t> </a:t>
            </a:r>
            <a:r>
              <a:rPr lang="en-US" sz="1400" b="0" u="none" strike="noStrike" dirty="0" err="1">
                <a:effectLst/>
                <a:uFillTx/>
                <a:latin typeface="Consolas"/>
                <a:ea typeface="Consolas"/>
              </a:rPr>
              <a:t>d''Orly</a:t>
            </a:r>
            <a:r>
              <a:rPr lang="en-US" sz="1400" b="0" u="none" strike="noStrike" dirty="0">
                <a:effectLst/>
                <a:uFillTx/>
                <a:latin typeface="Consolas"/>
                <a:ea typeface="Consolas"/>
              </a:rPr>
              <a:t>',</a:t>
            </a:r>
            <a:endParaRPr lang="fr-FR" sz="1400" b="0" u="none" strike="noStrike" dirty="0">
              <a:effectLst/>
              <a:uFillTx/>
              <a:latin typeface="Arial"/>
              <a:cs typeface="Arial"/>
            </a:endParaRPr>
          </a:p>
          <a:p>
            <a:pPr>
              <a:lnSpc>
                <a:spcPct val="100000"/>
              </a:lnSpc>
            </a:pPr>
            <a:r>
              <a:rPr lang="en-US" sz="1400" b="0" u="none" strike="noStrike">
                <a:effectLst/>
                <a:uFillTx/>
                <a:latin typeface="Consolas"/>
                <a:ea typeface="Consolas"/>
              </a:rPr>
              <a:t> 9   48.728083, 2.362591,</a:t>
            </a:r>
            <a:r>
              <a:rPr lang="en-US" sz="1400" b="0" u="none" strike="noStrike" dirty="0">
                <a:effectLst/>
                <a:uFillTx/>
                <a:latin typeface="Consolas"/>
                <a:ea typeface="Consolas"/>
              </a:rPr>
              <a:t> </a:t>
            </a:r>
            <a:r>
              <a:rPr lang="en-US" sz="1400" b="0" u="none" strike="noStrike">
                <a:effectLst/>
                <a:uFillTx/>
                <a:latin typeface="Consolas"/>
                <a:ea typeface="Consolas"/>
              </a:rPr>
              <a:t>FALSE, 94390</a:t>
            </a:r>
            <a:endParaRPr lang="fr-FR" sz="1400" b="0" u="none" strike="noStrike">
              <a:effectLst/>
              <a:uFillTx/>
              <a:latin typeface="Arial"/>
              <a:cs typeface="Arial"/>
            </a:endParaRPr>
          </a:p>
          <a:p>
            <a:pPr defTabSz="914400">
              <a:lnSpc>
                <a:spcPct val="100000"/>
              </a:lnSpc>
              <a:tabLst>
                <a:tab pos="0" algn="l"/>
              </a:tabLst>
            </a:pPr>
            <a:r>
              <a:rPr lang="en-US" sz="1400" b="0" u="none" strike="noStrike">
                <a:effectLst/>
                <a:uFillTx/>
                <a:latin typeface="Consolas"/>
                <a:ea typeface="Consolas"/>
              </a:rPr>
              <a:t>10 );</a:t>
            </a:r>
            <a:endParaRPr lang="fr-FR" sz="1400" b="0" u="none" strike="noStrike">
              <a:effectLst/>
              <a:uFillTx/>
              <a:latin typeface="Arial"/>
              <a:cs typeface="Arial"/>
            </a:endParaRPr>
          </a:p>
        </p:txBody>
      </p:sp>
      <p:sp>
        <p:nvSpPr>
          <p:cNvPr id="353" name="Text 10"/>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354" name="Text 11"/>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55"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356"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Exemples de requêtes SQL</a:t>
            </a:r>
            <a:endParaRPr lang="fr-FR" sz="2600" b="0" u="none" strike="noStrike">
              <a:solidFill>
                <a:srgbClr val="000000"/>
              </a:solidFill>
              <a:effectLst/>
              <a:uFillTx/>
              <a:latin typeface="Arial"/>
            </a:endParaRPr>
          </a:p>
        </p:txBody>
      </p:sp>
      <p:sp>
        <p:nvSpPr>
          <p:cNvPr id="357"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4748B"/>
                </a:solidFill>
                <a:effectLst/>
                <a:uFillTx/>
                <a:latin typeface="Aptos"/>
                <a:ea typeface="Aptos"/>
              </a:rPr>
              <a:t>Les questions suivantes montrent l'intérêt analytique de la base une fois les données chargées.</a:t>
            </a:r>
            <a:endParaRPr lang="fr-FR" sz="1050" b="0" u="none" strike="noStrike">
              <a:solidFill>
                <a:srgbClr val="000000"/>
              </a:solidFill>
              <a:effectLst/>
              <a:uFillTx/>
              <a:latin typeface="Arial"/>
            </a:endParaRPr>
          </a:p>
        </p:txBody>
      </p:sp>
      <p:sp>
        <p:nvSpPr>
          <p:cNvPr id="358"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359" name="Shape 4"/>
          <p:cNvSpPr/>
          <p:nvPr/>
        </p:nvSpPr>
        <p:spPr>
          <a:xfrm>
            <a:off x="685800" y="1417320"/>
            <a:ext cx="10972080" cy="5074200"/>
          </a:xfrm>
          <a:prstGeom prst="roundRect">
            <a:avLst>
              <a:gd name="adj" fmla="val 1441"/>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60" name="Text 5"/>
          <p:cNvSpPr/>
          <p:nvPr/>
        </p:nvSpPr>
        <p:spPr>
          <a:xfrm>
            <a:off x="987480" y="1683000"/>
            <a:ext cx="549216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900" b="1" u="none" strike="noStrike">
                <a:solidFill>
                  <a:srgbClr val="111827"/>
                </a:solidFill>
                <a:effectLst/>
                <a:uFillTx/>
                <a:latin typeface="Aptos"/>
              </a:rPr>
              <a:t>10 questions d'analyse retenues</a:t>
            </a:r>
            <a:endParaRPr lang="fr-FR" sz="1900" b="0" u="none" strike="noStrike">
              <a:solidFill>
                <a:srgbClr val="000000"/>
              </a:solidFill>
              <a:effectLst/>
              <a:uFillTx/>
              <a:latin typeface="Arial"/>
            </a:endParaRPr>
          </a:p>
        </p:txBody>
      </p:sp>
      <p:sp>
        <p:nvSpPr>
          <p:cNvPr id="361" name="Shape 6"/>
          <p:cNvSpPr/>
          <p:nvPr/>
        </p:nvSpPr>
        <p:spPr>
          <a:xfrm>
            <a:off x="1005840" y="224928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62" name="Text 7"/>
          <p:cNvSpPr/>
          <p:nvPr/>
        </p:nvSpPr>
        <p:spPr>
          <a:xfrm>
            <a:off x="1170360" y="2176200"/>
            <a:ext cx="42055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Nombre de stations PMR par département</a:t>
            </a:r>
            <a:endParaRPr lang="fr-FR" sz="1500" b="0" u="none" strike="noStrike">
              <a:solidFill>
                <a:srgbClr val="000000"/>
              </a:solidFill>
              <a:effectLst/>
              <a:uFillTx/>
              <a:latin typeface="Arial"/>
            </a:endParaRPr>
          </a:p>
        </p:txBody>
      </p:sp>
      <p:sp>
        <p:nvSpPr>
          <p:cNvPr id="363" name="Shape 8"/>
          <p:cNvSpPr/>
          <p:nvPr/>
        </p:nvSpPr>
        <p:spPr>
          <a:xfrm>
            <a:off x="1005840" y="277992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64" name="Text 9"/>
          <p:cNvSpPr/>
          <p:nvPr/>
        </p:nvSpPr>
        <p:spPr>
          <a:xfrm>
            <a:off x="1170360" y="2706480"/>
            <a:ext cx="42055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Temps de trajet moyen par ligne</a:t>
            </a:r>
            <a:endParaRPr lang="fr-FR" sz="1500" b="0" u="none" strike="noStrike">
              <a:solidFill>
                <a:srgbClr val="000000"/>
              </a:solidFill>
              <a:effectLst/>
              <a:uFillTx/>
              <a:latin typeface="Arial"/>
            </a:endParaRPr>
          </a:p>
        </p:txBody>
      </p:sp>
      <p:sp>
        <p:nvSpPr>
          <p:cNvPr id="365" name="Shape 10"/>
          <p:cNvSpPr/>
          <p:nvPr/>
        </p:nvSpPr>
        <p:spPr>
          <a:xfrm>
            <a:off x="1005840" y="331020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66" name="Text 11"/>
          <p:cNvSpPr/>
          <p:nvPr/>
        </p:nvSpPr>
        <p:spPr>
          <a:xfrm>
            <a:off x="1170360" y="3237120"/>
            <a:ext cx="42055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Lignes avec le plus de retard</a:t>
            </a:r>
            <a:endParaRPr lang="fr-FR" sz="1500" b="0" u="none" strike="noStrike">
              <a:solidFill>
                <a:srgbClr val="000000"/>
              </a:solidFill>
              <a:effectLst/>
              <a:uFillTx/>
              <a:latin typeface="Arial"/>
            </a:endParaRPr>
          </a:p>
        </p:txBody>
      </p:sp>
      <p:sp>
        <p:nvSpPr>
          <p:cNvPr id="367" name="Shape 12"/>
          <p:cNvSpPr/>
          <p:nvPr/>
        </p:nvSpPr>
        <p:spPr>
          <a:xfrm>
            <a:off x="1005840" y="384048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68" name="Text 13"/>
          <p:cNvSpPr/>
          <p:nvPr/>
        </p:nvSpPr>
        <p:spPr>
          <a:xfrm>
            <a:off x="1170360" y="3767400"/>
            <a:ext cx="42055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Stations avec le plus de passages par jour</a:t>
            </a:r>
            <a:endParaRPr lang="fr-FR" sz="1500" b="0" u="none" strike="noStrike">
              <a:solidFill>
                <a:srgbClr val="000000"/>
              </a:solidFill>
              <a:effectLst/>
              <a:uFillTx/>
              <a:latin typeface="Arial"/>
            </a:endParaRPr>
          </a:p>
        </p:txBody>
      </p:sp>
      <p:sp>
        <p:nvSpPr>
          <p:cNvPr id="369" name="Shape 14"/>
          <p:cNvSpPr/>
          <p:nvPr/>
        </p:nvSpPr>
        <p:spPr>
          <a:xfrm>
            <a:off x="1005840" y="4370760"/>
            <a:ext cx="90720" cy="9072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70" name="Text 15"/>
          <p:cNvSpPr/>
          <p:nvPr/>
        </p:nvSpPr>
        <p:spPr>
          <a:xfrm>
            <a:off x="1170360" y="4297680"/>
            <a:ext cx="420552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Lignes les plus rapides en moyenne</a:t>
            </a:r>
            <a:endParaRPr lang="fr-FR" sz="1500" b="0" u="none" strike="noStrike">
              <a:solidFill>
                <a:srgbClr val="000000"/>
              </a:solidFill>
              <a:effectLst/>
              <a:uFillTx/>
              <a:latin typeface="Arial"/>
            </a:endParaRPr>
          </a:p>
        </p:txBody>
      </p:sp>
      <p:sp>
        <p:nvSpPr>
          <p:cNvPr id="371" name="Shape 16"/>
          <p:cNvSpPr/>
          <p:nvPr/>
        </p:nvSpPr>
        <p:spPr>
          <a:xfrm>
            <a:off x="6172200" y="224928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72" name="Text 17"/>
          <p:cNvSpPr/>
          <p:nvPr/>
        </p:nvSpPr>
        <p:spPr>
          <a:xfrm>
            <a:off x="6336720" y="2176200"/>
            <a:ext cx="43884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Nombre de stations par ligne</a:t>
            </a:r>
            <a:endParaRPr lang="fr-FR" sz="1500" b="0" u="none" strike="noStrike">
              <a:solidFill>
                <a:srgbClr val="000000"/>
              </a:solidFill>
              <a:effectLst/>
              <a:uFillTx/>
              <a:latin typeface="Arial"/>
            </a:endParaRPr>
          </a:p>
        </p:txBody>
      </p:sp>
      <p:sp>
        <p:nvSpPr>
          <p:cNvPr id="373" name="Shape 18"/>
          <p:cNvSpPr/>
          <p:nvPr/>
        </p:nvSpPr>
        <p:spPr>
          <a:xfrm>
            <a:off x="6172200" y="277992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74" name="Text 19"/>
          <p:cNvSpPr/>
          <p:nvPr/>
        </p:nvSpPr>
        <p:spPr>
          <a:xfrm>
            <a:off x="6336720" y="2706480"/>
            <a:ext cx="43884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Stations avec le plus de correspondances</a:t>
            </a:r>
            <a:endParaRPr lang="fr-FR" sz="1500" b="0" u="none" strike="noStrike">
              <a:solidFill>
                <a:srgbClr val="000000"/>
              </a:solidFill>
              <a:effectLst/>
              <a:uFillTx/>
              <a:latin typeface="Arial"/>
            </a:endParaRPr>
          </a:p>
        </p:txBody>
      </p:sp>
      <p:sp>
        <p:nvSpPr>
          <p:cNvPr id="375" name="Shape 20"/>
          <p:cNvSpPr/>
          <p:nvPr/>
        </p:nvSpPr>
        <p:spPr>
          <a:xfrm>
            <a:off x="6172200" y="331020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76" name="Text 21"/>
          <p:cNvSpPr/>
          <p:nvPr/>
        </p:nvSpPr>
        <p:spPr>
          <a:xfrm>
            <a:off x="6336720" y="3237120"/>
            <a:ext cx="43884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Lignes avec le plus de stations PMR</a:t>
            </a:r>
            <a:endParaRPr lang="fr-FR" sz="1500" b="0" u="none" strike="noStrike">
              <a:solidFill>
                <a:srgbClr val="000000"/>
              </a:solidFill>
              <a:effectLst/>
              <a:uFillTx/>
              <a:latin typeface="Arial"/>
            </a:endParaRPr>
          </a:p>
        </p:txBody>
      </p:sp>
      <p:sp>
        <p:nvSpPr>
          <p:cNvPr id="377" name="Shape 22"/>
          <p:cNvSpPr/>
          <p:nvPr/>
        </p:nvSpPr>
        <p:spPr>
          <a:xfrm>
            <a:off x="6172200" y="384048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78" name="Text 23"/>
          <p:cNvSpPr/>
          <p:nvPr/>
        </p:nvSpPr>
        <p:spPr>
          <a:xfrm>
            <a:off x="6336720" y="3767400"/>
            <a:ext cx="43884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Heures de début et de fin de service</a:t>
            </a:r>
            <a:endParaRPr lang="fr-FR" sz="1500" b="0" u="none" strike="noStrike">
              <a:solidFill>
                <a:srgbClr val="000000"/>
              </a:solidFill>
              <a:effectLst/>
              <a:uFillTx/>
              <a:latin typeface="Arial"/>
            </a:endParaRPr>
          </a:p>
        </p:txBody>
      </p:sp>
      <p:sp>
        <p:nvSpPr>
          <p:cNvPr id="379" name="Shape 24"/>
          <p:cNvSpPr/>
          <p:nvPr/>
        </p:nvSpPr>
        <p:spPr>
          <a:xfrm>
            <a:off x="6172200" y="4370760"/>
            <a:ext cx="90720" cy="9072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FFFFFF"/>
              </a:solidFill>
              <a:effectLst/>
              <a:uFillTx/>
              <a:latin typeface="Arial"/>
            </a:endParaRPr>
          </a:p>
        </p:txBody>
      </p:sp>
      <p:sp>
        <p:nvSpPr>
          <p:cNvPr id="380" name="Text 25"/>
          <p:cNvSpPr/>
          <p:nvPr/>
        </p:nvSpPr>
        <p:spPr>
          <a:xfrm>
            <a:off x="6336720" y="4297680"/>
            <a:ext cx="438840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a:solidFill>
                  <a:srgbClr val="374151"/>
                </a:solidFill>
                <a:effectLst/>
                <a:uFillTx/>
                <a:latin typeface="Aptos"/>
              </a:rPr>
              <a:t>Temps moyen entre stations d'une ligne</a:t>
            </a:r>
            <a:endParaRPr lang="fr-FR" sz="1500" b="0" u="none" strike="noStrike">
              <a:solidFill>
                <a:srgbClr val="000000"/>
              </a:solidFill>
              <a:effectLst/>
              <a:uFillTx/>
              <a:latin typeface="Arial"/>
            </a:endParaRPr>
          </a:p>
        </p:txBody>
      </p:sp>
      <p:sp>
        <p:nvSpPr>
          <p:cNvPr id="381" name="Shape 26"/>
          <p:cNvSpPr/>
          <p:nvPr/>
        </p:nvSpPr>
        <p:spPr>
          <a:xfrm>
            <a:off x="960120" y="5257800"/>
            <a:ext cx="10377720" cy="776520"/>
          </a:xfrm>
          <a:prstGeom prst="roundRect">
            <a:avLst>
              <a:gd name="adj" fmla="val 4706"/>
            </a:avLst>
          </a:prstGeom>
          <a:solidFill>
            <a:srgbClr val="EFF6FF"/>
          </a:solidFill>
          <a:ln w="12700">
            <a:solidFill>
              <a:srgbClr val="BFDBF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82" name="Text 27"/>
          <p:cNvSpPr/>
          <p:nvPr/>
        </p:nvSpPr>
        <p:spPr>
          <a:xfrm>
            <a:off x="1234440" y="5513760"/>
            <a:ext cx="9829080" cy="218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400" b="0" u="none" strike="noStrike">
                <a:solidFill>
                  <a:srgbClr val="1E40AF"/>
                </a:solidFill>
                <a:effectLst/>
                <a:uFillTx/>
                <a:latin typeface="Aptos"/>
              </a:rPr>
              <a:t>Ces requêtes servent ensuite de base à l'interprétation des résultats et à la construction de graphiques dans la vidéo.</a:t>
            </a:r>
            <a:endParaRPr lang="fr-FR" sz="1400" b="0" u="none" strike="noStrike">
              <a:solidFill>
                <a:srgbClr val="000000"/>
              </a:solidFill>
              <a:effectLst/>
              <a:uFillTx/>
              <a:latin typeface="Arial"/>
            </a:endParaRPr>
          </a:p>
        </p:txBody>
      </p:sp>
      <p:sp>
        <p:nvSpPr>
          <p:cNvPr id="383" name="Text 28"/>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384" name="Text 29"/>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85"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386"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Premiers indicateurs visuels</a:t>
            </a:r>
            <a:endParaRPr lang="fr-FR" sz="2600" b="0" u="none" strike="noStrike">
              <a:solidFill>
                <a:srgbClr val="000000"/>
              </a:solidFill>
              <a:effectLst/>
              <a:uFillTx/>
              <a:latin typeface="Arial"/>
            </a:endParaRPr>
          </a:p>
        </p:txBody>
      </p:sp>
      <p:sp>
        <p:nvSpPr>
          <p:cNvPr id="387"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4748B"/>
                </a:solidFill>
                <a:effectLst/>
                <a:uFillTx/>
                <a:latin typeface="Aptos"/>
                <a:ea typeface="Aptos"/>
              </a:rPr>
              <a:t>À partir des scripts d'insertion, on peut déjà produire quelques lectures simples du jeu de données.</a:t>
            </a:r>
            <a:endParaRPr lang="fr-FR" sz="1050" b="0" u="none" strike="noStrike">
              <a:solidFill>
                <a:srgbClr val="000000"/>
              </a:solidFill>
              <a:effectLst/>
              <a:uFillTx/>
              <a:latin typeface="Arial"/>
            </a:endParaRPr>
          </a:p>
        </p:txBody>
      </p:sp>
      <p:sp>
        <p:nvSpPr>
          <p:cNvPr id="388"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389" name="Shape 4"/>
          <p:cNvSpPr/>
          <p:nvPr/>
        </p:nvSpPr>
        <p:spPr>
          <a:xfrm>
            <a:off x="685800" y="1417320"/>
            <a:ext cx="6720120" cy="4845600"/>
          </a:xfrm>
          <a:prstGeom prst="roundRect">
            <a:avLst>
              <a:gd name="adj" fmla="val 1509"/>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90" name="Shape 5"/>
          <p:cNvSpPr/>
          <p:nvPr/>
        </p:nvSpPr>
        <p:spPr>
          <a:xfrm>
            <a:off x="7635240" y="1417320"/>
            <a:ext cx="3885480" cy="4845600"/>
          </a:xfrm>
          <a:prstGeom prst="roundRect">
            <a:avLst>
              <a:gd name="adj" fmla="val 1882"/>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391" name="Text 6"/>
          <p:cNvSpPr/>
          <p:nvPr/>
        </p:nvSpPr>
        <p:spPr>
          <a:xfrm>
            <a:off x="932760" y="1691640"/>
            <a:ext cx="347400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Stations desservies par ligne (top 8)</a:t>
            </a:r>
            <a:endParaRPr lang="fr-FR" sz="1800" b="0" u="none" strike="noStrike">
              <a:solidFill>
                <a:srgbClr val="000000"/>
              </a:solidFill>
              <a:effectLst/>
              <a:uFillTx/>
              <a:latin typeface="Arial"/>
            </a:endParaRPr>
          </a:p>
        </p:txBody>
      </p:sp>
      <p:pic>
        <p:nvPicPr>
          <p:cNvPr id="392" name="Image 0" descr="preencoded.png"/>
          <p:cNvPicPr/>
          <p:nvPr/>
        </p:nvPicPr>
        <p:blipFill>
          <a:blip>
            <a:extLst>
              <a:ext uri="{96DAC541-7B7A-43D3-8B79-37D633B846F1}">
                <asvg:svgBlip xmlns:asvg="http://schemas.microsoft.com/office/drawing/2016/SVG/main" r:embed="rId3"/>
              </a:ext>
            </a:extLst>
          </a:blip>
          <a:stretch/>
        </p:blipFill>
        <p:spPr>
          <a:xfrm>
            <a:off x="932760" y="2113389"/>
            <a:ext cx="5961240" cy="3839760"/>
          </a:xfrm>
          <a:prstGeom prst="rect">
            <a:avLst/>
          </a:prstGeom>
          <a:noFill/>
          <a:ln w="0">
            <a:noFill/>
          </a:ln>
        </p:spPr>
      </p:pic>
      <p:sp>
        <p:nvSpPr>
          <p:cNvPr id="393" name="Text 8"/>
          <p:cNvSpPr/>
          <p:nvPr/>
        </p:nvSpPr>
        <p:spPr>
          <a:xfrm>
            <a:off x="7738200" y="1666440"/>
            <a:ext cx="2377440" cy="2005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50" b="1" u="none" strike="noStrike">
                <a:solidFill>
                  <a:srgbClr val="111827"/>
                </a:solidFill>
                <a:effectLst/>
                <a:uFillTx/>
                <a:latin typeface="Aptos"/>
              </a:rPr>
              <a:t>Lecture rapide</a:t>
            </a:r>
            <a:endParaRPr lang="fr-FR" sz="1550" b="0" u="none" strike="noStrike">
              <a:solidFill>
                <a:srgbClr val="000000"/>
              </a:solidFill>
              <a:effectLst/>
              <a:uFillTx/>
              <a:latin typeface="Arial"/>
            </a:endParaRPr>
          </a:p>
        </p:txBody>
      </p:sp>
      <p:sp>
        <p:nvSpPr>
          <p:cNvPr id="394" name="Text 9"/>
          <p:cNvSpPr/>
          <p:nvPr/>
        </p:nvSpPr>
        <p:spPr>
          <a:xfrm>
            <a:off x="7882200" y="5486400"/>
            <a:ext cx="3062520" cy="502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endParaRPr lang="fr-FR" sz="1800" b="0" u="none" strike="noStrike">
              <a:solidFill>
                <a:srgbClr val="000000"/>
              </a:solidFill>
              <a:effectLst/>
              <a:uFillTx/>
              <a:latin typeface="Arial"/>
            </a:endParaRPr>
          </a:p>
        </p:txBody>
      </p:sp>
      <p:sp>
        <p:nvSpPr>
          <p:cNvPr id="395" name="Text 10"/>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396" name="Text 11"/>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
        <p:nvSpPr>
          <p:cNvPr id="397" name="Rectangle 396"/>
          <p:cNvSpPr/>
          <p:nvPr/>
        </p:nvSpPr>
        <p:spPr>
          <a:xfrm>
            <a:off x="7704000" y="2088000"/>
            <a:ext cx="3635640" cy="232020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t">
            <a:spAutoFit/>
          </a:bodyPr>
          <a:lstStyle/>
          <a:p>
            <a:pPr>
              <a:lnSpc>
                <a:spcPct val="100000"/>
              </a:lnSpc>
            </a:pPr>
            <a:r>
              <a:rPr lang="fr-FR" sz="1400" b="0" u="none" strike="noStrike">
                <a:solidFill>
                  <a:srgbClr val="000000"/>
                </a:solidFill>
                <a:effectLst/>
                <a:uFillTx/>
                <a:latin typeface="Arial"/>
              </a:rPr>
              <a:t>Le jeu de données contient surtout des stations parisiennes </a:t>
            </a:r>
          </a:p>
          <a:p>
            <a:pPr>
              <a:lnSpc>
                <a:spcPct val="100000"/>
              </a:lnSpc>
            </a:pPr>
            <a:r>
              <a:rPr lang="fr-FR" sz="1400" b="0" u="none" strike="noStrike">
                <a:solidFill>
                  <a:srgbClr val="000000"/>
                </a:solidFill>
                <a:effectLst/>
                <a:uFillTx/>
                <a:latin typeface="Arial"/>
              </a:rPr>
              <a:t>Il inclut aussi des communes de petite couronne </a:t>
            </a:r>
          </a:p>
          <a:p>
            <a:pPr>
              <a:lnSpc>
                <a:spcPct val="100000"/>
              </a:lnSpc>
            </a:pPr>
            <a:r>
              <a:rPr lang="fr-FR" sz="1400" b="0" u="none" strike="noStrike">
                <a:solidFill>
                  <a:srgbClr val="000000"/>
                </a:solidFill>
                <a:effectLst/>
                <a:uFillTx/>
                <a:latin typeface="Arial"/>
              </a:rPr>
              <a:t>Les lignes 7, 8 et 9 figurent parmi les plus riches en dessertes</a:t>
            </a:r>
          </a:p>
          <a:p>
            <a:pPr>
              <a:lnSpc>
                <a:spcPct val="100000"/>
              </a:lnSpc>
            </a:pPr>
            <a:endParaRPr lang="fr-FR" sz="1400" b="0" u="none" strike="noStrike">
              <a:solidFill>
                <a:srgbClr val="000000"/>
              </a:solidFill>
              <a:effectLst/>
              <a:uFillTx/>
              <a:latin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7F8FC"/>
        </a:solidFill>
        <a:effectLst/>
      </p:bgPr>
    </p:bg>
    <p:spTree>
      <p:nvGrpSpPr>
        <p:cNvPr id="1" name=""/>
        <p:cNvGrpSpPr/>
        <p:nvPr/>
      </p:nvGrpSpPr>
      <p:grpSpPr>
        <a:xfrm>
          <a:off x="0" y="0"/>
          <a:ext cx="0" cy="0"/>
          <a:chOff x="0" y="0"/>
          <a:chExt cx="0" cy="0"/>
        </a:xfrm>
      </p:grpSpPr>
      <p:sp>
        <p:nvSpPr>
          <p:cNvPr id="398" name="Shape 0"/>
          <p:cNvSpPr/>
          <p:nvPr/>
        </p:nvSpPr>
        <p:spPr>
          <a:xfrm>
            <a:off x="0" y="0"/>
            <a:ext cx="12191040" cy="16380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399" name="Text 1"/>
          <p:cNvSpPr/>
          <p:nvPr/>
        </p:nvSpPr>
        <p:spPr>
          <a:xfrm>
            <a:off x="548640" y="347400"/>
            <a:ext cx="8046000" cy="4107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600" b="1" u="none" strike="noStrike">
                <a:solidFill>
                  <a:srgbClr val="111827"/>
                </a:solidFill>
                <a:effectLst/>
                <a:uFillTx/>
                <a:latin typeface="Aptos Display"/>
                <a:ea typeface="Aptos Display"/>
              </a:rPr>
              <a:t>Compétences mobilisées</a:t>
            </a:r>
            <a:endParaRPr lang="fr-FR" sz="2600" b="0" u="none" strike="noStrike">
              <a:solidFill>
                <a:srgbClr val="000000"/>
              </a:solidFill>
              <a:effectLst/>
              <a:uFillTx/>
              <a:latin typeface="Arial"/>
            </a:endParaRPr>
          </a:p>
        </p:txBody>
      </p:sp>
      <p:sp>
        <p:nvSpPr>
          <p:cNvPr id="400" name="Text 2"/>
          <p:cNvSpPr/>
          <p:nvPr/>
        </p:nvSpPr>
        <p:spPr>
          <a:xfrm>
            <a:off x="548640" y="768240"/>
            <a:ext cx="7863120" cy="2552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050" b="0" u="none" strike="noStrike">
                <a:solidFill>
                  <a:srgbClr val="64748B"/>
                </a:solidFill>
                <a:effectLst/>
                <a:uFillTx/>
                <a:latin typeface="Aptos"/>
                <a:ea typeface="Aptos"/>
              </a:rPr>
              <a:t>Le projet croise modélisation, SQL, automatisation et organisation du travail en équipe.</a:t>
            </a:r>
            <a:endParaRPr lang="fr-FR" sz="1050" b="0" u="none" strike="noStrike">
              <a:solidFill>
                <a:srgbClr val="000000"/>
              </a:solidFill>
              <a:effectLst/>
              <a:uFillTx/>
              <a:latin typeface="Arial"/>
            </a:endParaRPr>
          </a:p>
        </p:txBody>
      </p:sp>
      <p:sp>
        <p:nvSpPr>
          <p:cNvPr id="401" name="Shape 3"/>
          <p:cNvSpPr/>
          <p:nvPr/>
        </p:nvSpPr>
        <p:spPr>
          <a:xfrm>
            <a:off x="548640" y="1051560"/>
            <a:ext cx="11064240" cy="360"/>
          </a:xfrm>
          <a:prstGeom prst="line">
            <a:avLst/>
          </a:prstGeom>
          <a:ln w="12700">
            <a:solidFill>
              <a:srgbClr val="CBD5E1"/>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000000"/>
              </a:solidFill>
              <a:effectLst/>
              <a:uFillTx/>
              <a:latin typeface="Arial"/>
            </a:endParaRPr>
          </a:p>
        </p:txBody>
      </p:sp>
      <p:sp>
        <p:nvSpPr>
          <p:cNvPr id="402" name="Shape 4"/>
          <p:cNvSpPr/>
          <p:nvPr/>
        </p:nvSpPr>
        <p:spPr>
          <a:xfrm>
            <a:off x="777240" y="1463040"/>
            <a:ext cx="5119920" cy="1782360"/>
          </a:xfrm>
          <a:prstGeom prst="roundRect">
            <a:avLst>
              <a:gd name="adj" fmla="val 4103"/>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03" name="Shape 5"/>
          <p:cNvSpPr/>
          <p:nvPr/>
        </p:nvSpPr>
        <p:spPr>
          <a:xfrm>
            <a:off x="1051560" y="1774080"/>
            <a:ext cx="419760" cy="419760"/>
          </a:xfrm>
          <a:prstGeom prst="ellipse">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404" name="Text 6"/>
          <p:cNvSpPr/>
          <p:nvPr/>
        </p:nvSpPr>
        <p:spPr>
          <a:xfrm>
            <a:off x="1645920" y="1764720"/>
            <a:ext cx="3656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Modélisation relationnelle</a:t>
            </a:r>
            <a:endParaRPr lang="fr-FR" sz="1800" b="0" u="none" strike="noStrike">
              <a:solidFill>
                <a:srgbClr val="000000"/>
              </a:solidFill>
              <a:effectLst/>
              <a:uFillTx/>
              <a:latin typeface="Arial"/>
            </a:endParaRPr>
          </a:p>
        </p:txBody>
      </p:sp>
      <p:sp>
        <p:nvSpPr>
          <p:cNvPr id="405" name="Text 7"/>
          <p:cNvSpPr/>
          <p:nvPr/>
        </p:nvSpPr>
        <p:spPr>
          <a:xfrm>
            <a:off x="1645920" y="2130480"/>
            <a:ext cx="379404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Construire un schéma cohérent à partir d'un besoin client.</a:t>
            </a:r>
            <a:endParaRPr lang="fr-FR" sz="1420" b="0" u="none" strike="noStrike">
              <a:solidFill>
                <a:srgbClr val="000000"/>
              </a:solidFill>
              <a:effectLst/>
              <a:uFillTx/>
              <a:latin typeface="Arial"/>
            </a:endParaRPr>
          </a:p>
        </p:txBody>
      </p:sp>
      <p:sp>
        <p:nvSpPr>
          <p:cNvPr id="406" name="Shape 8"/>
          <p:cNvSpPr/>
          <p:nvPr/>
        </p:nvSpPr>
        <p:spPr>
          <a:xfrm>
            <a:off x="6309360" y="1463040"/>
            <a:ext cx="5119920" cy="1782360"/>
          </a:xfrm>
          <a:prstGeom prst="roundRect">
            <a:avLst>
              <a:gd name="adj" fmla="val 4103"/>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07" name="Shape 9"/>
          <p:cNvSpPr/>
          <p:nvPr/>
        </p:nvSpPr>
        <p:spPr>
          <a:xfrm>
            <a:off x="6583680" y="1774080"/>
            <a:ext cx="419760" cy="419760"/>
          </a:xfrm>
          <a:prstGeom prst="ellipse">
            <a:avLst/>
          </a:prstGeom>
          <a:solidFill>
            <a:srgbClr val="10B981"/>
          </a:solidFill>
          <a:ln w="12700">
            <a:solidFill>
              <a:srgbClr val="10B981"/>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08" name="Text 10"/>
          <p:cNvSpPr/>
          <p:nvPr/>
        </p:nvSpPr>
        <p:spPr>
          <a:xfrm>
            <a:off x="7178040" y="1764720"/>
            <a:ext cx="3656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PostgreSQL / SQL</a:t>
            </a:r>
            <a:endParaRPr lang="fr-FR" sz="1800" b="0" u="none" strike="noStrike">
              <a:solidFill>
                <a:srgbClr val="000000"/>
              </a:solidFill>
              <a:effectLst/>
              <a:uFillTx/>
              <a:latin typeface="Arial"/>
            </a:endParaRPr>
          </a:p>
        </p:txBody>
      </p:sp>
      <p:sp>
        <p:nvSpPr>
          <p:cNvPr id="409" name="Text 11"/>
          <p:cNvSpPr/>
          <p:nvPr/>
        </p:nvSpPr>
        <p:spPr>
          <a:xfrm>
            <a:off x="7178040" y="2130480"/>
            <a:ext cx="379404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Créer les tables, écrire les contraintes et produire les requêtes.</a:t>
            </a:r>
            <a:endParaRPr lang="fr-FR" sz="1420" b="0" u="none" strike="noStrike">
              <a:solidFill>
                <a:srgbClr val="000000"/>
              </a:solidFill>
              <a:effectLst/>
              <a:uFillTx/>
              <a:latin typeface="Arial"/>
            </a:endParaRPr>
          </a:p>
        </p:txBody>
      </p:sp>
      <p:sp>
        <p:nvSpPr>
          <p:cNvPr id="410" name="Shape 12"/>
          <p:cNvSpPr/>
          <p:nvPr/>
        </p:nvSpPr>
        <p:spPr>
          <a:xfrm>
            <a:off x="777240" y="3703320"/>
            <a:ext cx="5119920" cy="1782360"/>
          </a:xfrm>
          <a:prstGeom prst="roundRect">
            <a:avLst>
              <a:gd name="adj" fmla="val 4103"/>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11" name="Shape 13"/>
          <p:cNvSpPr/>
          <p:nvPr/>
        </p:nvSpPr>
        <p:spPr>
          <a:xfrm>
            <a:off x="1051560" y="4014360"/>
            <a:ext cx="419760" cy="419760"/>
          </a:xfrm>
          <a:prstGeom prst="ellipse">
            <a:avLst/>
          </a:prstGeom>
          <a:solidFill>
            <a:srgbClr val="8B5CF6"/>
          </a:solidFill>
          <a:ln w="12700">
            <a:solidFill>
              <a:srgbClr val="8B5CF6"/>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412" name="Text 14"/>
          <p:cNvSpPr/>
          <p:nvPr/>
        </p:nvSpPr>
        <p:spPr>
          <a:xfrm>
            <a:off x="1645920" y="4005000"/>
            <a:ext cx="3656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Automatisation</a:t>
            </a:r>
            <a:endParaRPr lang="fr-FR" sz="1800" b="0" u="none" strike="noStrike">
              <a:solidFill>
                <a:srgbClr val="000000"/>
              </a:solidFill>
              <a:effectLst/>
              <a:uFillTx/>
              <a:latin typeface="Arial"/>
            </a:endParaRPr>
          </a:p>
        </p:txBody>
      </p:sp>
      <p:sp>
        <p:nvSpPr>
          <p:cNvPr id="413" name="Text 15"/>
          <p:cNvSpPr/>
          <p:nvPr/>
        </p:nvSpPr>
        <p:spPr>
          <a:xfrm>
            <a:off x="1645920" y="4370760"/>
            <a:ext cx="379404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Préparer des scripts pour générer ou nettoyer les données.</a:t>
            </a:r>
            <a:endParaRPr lang="fr-FR" sz="1420" b="0" u="none" strike="noStrike">
              <a:solidFill>
                <a:srgbClr val="000000"/>
              </a:solidFill>
              <a:effectLst/>
              <a:uFillTx/>
              <a:latin typeface="Arial"/>
            </a:endParaRPr>
          </a:p>
        </p:txBody>
      </p:sp>
      <p:sp>
        <p:nvSpPr>
          <p:cNvPr id="414" name="Shape 16"/>
          <p:cNvSpPr/>
          <p:nvPr/>
        </p:nvSpPr>
        <p:spPr>
          <a:xfrm>
            <a:off x="6309360" y="3703320"/>
            <a:ext cx="5119920" cy="1782360"/>
          </a:xfrm>
          <a:prstGeom prst="roundRect">
            <a:avLst>
              <a:gd name="adj" fmla="val 4103"/>
            </a:avLst>
          </a:prstGeom>
          <a:solidFill>
            <a:srgbClr val="FFFFFF"/>
          </a:solidFill>
          <a:ln w="12700">
            <a:solidFill>
              <a:srgbClr val="E2E8F0"/>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15" name="Shape 17"/>
          <p:cNvSpPr/>
          <p:nvPr/>
        </p:nvSpPr>
        <p:spPr>
          <a:xfrm>
            <a:off x="6583680" y="4014360"/>
            <a:ext cx="419760" cy="419760"/>
          </a:xfrm>
          <a:prstGeom prst="ellipse">
            <a:avLst/>
          </a:prstGeom>
          <a:solidFill>
            <a:srgbClr val="F59E0B"/>
          </a:solidFill>
          <a:ln w="12700">
            <a:solidFill>
              <a:srgbClr val="F59E0B"/>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16" name="Text 18"/>
          <p:cNvSpPr/>
          <p:nvPr/>
        </p:nvSpPr>
        <p:spPr>
          <a:xfrm>
            <a:off x="7178040" y="4005000"/>
            <a:ext cx="36568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1" u="none" strike="noStrike">
                <a:solidFill>
                  <a:srgbClr val="111827"/>
                </a:solidFill>
                <a:effectLst/>
                <a:uFillTx/>
                <a:latin typeface="Aptos"/>
              </a:rPr>
              <a:t>Collaboration</a:t>
            </a:r>
            <a:endParaRPr lang="fr-FR" sz="1800" b="0" u="none" strike="noStrike">
              <a:solidFill>
                <a:srgbClr val="000000"/>
              </a:solidFill>
              <a:effectLst/>
              <a:uFillTx/>
              <a:latin typeface="Arial"/>
            </a:endParaRPr>
          </a:p>
        </p:txBody>
      </p:sp>
      <p:sp>
        <p:nvSpPr>
          <p:cNvPr id="417" name="Text 19"/>
          <p:cNvSpPr/>
          <p:nvPr/>
        </p:nvSpPr>
        <p:spPr>
          <a:xfrm>
            <a:off x="7178040" y="4370760"/>
            <a:ext cx="3794040" cy="54792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420" b="0" u="none" strike="noStrike">
                <a:solidFill>
                  <a:srgbClr val="374151"/>
                </a:solidFill>
                <a:effectLst/>
                <a:uFillTx/>
                <a:latin typeface="Aptos"/>
              </a:rPr>
              <a:t>Travailler à plusieurs avec versionning et suivi des modifications.</a:t>
            </a:r>
            <a:endParaRPr lang="fr-FR" sz="1420" b="0" u="none" strike="noStrike">
              <a:solidFill>
                <a:srgbClr val="000000"/>
              </a:solidFill>
              <a:effectLst/>
              <a:uFillTx/>
              <a:latin typeface="Arial"/>
            </a:endParaRPr>
          </a:p>
        </p:txBody>
      </p:sp>
      <p:sp>
        <p:nvSpPr>
          <p:cNvPr id="418" name="Shape 20"/>
          <p:cNvSpPr/>
          <p:nvPr/>
        </p:nvSpPr>
        <p:spPr>
          <a:xfrm>
            <a:off x="1005840" y="5669280"/>
            <a:ext cx="10057680" cy="450360"/>
          </a:xfrm>
          <a:prstGeom prst="roundRect">
            <a:avLst>
              <a:gd name="adj" fmla="val 8889"/>
            </a:avLst>
          </a:prstGeom>
          <a:solidFill>
            <a:srgbClr val="ECFEFF"/>
          </a:solidFill>
          <a:ln w="12700">
            <a:solidFill>
              <a:srgbClr val="A5F3FC"/>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19" name="Text 21"/>
          <p:cNvSpPr/>
          <p:nvPr/>
        </p:nvSpPr>
        <p:spPr>
          <a:xfrm>
            <a:off x="1234440" y="5815080"/>
            <a:ext cx="960048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350" b="0" u="none" strike="noStrike">
                <a:solidFill>
                  <a:srgbClr val="155E75"/>
                </a:solidFill>
                <a:effectLst/>
                <a:uFillTx/>
                <a:latin typeface="Aptos"/>
              </a:rPr>
              <a:t>Le projet répond à la logique de la SAE : concevoir une base, l'alimenter, l'explorer et la présenter de manière claire.</a:t>
            </a:r>
            <a:endParaRPr lang="fr-FR" sz="1350" b="0" u="none" strike="noStrike">
              <a:solidFill>
                <a:srgbClr val="000000"/>
              </a:solidFill>
              <a:effectLst/>
              <a:uFillTx/>
              <a:latin typeface="Arial"/>
            </a:endParaRPr>
          </a:p>
        </p:txBody>
      </p:sp>
      <p:sp>
        <p:nvSpPr>
          <p:cNvPr id="420" name="Text 22"/>
          <p:cNvSpPr/>
          <p:nvPr/>
        </p:nvSpPr>
        <p:spPr>
          <a:xfrm>
            <a:off x="548640" y="6519600"/>
            <a:ext cx="383976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000000"/>
              </a:solidFill>
              <a:effectLst/>
              <a:uFillTx/>
              <a:latin typeface="Arial"/>
            </a:endParaRPr>
          </a:p>
        </p:txBody>
      </p:sp>
      <p:sp>
        <p:nvSpPr>
          <p:cNvPr id="421" name="Text 23"/>
          <p:cNvSpPr/>
          <p:nvPr/>
        </p:nvSpPr>
        <p:spPr>
          <a:xfrm>
            <a:off x="10424160" y="6519600"/>
            <a:ext cx="1188000" cy="1364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000000"/>
              </a:solidFill>
              <a:effectLst/>
              <a:uFillTx/>
              <a:latin typeface="Arial"/>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11827"/>
        </a:solidFill>
        <a:effectLst/>
      </p:bgPr>
    </p:bg>
    <p:spTree>
      <p:nvGrpSpPr>
        <p:cNvPr id="1" name=""/>
        <p:cNvGrpSpPr/>
        <p:nvPr/>
      </p:nvGrpSpPr>
      <p:grpSpPr>
        <a:xfrm>
          <a:off x="0" y="0"/>
          <a:ext cx="0" cy="0"/>
          <a:chOff x="0" y="0"/>
          <a:chExt cx="0" cy="0"/>
        </a:xfrm>
      </p:grpSpPr>
      <p:sp>
        <p:nvSpPr>
          <p:cNvPr id="422" name="Shape 0"/>
          <p:cNvSpPr/>
          <p:nvPr/>
        </p:nvSpPr>
        <p:spPr>
          <a:xfrm>
            <a:off x="0" y="0"/>
            <a:ext cx="12191040" cy="182160"/>
          </a:xfrm>
          <a:prstGeom prst="rect">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423" name="Shape 1"/>
          <p:cNvSpPr/>
          <p:nvPr/>
        </p:nvSpPr>
        <p:spPr>
          <a:xfrm>
            <a:off x="0" y="6355080"/>
            <a:ext cx="12252960" cy="360"/>
          </a:xfrm>
          <a:prstGeom prst="line">
            <a:avLst/>
          </a:prstGeom>
          <a:ln w="12700">
            <a:solidFill>
              <a:srgbClr val="334155"/>
            </a:solidFill>
            <a:round/>
          </a:ln>
        </p:spPr>
        <p:style>
          <a:lnRef idx="0">
            <a:scrgbClr r="0" g="0" b="0"/>
          </a:lnRef>
          <a:fillRef idx="0">
            <a:scrgbClr r="0" g="0" b="0"/>
          </a:fillRef>
          <a:effectRef idx="0">
            <a:scrgbClr r="0" g="0" b="0"/>
          </a:effectRef>
          <a:fontRef idx="minor"/>
        </p:style>
        <p:txBody>
          <a:bodyPr lIns="90000" tIns="-44640" rIns="90000" bIns="-44640" anchor="t" anchorCtr="1">
            <a:noAutofit/>
          </a:bodyPr>
          <a:lstStyle/>
          <a:p>
            <a:endParaRPr lang="fr-FR" sz="1800" b="0" u="none" strike="noStrike">
              <a:solidFill>
                <a:srgbClr val="FFFFFF"/>
              </a:solidFill>
              <a:effectLst/>
              <a:uFillTx/>
              <a:latin typeface="Arial"/>
            </a:endParaRPr>
          </a:p>
        </p:txBody>
      </p:sp>
      <p:sp>
        <p:nvSpPr>
          <p:cNvPr id="424" name="Shape 2"/>
          <p:cNvSpPr/>
          <p:nvPr/>
        </p:nvSpPr>
        <p:spPr>
          <a:xfrm>
            <a:off x="868680" y="640080"/>
            <a:ext cx="346680" cy="255240"/>
          </a:xfrm>
          <a:prstGeom prst="roundRect">
            <a:avLst>
              <a:gd name="adj" fmla="val 17857"/>
            </a:avLst>
          </a:prstGeom>
          <a:solidFill>
            <a:srgbClr val="FFBE00"/>
          </a:solidFill>
          <a:ln w="12700">
            <a:solidFill>
              <a:srgbClr val="FFBE00"/>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25" name="Text 3"/>
          <p:cNvSpPr/>
          <p:nvPr/>
        </p:nvSpPr>
        <p:spPr>
          <a:xfrm>
            <a:off x="868680" y="685080"/>
            <a:ext cx="3466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Aptos"/>
              </a:rPr>
              <a:t>1</a:t>
            </a:r>
            <a:endParaRPr lang="fr-FR" sz="1100" b="0" u="none" strike="noStrike">
              <a:solidFill>
                <a:srgbClr val="FFFFFF"/>
              </a:solidFill>
              <a:effectLst/>
              <a:uFillTx/>
              <a:latin typeface="Arial"/>
            </a:endParaRPr>
          </a:p>
        </p:txBody>
      </p:sp>
      <p:sp>
        <p:nvSpPr>
          <p:cNvPr id="426" name="Shape 4"/>
          <p:cNvSpPr/>
          <p:nvPr/>
        </p:nvSpPr>
        <p:spPr>
          <a:xfrm>
            <a:off x="1307520" y="640080"/>
            <a:ext cx="346680" cy="255240"/>
          </a:xfrm>
          <a:prstGeom prst="roundRect">
            <a:avLst>
              <a:gd name="adj" fmla="val 17857"/>
            </a:avLst>
          </a:prstGeom>
          <a:solidFill>
            <a:srgbClr val="CF009E"/>
          </a:solidFill>
          <a:ln w="12700">
            <a:solidFill>
              <a:srgbClr val="CF009E"/>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427" name="Text 5"/>
          <p:cNvSpPr/>
          <p:nvPr/>
        </p:nvSpPr>
        <p:spPr>
          <a:xfrm>
            <a:off x="1307520" y="685080"/>
            <a:ext cx="3466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Aptos"/>
              </a:rPr>
              <a:t>4</a:t>
            </a:r>
            <a:endParaRPr lang="fr-FR" sz="1100" b="0" u="none" strike="noStrike">
              <a:solidFill>
                <a:srgbClr val="FFFFFF"/>
              </a:solidFill>
              <a:effectLst/>
              <a:uFillTx/>
              <a:latin typeface="Arial"/>
            </a:endParaRPr>
          </a:p>
        </p:txBody>
      </p:sp>
      <p:sp>
        <p:nvSpPr>
          <p:cNvPr id="428" name="Shape 6"/>
          <p:cNvSpPr/>
          <p:nvPr/>
        </p:nvSpPr>
        <p:spPr>
          <a:xfrm>
            <a:off x="1746360" y="640080"/>
            <a:ext cx="346680" cy="255240"/>
          </a:xfrm>
          <a:prstGeom prst="roundRect">
            <a:avLst>
              <a:gd name="adj" fmla="val 17857"/>
            </a:avLst>
          </a:prstGeom>
          <a:solidFill>
            <a:srgbClr val="FA9ABA"/>
          </a:solidFill>
          <a:ln w="12700">
            <a:solidFill>
              <a:srgbClr val="FA9ABA"/>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29" name="Text 7"/>
          <p:cNvSpPr/>
          <p:nvPr/>
        </p:nvSpPr>
        <p:spPr>
          <a:xfrm>
            <a:off x="1746360" y="685080"/>
            <a:ext cx="3466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Aptos"/>
              </a:rPr>
              <a:t>7</a:t>
            </a:r>
            <a:endParaRPr lang="fr-FR" sz="1100" b="0" u="none" strike="noStrike">
              <a:solidFill>
                <a:srgbClr val="FFFFFF"/>
              </a:solidFill>
              <a:effectLst/>
              <a:uFillTx/>
              <a:latin typeface="Arial"/>
            </a:endParaRPr>
          </a:p>
        </p:txBody>
      </p:sp>
      <p:sp>
        <p:nvSpPr>
          <p:cNvPr id="430" name="Shape 8"/>
          <p:cNvSpPr/>
          <p:nvPr/>
        </p:nvSpPr>
        <p:spPr>
          <a:xfrm>
            <a:off x="2185560" y="640080"/>
            <a:ext cx="346680" cy="255240"/>
          </a:xfrm>
          <a:prstGeom prst="roundRect">
            <a:avLst>
              <a:gd name="adj" fmla="val 17857"/>
            </a:avLst>
          </a:prstGeom>
          <a:solidFill>
            <a:srgbClr val="E19BDF"/>
          </a:solidFill>
          <a:ln w="12700">
            <a:solidFill>
              <a:srgbClr val="E19BDF"/>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000000"/>
              </a:solidFill>
              <a:effectLst/>
              <a:uFillTx/>
              <a:latin typeface="Arial"/>
            </a:endParaRPr>
          </a:p>
        </p:txBody>
      </p:sp>
      <p:sp>
        <p:nvSpPr>
          <p:cNvPr id="431" name="Text 9"/>
          <p:cNvSpPr/>
          <p:nvPr/>
        </p:nvSpPr>
        <p:spPr>
          <a:xfrm>
            <a:off x="2185560" y="685080"/>
            <a:ext cx="3466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Aptos"/>
              </a:rPr>
              <a:t>8</a:t>
            </a:r>
            <a:endParaRPr lang="fr-FR" sz="1100" b="0" u="none" strike="noStrike">
              <a:solidFill>
                <a:srgbClr val="FFFFFF"/>
              </a:solidFill>
              <a:effectLst/>
              <a:uFillTx/>
              <a:latin typeface="Arial"/>
            </a:endParaRPr>
          </a:p>
        </p:txBody>
      </p:sp>
      <p:sp>
        <p:nvSpPr>
          <p:cNvPr id="432" name="Shape 10"/>
          <p:cNvSpPr/>
          <p:nvPr/>
        </p:nvSpPr>
        <p:spPr>
          <a:xfrm>
            <a:off x="2624400" y="640080"/>
            <a:ext cx="346680" cy="255240"/>
          </a:xfrm>
          <a:prstGeom prst="roundRect">
            <a:avLst>
              <a:gd name="adj" fmla="val 17857"/>
            </a:avLst>
          </a:prstGeom>
          <a:solidFill>
            <a:srgbClr val="9F9825"/>
          </a:solidFill>
          <a:ln w="12700">
            <a:solidFill>
              <a:srgbClr val="9F9825"/>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endParaRPr lang="fr-FR" sz="1800" b="0" u="none" strike="noStrike">
              <a:solidFill>
                <a:srgbClr val="FFFFFF"/>
              </a:solidFill>
              <a:effectLst/>
              <a:uFillTx/>
              <a:latin typeface="Arial"/>
            </a:endParaRPr>
          </a:p>
        </p:txBody>
      </p:sp>
      <p:sp>
        <p:nvSpPr>
          <p:cNvPr id="433" name="Text 11"/>
          <p:cNvSpPr/>
          <p:nvPr/>
        </p:nvSpPr>
        <p:spPr>
          <a:xfrm>
            <a:off x="2624400" y="685080"/>
            <a:ext cx="3466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100" b="1" u="none" strike="noStrike">
                <a:solidFill>
                  <a:srgbClr val="FFFFFF"/>
                </a:solidFill>
                <a:effectLst/>
                <a:uFillTx/>
                <a:latin typeface="Aptos"/>
              </a:rPr>
              <a:t>9</a:t>
            </a:r>
            <a:endParaRPr lang="fr-FR" sz="1100" b="0" u="none" strike="noStrike">
              <a:solidFill>
                <a:srgbClr val="FFFFFF"/>
              </a:solidFill>
              <a:effectLst/>
              <a:uFillTx/>
              <a:latin typeface="Arial"/>
            </a:endParaRPr>
          </a:p>
        </p:txBody>
      </p:sp>
      <p:sp>
        <p:nvSpPr>
          <p:cNvPr id="434" name="Text 12"/>
          <p:cNvSpPr/>
          <p:nvPr/>
        </p:nvSpPr>
        <p:spPr>
          <a:xfrm>
            <a:off x="868680" y="1342440"/>
            <a:ext cx="2742480" cy="36504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800" b="1" u="none" strike="noStrike">
                <a:solidFill>
                  <a:srgbClr val="FFFFFF"/>
                </a:solidFill>
                <a:effectLst/>
                <a:uFillTx/>
                <a:latin typeface="Aptos Display"/>
                <a:ea typeface="Aptos Display"/>
              </a:rPr>
              <a:t>Conclusion</a:t>
            </a:r>
            <a:endParaRPr lang="fr-FR" sz="2800" b="0" u="none" strike="noStrike">
              <a:solidFill>
                <a:srgbClr val="FFFFFF"/>
              </a:solidFill>
              <a:effectLst/>
              <a:uFillTx/>
              <a:latin typeface="Arial"/>
            </a:endParaRPr>
          </a:p>
        </p:txBody>
      </p:sp>
      <p:sp>
        <p:nvSpPr>
          <p:cNvPr id="435" name="Text 13"/>
          <p:cNvSpPr/>
          <p:nvPr/>
        </p:nvSpPr>
        <p:spPr>
          <a:xfrm>
            <a:off x="868680" y="2224800"/>
            <a:ext cx="6125760" cy="10965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800" b="0" u="none" strike="noStrike">
                <a:solidFill>
                  <a:srgbClr val="D7E1EE"/>
                </a:solidFill>
                <a:effectLst/>
                <a:uFillTx/>
                <a:latin typeface="Aptos"/>
              </a:rPr>
              <a:t>Notre projet propose une base relationnelle simple et cohérente sur le métro parisien.</a:t>
            </a:r>
            <a:endParaRPr lang="fr-FR" sz="1800" b="0" u="none" strike="noStrike">
              <a:solidFill>
                <a:srgbClr val="FFFFFF"/>
              </a:solidFill>
              <a:effectLst/>
              <a:uFillTx/>
              <a:latin typeface="Arial"/>
            </a:endParaRPr>
          </a:p>
          <a:p>
            <a:pPr defTabSz="914400">
              <a:lnSpc>
                <a:spcPct val="100000"/>
              </a:lnSpc>
              <a:tabLst>
                <a:tab pos="0" algn="l"/>
              </a:tabLst>
            </a:pPr>
            <a:r>
              <a:rPr lang="en-US" sz="1800" b="0" u="none" strike="noStrike">
                <a:solidFill>
                  <a:srgbClr val="D7E1EE"/>
                </a:solidFill>
                <a:effectLst/>
                <a:uFillTx/>
                <a:latin typeface="Aptos"/>
              </a:rPr>
              <a:t>Il répond à une demande fictive de la RATP et illustre toutes les étapes de la SAE : besoin client, modélisation, script SQL, données, requêtes et visualisation.</a:t>
            </a:r>
            <a:endParaRPr lang="fr-FR" sz="1800" b="0" u="none" strike="noStrike">
              <a:solidFill>
                <a:srgbClr val="FFFFFF"/>
              </a:solidFill>
              <a:effectLst/>
              <a:uFillTx/>
              <a:latin typeface="Arial"/>
            </a:endParaRPr>
          </a:p>
        </p:txBody>
      </p:sp>
      <p:sp>
        <p:nvSpPr>
          <p:cNvPr id="436" name="Shape 14"/>
          <p:cNvSpPr/>
          <p:nvPr/>
        </p:nvSpPr>
        <p:spPr>
          <a:xfrm>
            <a:off x="896040" y="4058640"/>
            <a:ext cx="90720" cy="90720"/>
          </a:xfrm>
          <a:prstGeom prst="ellipse">
            <a:avLst/>
          </a:prstGeom>
          <a:solidFill>
            <a:srgbClr val="38BDF8"/>
          </a:solidFill>
          <a:ln w="12700">
            <a:solidFill>
              <a:srgbClr val="38BDF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437" name="Text 15"/>
          <p:cNvSpPr/>
          <p:nvPr/>
        </p:nvSpPr>
        <p:spPr>
          <a:xfrm>
            <a:off x="1060560" y="4093560"/>
            <a:ext cx="54856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E5E7EB"/>
                </a:solidFill>
                <a:effectLst/>
                <a:uFillTx/>
                <a:latin typeface="Aptos"/>
              </a:rPr>
              <a:t>Base structurée autour des lignes, stations, trajets et passages</a:t>
            </a:r>
            <a:endParaRPr lang="fr-FR" sz="1600" b="0" u="none" strike="noStrike">
              <a:solidFill>
                <a:srgbClr val="FFFFFF"/>
              </a:solidFill>
              <a:effectLst/>
              <a:uFillTx/>
              <a:latin typeface="Arial"/>
            </a:endParaRPr>
          </a:p>
        </p:txBody>
      </p:sp>
      <p:sp>
        <p:nvSpPr>
          <p:cNvPr id="438" name="Shape 16"/>
          <p:cNvSpPr/>
          <p:nvPr/>
        </p:nvSpPr>
        <p:spPr>
          <a:xfrm>
            <a:off x="896040" y="4767840"/>
            <a:ext cx="90720" cy="90720"/>
          </a:xfrm>
          <a:prstGeom prst="ellipse">
            <a:avLst/>
          </a:prstGeom>
          <a:solidFill>
            <a:srgbClr val="38BDF8"/>
          </a:solidFill>
          <a:ln w="12700">
            <a:solidFill>
              <a:srgbClr val="38BDF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439" name="Text 17"/>
          <p:cNvSpPr/>
          <p:nvPr/>
        </p:nvSpPr>
        <p:spPr>
          <a:xfrm>
            <a:off x="1060560" y="4694760"/>
            <a:ext cx="54856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E5E7EB"/>
                </a:solidFill>
                <a:effectLst/>
                <a:uFillTx/>
                <a:latin typeface="Aptos"/>
              </a:rPr>
              <a:t>Travail d'équipe organisé avec GitHub</a:t>
            </a:r>
            <a:endParaRPr lang="fr-FR" sz="1600" b="0" u="none" strike="noStrike">
              <a:solidFill>
                <a:srgbClr val="FFFFFF"/>
              </a:solidFill>
              <a:effectLst/>
              <a:uFillTx/>
              <a:latin typeface="Arial"/>
            </a:endParaRPr>
          </a:p>
        </p:txBody>
      </p:sp>
      <p:sp>
        <p:nvSpPr>
          <p:cNvPr id="440" name="Shape 18"/>
          <p:cNvSpPr/>
          <p:nvPr/>
        </p:nvSpPr>
        <p:spPr>
          <a:xfrm>
            <a:off x="896040" y="5261040"/>
            <a:ext cx="90720" cy="90720"/>
          </a:xfrm>
          <a:prstGeom prst="ellipse">
            <a:avLst/>
          </a:prstGeom>
          <a:solidFill>
            <a:srgbClr val="38BDF8"/>
          </a:solidFill>
          <a:ln w="12700">
            <a:solidFill>
              <a:srgbClr val="38BDF8"/>
            </a:solidFill>
            <a:round/>
          </a:ln>
        </p:spPr>
        <p:style>
          <a:lnRef idx="0">
            <a:scrgbClr r="0" g="0" b="0"/>
          </a:lnRef>
          <a:fillRef idx="0">
            <a:scrgbClr r="0" g="0" b="0"/>
          </a:fillRef>
          <a:effectRef idx="0">
            <a:scrgbClr r="0" g="0" b="0"/>
          </a:effectRef>
          <a:fontRef idx="minor"/>
        </p:style>
        <p:txBody>
          <a:bodyPr lIns="90000" tIns="19440" rIns="90000" bIns="19440" anchor="t">
            <a:noAutofit/>
          </a:bodyPr>
          <a:lstStyle/>
          <a:p>
            <a:pPr>
              <a:lnSpc>
                <a:spcPct val="100000"/>
              </a:lnSpc>
            </a:pPr>
            <a:endParaRPr lang="fr-FR" sz="1800" b="0" u="none" strike="noStrike">
              <a:solidFill>
                <a:srgbClr val="000000"/>
              </a:solidFill>
              <a:effectLst/>
              <a:uFillTx/>
              <a:latin typeface="Arial"/>
            </a:endParaRPr>
          </a:p>
        </p:txBody>
      </p:sp>
      <p:sp>
        <p:nvSpPr>
          <p:cNvPr id="441" name="Text 19"/>
          <p:cNvSpPr/>
          <p:nvPr/>
        </p:nvSpPr>
        <p:spPr>
          <a:xfrm>
            <a:off x="1060560" y="5295960"/>
            <a:ext cx="5485680" cy="227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600" b="0" u="none" strike="noStrike">
                <a:solidFill>
                  <a:srgbClr val="E5E7EB"/>
                </a:solidFill>
                <a:effectLst/>
                <a:uFillTx/>
                <a:latin typeface="Aptos"/>
              </a:rPr>
              <a:t>Exploitation possible par requêtes SQL et graphiques</a:t>
            </a:r>
            <a:endParaRPr lang="fr-FR" sz="1600" b="0" u="none" strike="noStrike">
              <a:solidFill>
                <a:srgbClr val="FFFFFF"/>
              </a:solidFill>
              <a:effectLst/>
              <a:uFillTx/>
              <a:latin typeface="Arial"/>
            </a:endParaRPr>
          </a:p>
        </p:txBody>
      </p:sp>
      <p:sp>
        <p:nvSpPr>
          <p:cNvPr id="442" name="Shape 20"/>
          <p:cNvSpPr/>
          <p:nvPr/>
        </p:nvSpPr>
        <p:spPr>
          <a:xfrm>
            <a:off x="7360920" y="540000"/>
            <a:ext cx="3976920" cy="4320000"/>
          </a:xfrm>
          <a:prstGeom prst="roundRect">
            <a:avLst>
              <a:gd name="adj" fmla="val 2078"/>
            </a:avLst>
          </a:prstGeom>
          <a:solidFill>
            <a:srgbClr val="0F172A"/>
          </a:solidFill>
          <a:ln w="12700">
            <a:solidFill>
              <a:srgbClr val="334155"/>
            </a:solidFill>
            <a:round/>
          </a:ln>
          <a:effectLst>
            <a:outerShdw blurRad="19080" dist="14255" dir="2700000" algn="bl" rotWithShape="0">
              <a:srgbClr val="000000">
                <a:alpha val="14000"/>
              </a:srgbClr>
            </a:outerShdw>
          </a:effectLst>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443" name="Text 21"/>
          <p:cNvSpPr/>
          <p:nvPr/>
        </p:nvSpPr>
        <p:spPr>
          <a:xfrm>
            <a:off x="7662600" y="811080"/>
            <a:ext cx="1645200" cy="2368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2000" b="1" u="none" strike="noStrike">
                <a:solidFill>
                  <a:srgbClr val="FFFFFF"/>
                </a:solidFill>
                <a:effectLst/>
                <a:uFillTx/>
                <a:latin typeface="Aptos"/>
              </a:rPr>
              <a:t>À retenir</a:t>
            </a:r>
            <a:endParaRPr lang="fr-FR" sz="2000" b="0" u="none" strike="noStrike">
              <a:solidFill>
                <a:srgbClr val="FFFFFF"/>
              </a:solidFill>
              <a:effectLst/>
              <a:uFillTx/>
              <a:latin typeface="Arial"/>
            </a:endParaRPr>
          </a:p>
        </p:txBody>
      </p:sp>
      <p:sp>
        <p:nvSpPr>
          <p:cNvPr id="444" name="Text 22"/>
          <p:cNvSpPr/>
          <p:nvPr/>
        </p:nvSpPr>
        <p:spPr>
          <a:xfrm>
            <a:off x="7662600" y="1816920"/>
            <a:ext cx="3062520" cy="1325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1500" b="0" u="none" strike="noStrike" dirty="0">
                <a:solidFill>
                  <a:srgbClr val="D1D5DB"/>
                </a:solidFill>
                <a:effectLst/>
                <a:uFillTx/>
                <a:latin typeface="Aptos"/>
              </a:rPr>
              <a:t>• Une base </a:t>
            </a:r>
            <a:r>
              <a:rPr lang="en-US" sz="1500" b="0" u="none" strike="noStrike" dirty="0" err="1">
                <a:solidFill>
                  <a:srgbClr val="D1D5DB"/>
                </a:solidFill>
                <a:effectLst/>
                <a:uFillTx/>
                <a:latin typeface="Aptos"/>
              </a:rPr>
              <a:t>claire</a:t>
            </a:r>
            <a:r>
              <a:rPr lang="en-US" sz="1500" b="0" u="none" strike="noStrike" dirty="0">
                <a:solidFill>
                  <a:srgbClr val="D1D5DB"/>
                </a:solidFill>
                <a:effectLst/>
                <a:uFillTx/>
                <a:latin typeface="Aptos"/>
              </a:rPr>
              <a:t> </a:t>
            </a:r>
            <a:r>
              <a:rPr lang="en-US" sz="1500" b="0" u="none" strike="noStrike" dirty="0" err="1">
                <a:solidFill>
                  <a:srgbClr val="D1D5DB"/>
                </a:solidFill>
                <a:effectLst/>
                <a:uFillTx/>
                <a:latin typeface="Aptos"/>
              </a:rPr>
              <a:t>vaut</a:t>
            </a:r>
            <a:r>
              <a:rPr lang="en-US" sz="1500" b="0" u="none" strike="noStrike" dirty="0">
                <a:solidFill>
                  <a:srgbClr val="D1D5DB"/>
                </a:solidFill>
                <a:effectLst/>
                <a:uFillTx/>
                <a:latin typeface="Aptos"/>
              </a:rPr>
              <a:t> </a:t>
            </a:r>
            <a:r>
              <a:rPr lang="en-US" sz="1500" b="0" u="none" strike="noStrike" dirty="0" err="1">
                <a:solidFill>
                  <a:srgbClr val="D1D5DB"/>
                </a:solidFill>
                <a:effectLst/>
                <a:uFillTx/>
                <a:latin typeface="Aptos"/>
              </a:rPr>
              <a:t>mieux</a:t>
            </a:r>
            <a:r>
              <a:rPr lang="en-US" sz="1500" b="0" u="none" strike="noStrike" dirty="0">
                <a:solidFill>
                  <a:srgbClr val="D1D5DB"/>
                </a:solidFill>
                <a:effectLst/>
                <a:uFillTx/>
                <a:latin typeface="Aptos"/>
              </a:rPr>
              <a:t> </a:t>
            </a:r>
            <a:r>
              <a:rPr lang="en-US" sz="1500" b="0" u="none" strike="noStrike" dirty="0" err="1">
                <a:solidFill>
                  <a:srgbClr val="D1D5DB"/>
                </a:solidFill>
                <a:effectLst/>
                <a:uFillTx/>
                <a:latin typeface="Aptos"/>
              </a:rPr>
              <a:t>qu'un</a:t>
            </a:r>
            <a:r>
              <a:rPr lang="en-US" sz="1500" b="0" u="none" strike="noStrike" dirty="0">
                <a:solidFill>
                  <a:srgbClr val="D1D5DB"/>
                </a:solidFill>
                <a:effectLst/>
                <a:uFillTx/>
                <a:latin typeface="Aptos"/>
              </a:rPr>
              <a:t> </a:t>
            </a:r>
            <a:r>
              <a:rPr lang="en-US" sz="1500" b="0" u="none" strike="noStrike" dirty="0" err="1">
                <a:solidFill>
                  <a:srgbClr val="D1D5DB"/>
                </a:solidFill>
                <a:effectLst/>
                <a:uFillTx/>
                <a:latin typeface="Aptos"/>
              </a:rPr>
              <a:t>modèle</a:t>
            </a:r>
            <a:r>
              <a:rPr lang="en-US" sz="1500" b="0" u="none" strike="noStrike" dirty="0">
                <a:solidFill>
                  <a:srgbClr val="D1D5DB"/>
                </a:solidFill>
                <a:effectLst/>
                <a:uFillTx/>
                <a:latin typeface="Aptos"/>
              </a:rPr>
              <a:t> trop </a:t>
            </a:r>
            <a:r>
              <a:rPr lang="en-US" sz="1500" b="0" u="none" strike="noStrike" dirty="0" err="1">
                <a:solidFill>
                  <a:srgbClr val="D1D5DB"/>
                </a:solidFill>
                <a:effectLst/>
                <a:uFillTx/>
                <a:latin typeface="Aptos"/>
              </a:rPr>
              <a:t>compliqué</a:t>
            </a:r>
            <a:r>
              <a:rPr lang="en-US" sz="1500" b="0" u="none" strike="noStrike" dirty="0">
                <a:solidFill>
                  <a:srgbClr val="D1D5DB"/>
                </a:solidFill>
                <a:effectLst/>
                <a:uFillTx/>
                <a:latin typeface="Aptos"/>
              </a:rPr>
              <a:t>.</a:t>
            </a:r>
            <a:endParaRPr lang="fr-FR" sz="1500" b="0" u="none" strike="noStrike" dirty="0">
              <a:solidFill>
                <a:srgbClr val="FFFFFF"/>
              </a:solidFill>
              <a:effectLst/>
              <a:uFillTx/>
              <a:latin typeface="Arial"/>
            </a:endParaRPr>
          </a:p>
          <a:p>
            <a:pPr defTabSz="914400">
              <a:lnSpc>
                <a:spcPct val="100000"/>
              </a:lnSpc>
              <a:tabLst>
                <a:tab pos="0" algn="l"/>
              </a:tabLst>
            </a:pPr>
            <a:r>
              <a:rPr lang="en-US" sz="1500" b="0" u="none" strike="noStrike" dirty="0">
                <a:solidFill>
                  <a:srgbClr val="D1D5DB"/>
                </a:solidFill>
                <a:effectLst/>
                <a:uFillTx/>
                <a:latin typeface="Aptos"/>
              </a:rPr>
              <a:t>• Les scripts </a:t>
            </a:r>
            <a:r>
              <a:rPr lang="en-US" sz="1500" b="0" u="none" strike="noStrike" dirty="0" err="1">
                <a:solidFill>
                  <a:srgbClr val="D1D5DB"/>
                </a:solidFill>
                <a:effectLst/>
                <a:uFillTx/>
                <a:latin typeface="Aptos"/>
              </a:rPr>
              <a:t>rendent</a:t>
            </a:r>
            <a:r>
              <a:rPr lang="en-US" sz="1500" b="0" u="none" strike="noStrike" dirty="0">
                <a:solidFill>
                  <a:srgbClr val="D1D5DB"/>
                </a:solidFill>
                <a:effectLst/>
                <a:uFillTx/>
                <a:latin typeface="Aptos"/>
              </a:rPr>
              <a:t> le </a:t>
            </a:r>
            <a:r>
              <a:rPr lang="en-US" sz="1500" b="0" u="none" strike="noStrike" dirty="0" err="1">
                <a:solidFill>
                  <a:srgbClr val="D1D5DB"/>
                </a:solidFill>
                <a:effectLst/>
                <a:uFillTx/>
                <a:latin typeface="Aptos"/>
              </a:rPr>
              <a:t>projet</a:t>
            </a:r>
            <a:r>
              <a:rPr lang="en-US" sz="1500" b="0" u="none" strike="noStrike" dirty="0">
                <a:solidFill>
                  <a:srgbClr val="D1D5DB"/>
                </a:solidFill>
                <a:effectLst/>
                <a:uFillTx/>
                <a:latin typeface="Aptos"/>
              </a:rPr>
              <a:t> reproductible.</a:t>
            </a:r>
            <a:endParaRPr lang="fr-FR" sz="1500" b="0" u="none" strike="noStrike" dirty="0">
              <a:solidFill>
                <a:srgbClr val="FFFFFF"/>
              </a:solidFill>
              <a:effectLst/>
              <a:uFillTx/>
              <a:latin typeface="Arial"/>
            </a:endParaRPr>
          </a:p>
          <a:p>
            <a:pPr defTabSz="914400">
              <a:lnSpc>
                <a:spcPct val="100000"/>
              </a:lnSpc>
              <a:tabLst>
                <a:tab pos="0" algn="l"/>
              </a:tabLst>
            </a:pPr>
            <a:r>
              <a:rPr lang="en-US" sz="1500" b="0" u="none" strike="noStrike" dirty="0">
                <a:solidFill>
                  <a:srgbClr val="D1D5DB"/>
                </a:solidFill>
                <a:effectLst/>
                <a:uFillTx/>
                <a:latin typeface="Aptos"/>
              </a:rPr>
              <a:t>• Les </a:t>
            </a:r>
            <a:r>
              <a:rPr lang="en-US" sz="1500" b="0" u="none" strike="noStrike" dirty="0" err="1">
                <a:solidFill>
                  <a:srgbClr val="D1D5DB"/>
                </a:solidFill>
                <a:effectLst/>
                <a:uFillTx/>
                <a:latin typeface="Aptos"/>
              </a:rPr>
              <a:t>requêtes</a:t>
            </a:r>
            <a:r>
              <a:rPr lang="en-US" sz="1500" b="0" u="none" strike="noStrike" dirty="0">
                <a:solidFill>
                  <a:srgbClr val="D1D5DB"/>
                </a:solidFill>
                <a:effectLst/>
                <a:uFillTx/>
                <a:latin typeface="Aptos"/>
              </a:rPr>
              <a:t> </a:t>
            </a:r>
            <a:r>
              <a:rPr lang="en-US" sz="1500" b="0" u="none" strike="noStrike" dirty="0" err="1">
                <a:solidFill>
                  <a:srgbClr val="D1D5DB"/>
                </a:solidFill>
                <a:effectLst/>
                <a:uFillTx/>
                <a:latin typeface="Aptos"/>
              </a:rPr>
              <a:t>donnent</a:t>
            </a:r>
            <a:r>
              <a:rPr lang="en-US" sz="1500" b="0" u="none" strike="noStrike" dirty="0">
                <a:solidFill>
                  <a:srgbClr val="D1D5DB"/>
                </a:solidFill>
                <a:effectLst/>
                <a:uFillTx/>
                <a:latin typeface="Aptos"/>
              </a:rPr>
              <a:t> du </a:t>
            </a:r>
            <a:r>
              <a:rPr lang="en-US" sz="1500" b="0" u="none" strike="noStrike" dirty="0" err="1">
                <a:solidFill>
                  <a:srgbClr val="D1D5DB"/>
                </a:solidFill>
                <a:effectLst/>
                <a:uFillTx/>
                <a:latin typeface="Aptos"/>
              </a:rPr>
              <a:t>sens</a:t>
            </a:r>
            <a:r>
              <a:rPr lang="en-US" sz="1500" b="0" u="none" strike="noStrike" dirty="0">
                <a:solidFill>
                  <a:srgbClr val="D1D5DB"/>
                </a:solidFill>
                <a:effectLst/>
                <a:uFillTx/>
                <a:latin typeface="Aptos"/>
              </a:rPr>
              <a:t> aux données.</a:t>
            </a:r>
            <a:endParaRPr lang="fr-FR" sz="1500" b="0" u="none" strike="noStrike" dirty="0">
              <a:solidFill>
                <a:srgbClr val="FFFFFF"/>
              </a:solidFill>
              <a:effectLst/>
              <a:uFillTx/>
              <a:latin typeface="Arial"/>
            </a:endParaRPr>
          </a:p>
          <a:p>
            <a:pPr>
              <a:tabLst>
                <a:tab pos="0" algn="l"/>
              </a:tabLst>
            </a:pPr>
            <a:r>
              <a:rPr lang="en-US" sz="1500" b="0" u="none" strike="noStrike" dirty="0">
                <a:solidFill>
                  <a:srgbClr val="D1D5DB"/>
                </a:solidFill>
                <a:effectLst/>
                <a:uFillTx/>
                <a:latin typeface="Aptos"/>
              </a:rPr>
              <a:t>•</a:t>
            </a:r>
            <a:r>
              <a:rPr lang="en-US" sz="1500" dirty="0">
                <a:solidFill>
                  <a:srgbClr val="D1D5DB"/>
                </a:solidFill>
                <a:latin typeface="Aptos"/>
              </a:rPr>
              <a:t> Nous</a:t>
            </a:r>
            <a:r>
              <a:rPr lang="en-US" sz="1500" b="0" u="none" strike="noStrike" dirty="0">
                <a:solidFill>
                  <a:srgbClr val="D1D5DB"/>
                </a:solidFill>
                <a:effectLst/>
                <a:uFillTx/>
                <a:latin typeface="Aptos"/>
              </a:rPr>
              <a:t> </a:t>
            </a:r>
            <a:r>
              <a:rPr lang="en-US" sz="1500" dirty="0" err="1">
                <a:solidFill>
                  <a:srgbClr val="D1D5DB"/>
                </a:solidFill>
                <a:latin typeface="Aptos"/>
              </a:rPr>
              <a:t>avons</a:t>
            </a:r>
            <a:r>
              <a:rPr lang="en-US" sz="1500" dirty="0">
                <a:solidFill>
                  <a:srgbClr val="D1D5DB"/>
                </a:solidFill>
                <a:latin typeface="Aptos"/>
              </a:rPr>
              <a:t> </a:t>
            </a:r>
            <a:r>
              <a:rPr lang="en-US" sz="1500" dirty="0" err="1">
                <a:solidFill>
                  <a:srgbClr val="D1D5DB"/>
                </a:solidFill>
                <a:latin typeface="Aptos"/>
              </a:rPr>
              <a:t>montré</a:t>
            </a:r>
            <a:r>
              <a:rPr lang="en-US" sz="1500" b="0" u="none" strike="noStrike" dirty="0">
                <a:solidFill>
                  <a:srgbClr val="D1D5DB"/>
                </a:solidFill>
                <a:effectLst/>
                <a:uFillTx/>
                <a:latin typeface="Aptos"/>
              </a:rPr>
              <a:t> la </a:t>
            </a:r>
            <a:r>
              <a:rPr lang="en-US" sz="1500" b="0" u="none" strike="noStrike" dirty="0" err="1">
                <a:solidFill>
                  <a:srgbClr val="D1D5DB"/>
                </a:solidFill>
                <a:effectLst/>
                <a:uFillTx/>
                <a:latin typeface="Aptos"/>
              </a:rPr>
              <a:t>logique</a:t>
            </a:r>
            <a:r>
              <a:rPr lang="en-US" sz="1500" b="0" u="none" strike="noStrike" dirty="0">
                <a:solidFill>
                  <a:srgbClr val="D1D5DB"/>
                </a:solidFill>
                <a:effectLst/>
                <a:uFillTx/>
                <a:latin typeface="Aptos"/>
              </a:rPr>
              <a:t> du travail, pas </a:t>
            </a:r>
            <a:r>
              <a:rPr lang="en-US" sz="1500" b="0" u="none" strike="noStrike" dirty="0" err="1">
                <a:solidFill>
                  <a:srgbClr val="D1D5DB"/>
                </a:solidFill>
                <a:effectLst/>
                <a:uFillTx/>
                <a:latin typeface="Aptos"/>
              </a:rPr>
              <a:t>seulement</a:t>
            </a:r>
            <a:r>
              <a:rPr lang="en-US" sz="1500" b="0" u="none" strike="noStrike" dirty="0">
                <a:solidFill>
                  <a:srgbClr val="D1D5DB"/>
                </a:solidFill>
                <a:effectLst/>
                <a:uFillTx/>
                <a:latin typeface="Aptos"/>
              </a:rPr>
              <a:t> le </a:t>
            </a:r>
            <a:r>
              <a:rPr lang="en-US" sz="1500" b="0" u="none" strike="noStrike" dirty="0" err="1">
                <a:solidFill>
                  <a:srgbClr val="D1D5DB"/>
                </a:solidFill>
                <a:effectLst/>
                <a:uFillTx/>
                <a:latin typeface="Aptos"/>
              </a:rPr>
              <a:t>résultat</a:t>
            </a:r>
            <a:r>
              <a:rPr lang="en-US" sz="1500" b="0" u="none" strike="noStrike" dirty="0">
                <a:solidFill>
                  <a:srgbClr val="D1D5DB"/>
                </a:solidFill>
                <a:effectLst/>
                <a:uFillTx/>
                <a:latin typeface="Aptos"/>
              </a:rPr>
              <a:t>.</a:t>
            </a:r>
            <a:endParaRPr lang="fr-FR" sz="1500" b="0" u="none" strike="noStrike" dirty="0">
              <a:solidFill>
                <a:srgbClr val="FFFFFF"/>
              </a:solidFill>
              <a:effectLst/>
              <a:uFillTx/>
              <a:latin typeface="Arial"/>
            </a:endParaRPr>
          </a:p>
        </p:txBody>
      </p:sp>
      <p:sp>
        <p:nvSpPr>
          <p:cNvPr id="445" name="Shape 23"/>
          <p:cNvSpPr/>
          <p:nvPr/>
        </p:nvSpPr>
        <p:spPr>
          <a:xfrm>
            <a:off x="7560000" y="4033080"/>
            <a:ext cx="3600000" cy="566280"/>
          </a:xfrm>
          <a:prstGeom prst="roundRect">
            <a:avLst>
              <a:gd name="adj" fmla="val 6452"/>
            </a:avLst>
          </a:prstGeom>
          <a:solidFill>
            <a:srgbClr val="1D4ED8"/>
          </a:solidFill>
          <a:ln w="12700">
            <a:solidFill>
              <a:srgbClr val="1D4ED8"/>
            </a:solidFill>
            <a:round/>
          </a:ln>
        </p:spPr>
        <p:style>
          <a:lnRef idx="0">
            <a:scrgbClr r="0" g="0" b="0"/>
          </a:lnRef>
          <a:fillRef idx="0">
            <a:scrgbClr r="0" g="0" b="0"/>
          </a:fillRef>
          <a:effectRef idx="0">
            <a:scrgbClr r="0" g="0" b="0"/>
          </a:effectRef>
          <a:fontRef idx="minor"/>
        </p:style>
        <p:txBody>
          <a:bodyPr lIns="90000" tIns="45000" rIns="90000" bIns="45000" anchor="t">
            <a:noAutofit/>
          </a:bodyPr>
          <a:lstStyle/>
          <a:p>
            <a:pPr>
              <a:lnSpc>
                <a:spcPct val="100000"/>
              </a:lnSpc>
            </a:pPr>
            <a:endParaRPr lang="fr-FR" sz="1800" b="0" u="none" strike="noStrike">
              <a:solidFill>
                <a:srgbClr val="FFFFFF"/>
              </a:solidFill>
              <a:effectLst/>
              <a:uFillTx/>
              <a:latin typeface="Arial"/>
            </a:endParaRPr>
          </a:p>
        </p:txBody>
      </p:sp>
      <p:sp>
        <p:nvSpPr>
          <p:cNvPr id="446" name="Text 24"/>
          <p:cNvSpPr/>
          <p:nvPr/>
        </p:nvSpPr>
        <p:spPr>
          <a:xfrm>
            <a:off x="7422120" y="4233600"/>
            <a:ext cx="3881880" cy="18216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ctr" defTabSz="914400">
              <a:lnSpc>
                <a:spcPct val="100000"/>
              </a:lnSpc>
              <a:tabLst>
                <a:tab pos="0" algn="l"/>
              </a:tabLst>
            </a:pPr>
            <a:r>
              <a:rPr lang="en-US" sz="1800" b="1" u="none" strike="noStrike">
                <a:solidFill>
                  <a:srgbClr val="FFFFFF"/>
                </a:solidFill>
                <a:effectLst/>
                <a:uFillTx/>
                <a:latin typeface="Aptos"/>
              </a:rPr>
              <a:t>Merci pour votre attention</a:t>
            </a:r>
            <a:endParaRPr lang="fr-FR" sz="1800" b="0" u="none" strike="noStrike">
              <a:solidFill>
                <a:srgbClr val="FFFFFF"/>
              </a:solidFill>
              <a:effectLst/>
              <a:uFillTx/>
              <a:latin typeface="Arial"/>
            </a:endParaRPr>
          </a:p>
        </p:txBody>
      </p:sp>
      <p:sp>
        <p:nvSpPr>
          <p:cNvPr id="447" name="Text 25"/>
          <p:cNvSpPr/>
          <p:nvPr/>
        </p:nvSpPr>
        <p:spPr>
          <a:xfrm>
            <a:off x="868680" y="6509880"/>
            <a:ext cx="56685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defTabSz="914400">
              <a:lnSpc>
                <a:spcPct val="100000"/>
              </a:lnSpc>
              <a:tabLst>
                <a:tab pos="0" algn="l"/>
              </a:tabLst>
            </a:pPr>
            <a:r>
              <a:rPr lang="en-US" sz="800" b="0" u="none" strike="noStrike">
                <a:solidFill>
                  <a:srgbClr val="94A3B8"/>
                </a:solidFill>
                <a:effectLst/>
                <a:uFillTx/>
                <a:latin typeface="Aptos"/>
              </a:rPr>
              <a:t>SAE 2.04 - Exploitation d'une base de données</a:t>
            </a:r>
            <a:endParaRPr lang="fr-FR" sz="800" b="0" u="none" strike="noStrike">
              <a:solidFill>
                <a:srgbClr val="FFFFFF"/>
              </a:solidFill>
              <a:effectLst/>
              <a:uFillTx/>
              <a:latin typeface="Arial"/>
            </a:endParaRPr>
          </a:p>
        </p:txBody>
      </p:sp>
      <p:sp>
        <p:nvSpPr>
          <p:cNvPr id="448" name="ZoneTexte 447"/>
          <p:cNvSpPr txBox="1"/>
          <p:nvPr/>
        </p:nvSpPr>
        <p:spPr>
          <a:xfrm>
            <a:off x="7416000" y="5148000"/>
            <a:ext cx="3600000" cy="921876"/>
          </a:xfrm>
          <a:prstGeom prst="rect">
            <a:avLst/>
          </a:prstGeom>
          <a:noFill/>
          <a:ln w="0">
            <a:noFill/>
          </a:ln>
        </p:spPr>
        <p:txBody>
          <a:bodyPr lIns="90000" tIns="45000" rIns="90000" bIns="45000" anchor="t">
            <a:spAutoFit/>
          </a:bodyPr>
          <a:lstStyle/>
          <a:p>
            <a:pPr defTabSz="914400">
              <a:lnSpc>
                <a:spcPct val="100000"/>
              </a:lnSpc>
              <a:tabLst>
                <a:tab pos="0" algn="l"/>
              </a:tabLst>
            </a:pPr>
            <a:r>
              <a:rPr lang="en-US" sz="1350" b="0" u="none" strike="noStrike">
                <a:solidFill>
                  <a:srgbClr val="E2E8F0"/>
                </a:solidFill>
                <a:effectLst/>
                <a:uFillTx/>
                <a:latin typeface="Aptos"/>
              </a:rPr>
              <a:t>Ali DEMIR, </a:t>
            </a:r>
            <a:endParaRPr lang="fr-FR" sz="1350" b="0" u="none" strike="noStrike">
              <a:solidFill>
                <a:srgbClr val="FFFFFF"/>
              </a:solidFill>
              <a:effectLst/>
              <a:uFillTx/>
              <a:latin typeface="Arial"/>
            </a:endParaRPr>
          </a:p>
          <a:p>
            <a:pPr defTabSz="914400">
              <a:lnSpc>
                <a:spcPct val="100000"/>
              </a:lnSpc>
              <a:tabLst>
                <a:tab pos="0" algn="l"/>
              </a:tabLst>
            </a:pPr>
            <a:r>
              <a:rPr lang="en-US" sz="1350" b="0" u="none" strike="noStrike">
                <a:solidFill>
                  <a:srgbClr val="E2E8F0"/>
                </a:solidFill>
                <a:effectLst/>
                <a:uFillTx/>
                <a:latin typeface="Aptos"/>
              </a:rPr>
              <a:t>Antoine TOUCANE, </a:t>
            </a:r>
            <a:endParaRPr lang="fr-FR" sz="1350" b="0" u="none" strike="noStrike">
              <a:solidFill>
                <a:srgbClr val="FFFFFF"/>
              </a:solidFill>
              <a:effectLst/>
              <a:uFillTx/>
              <a:latin typeface="Arial"/>
            </a:endParaRPr>
          </a:p>
          <a:p>
            <a:pPr defTabSz="914400">
              <a:lnSpc>
                <a:spcPct val="100000"/>
              </a:lnSpc>
              <a:tabLst>
                <a:tab pos="0" algn="l"/>
              </a:tabLst>
            </a:pPr>
            <a:r>
              <a:rPr lang="en-US" sz="1350" b="0" u="none" strike="noStrike">
                <a:solidFill>
                  <a:srgbClr val="E2E8F0"/>
                </a:solidFill>
                <a:effectLst/>
                <a:uFillTx/>
                <a:latin typeface="Aptos"/>
              </a:rPr>
              <a:t>Zakariya BOURGUIBA,</a:t>
            </a:r>
            <a:endParaRPr lang="fr-FR" sz="1350" b="0" u="none" strike="noStrike">
              <a:solidFill>
                <a:srgbClr val="FFFFFF"/>
              </a:solidFill>
              <a:effectLst/>
              <a:uFillTx/>
              <a:latin typeface="Arial"/>
            </a:endParaRPr>
          </a:p>
          <a:p>
            <a:pPr defTabSz="914400">
              <a:lnSpc>
                <a:spcPct val="100000"/>
              </a:lnSpc>
              <a:tabLst>
                <a:tab pos="0" algn="l"/>
              </a:tabLst>
            </a:pPr>
            <a:r>
              <a:rPr lang="en-US" sz="1350" b="0" u="none" strike="noStrike">
                <a:solidFill>
                  <a:srgbClr val="E2E8F0"/>
                </a:solidFill>
                <a:effectLst/>
                <a:uFillTx/>
                <a:latin typeface="Aptos"/>
              </a:rPr>
              <a:t>Stiven </a:t>
            </a:r>
            <a:r>
              <a:rPr lang="en-US" sz="1350">
                <a:solidFill>
                  <a:srgbClr val="E2E8F0"/>
                </a:solidFill>
                <a:latin typeface="Aptos"/>
              </a:rPr>
              <a:t>NICULICA</a:t>
            </a:r>
            <a:endParaRPr lang="fr-FR" sz="1350" b="0" u="none" strike="noStrike">
              <a:solidFill>
                <a:srgbClr val="FFFFFF"/>
              </a:solidFill>
              <a:effectLst/>
              <a:uFillTx/>
              <a:latin typeface="Arial"/>
            </a:endParaRPr>
          </a:p>
        </p:txBody>
      </p:sp>
      <p:sp>
        <p:nvSpPr>
          <p:cNvPr id="449" name="ZoneTexte 448"/>
          <p:cNvSpPr txBox="1"/>
          <p:nvPr/>
        </p:nvSpPr>
        <p:spPr>
          <a:xfrm>
            <a:off x="10260000" y="5436000"/>
            <a:ext cx="752400" cy="346320"/>
          </a:xfrm>
          <a:prstGeom prst="rect">
            <a:avLst/>
          </a:prstGeom>
          <a:noFill/>
          <a:ln w="0">
            <a:noFill/>
          </a:ln>
        </p:spPr>
        <p:txBody>
          <a:bodyPr wrap="none" lIns="90000" tIns="45000" rIns="90000" bIns="45000" anchor="t">
            <a:spAutoFit/>
          </a:bodyPr>
          <a:lstStyle/>
          <a:p>
            <a:r>
              <a:rPr lang="fr-FR" sz="1800" b="0" u="none" strike="noStrike">
                <a:solidFill>
                  <a:srgbClr val="FFFFFF"/>
                </a:solidFill>
                <a:effectLst/>
                <a:uFillTx/>
                <a:latin typeface="Arial"/>
              </a:rPr>
              <a:t>TPB1</a:t>
            </a:r>
          </a:p>
        </p:txBody>
      </p:sp>
      <p:sp>
        <p:nvSpPr>
          <p:cNvPr id="450" name="Text 57"/>
          <p:cNvSpPr/>
          <p:nvPr/>
        </p:nvSpPr>
        <p:spPr>
          <a:xfrm>
            <a:off x="6088680" y="6546240"/>
            <a:ext cx="5668560" cy="109080"/>
          </a:xfrm>
          <a:prstGeom prst="rect">
            <a:avLst/>
          </a:prstGeom>
          <a:noFill/>
          <a:ln w="0">
            <a:noFill/>
          </a:ln>
        </p:spPr>
        <p:style>
          <a:lnRef idx="0">
            <a:scrgbClr r="0" g="0" b="0"/>
          </a:lnRef>
          <a:fillRef idx="0">
            <a:scrgbClr r="0" g="0" b="0"/>
          </a:fillRef>
          <a:effectRef idx="0">
            <a:scrgbClr r="0" g="0" b="0"/>
          </a:effectRef>
          <a:fontRef idx="minor"/>
        </p:style>
        <p:txBody>
          <a:bodyPr lIns="90000" tIns="45000" rIns="90000" bIns="45000" anchor="ctr">
            <a:noAutofit/>
          </a:bodyPr>
          <a:lstStyle/>
          <a:p>
            <a:pPr algn="r" defTabSz="914400">
              <a:lnSpc>
                <a:spcPct val="100000"/>
              </a:lnSpc>
              <a:tabLst>
                <a:tab pos="0" algn="l"/>
              </a:tabLst>
            </a:pPr>
            <a:r>
              <a:rPr lang="en-US" sz="800" b="0" u="none" strike="noStrike">
                <a:solidFill>
                  <a:srgbClr val="94A3B8"/>
                </a:solidFill>
                <a:effectLst/>
                <a:uFillTx/>
                <a:latin typeface="Aptos"/>
              </a:rPr>
              <a:t>Métro parisien</a:t>
            </a:r>
            <a:endParaRPr lang="fr-FR" sz="800" b="0" u="none" strike="noStrike">
              <a:solidFill>
                <a:srgbClr val="FFFFFF"/>
              </a:solidFill>
              <a:effectLst/>
              <a:uFillTx/>
              <a:latin typeface="Arial"/>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a:ea typeface=""/>
        <a:cs typeface=""/>
      </a:majorFont>
      <a:minorFont>
        <a:latin typeface="Aptos"/>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a:gradFill>
      </a:fillStyleLst>
      <a:lnStyleLst>
        <a:ln w="6350" cap="flat" cmpd="sng" algn="ctr">
          <a:prstDash val="solid"/>
          <a:miter lim="800000"/>
        </a:ln>
        <a:ln w="12700" cap="flat" cmpd="sng" algn="ctr">
          <a:prstDash val="solid"/>
          <a:miter lim="800000"/>
        </a:ln>
        <a:ln w="1905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5</TotalTime>
  <Words>0</Words>
  <Application>Microsoft Office PowerPoint</Application>
  <PresentationFormat>Grand écran</PresentationFormat>
  <Paragraphs>0</Paragraphs>
  <Slides>12</Slides>
  <Notes>12</Notes>
  <HiddenSlides>0</HiddenSlides>
  <ScaleCrop>false</ScaleCrop>
  <HeadingPairs>
    <vt:vector size="4" baseType="variant">
      <vt:variant>
        <vt:lpstr>Thème</vt:lpstr>
      </vt:variant>
      <vt:variant>
        <vt:i4>1</vt:i4>
      </vt:variant>
      <vt:variant>
        <vt:lpstr>Titres des diapositives</vt:lpstr>
      </vt:variant>
      <vt:variant>
        <vt:i4>12</vt:i4>
      </vt:variant>
    </vt:vector>
  </HeadingPairs>
  <TitlesOfParts>
    <vt:vector size="13" baseType="lpstr">
      <vt:lpstr>Office Theme</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OpenAI</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SAE Base de données - Métro parisien</dc:title>
  <dc:subject>SAE Base de données - Métro parisien</dc:subject>
  <dc:creator>OpenAI</dc:creator>
  <dc:description/>
  <cp:lastModifiedBy/>
  <cp:revision>25</cp:revision>
  <dcterms:created xsi:type="dcterms:W3CDTF">2026-04-01T07:52:42Z</dcterms:created>
  <dcterms:modified xsi:type="dcterms:W3CDTF">2026-04-02T21:38:58Z</dcterms:modified>
  <dc:language>fr-FR</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12</vt:i4>
  </property>
  <property fmtid="{D5CDD505-2E9C-101B-9397-08002B2CF9AE}" pid="3" name="PresentationFormat">
    <vt:lpwstr>On-screen Show (16:9)</vt:lpwstr>
  </property>
  <property fmtid="{D5CDD505-2E9C-101B-9397-08002B2CF9AE}" pid="4" name="Slides">
    <vt:i4>12</vt:i4>
  </property>
</Properties>
</file>