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media/image4.svg" ContentType="image/svg"/>
  <Override PartName="/ppt/media/image2.svg" ContentType="image/svg"/>
  <Override PartName="/ppt/media/image6.svg" ContentType="image/svg"/>
  <Override PartName="/ppt/media/image10.svg" ContentType="image/svg"/>
  <Override PartName="/ppt/media/image8.svg" ContentType="image/svg"/>
  <Override PartName="/ppt/media/image13.svg" ContentType="image/svg"/>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slides/slide6.xml" ContentType="application/vnd.openxmlformats-officedocument.presentationml.slide+xml"/>
  <Override PartName="/ppt/slides/slide12.xml" ContentType="application/vnd.openxmlformats-officedocument.presentationml.slide+xml"/>
  <Override PartName="/ppt/notesSlides/notesSlide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10.xml" ContentType="application/vnd.openxmlformats-officedocument.presentationml.notesSlide+xml"/>
  <Override PartName="/ppt/notesSlides/notesSlide5.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r>
              <a:rPr lang="fr-FR" sz="4400" b="0" u="none" strike="noStrike">
                <a:solidFill>
                  <a:srgbClr val="000000"/>
                </a:solidFill>
                <a:effectLst/>
                <a:uFillTx/>
                <a:latin typeface="Arial"/>
              </a:rPr>
              <a:t>C</a:t>
            </a:r>
            <a:r>
              <a:rPr lang="fr-FR" sz="4400" b="0" u="none" strike="noStrike">
                <a:solidFill>
                  <a:srgbClr val="000000"/>
                </a:solidFill>
                <a:effectLst/>
                <a:uFillTx/>
                <a:latin typeface="Arial"/>
              </a:rPr>
              <a:t>li</a:t>
            </a:r>
            <a:r>
              <a:rPr lang="fr-FR" sz="4400" b="0" u="none" strike="noStrike">
                <a:solidFill>
                  <a:srgbClr val="000000"/>
                </a:solidFill>
                <a:effectLst/>
                <a:uFillTx/>
                <a:latin typeface="Arial"/>
              </a:rPr>
              <a:t>q</a:t>
            </a:r>
            <a:r>
              <a:rPr lang="fr-FR" sz="4400" b="0" u="none" strike="noStrike">
                <a:solidFill>
                  <a:srgbClr val="000000"/>
                </a:solidFill>
                <a:effectLst/>
                <a:uFillTx/>
                <a:latin typeface="Arial"/>
              </a:rPr>
              <a:t>u</a:t>
            </a:r>
            <a:r>
              <a:rPr lang="fr-FR" sz="4400" b="0" u="none" strike="noStrike">
                <a:solidFill>
                  <a:srgbClr val="000000"/>
                </a:solidFill>
                <a:effectLst/>
                <a:uFillTx/>
                <a:latin typeface="Arial"/>
              </a:rPr>
              <a:t>e</a:t>
            </a:r>
            <a:r>
              <a:rPr lang="fr-FR" sz="4400" b="0" u="none" strike="noStrike">
                <a:solidFill>
                  <a:srgbClr val="000000"/>
                </a:solidFill>
                <a:effectLst/>
                <a:uFillTx/>
                <a:latin typeface="Arial"/>
              </a:rPr>
              <a:t>z </a:t>
            </a:r>
            <a:r>
              <a:rPr lang="fr-FR" sz="4400" b="0" u="none" strike="noStrike">
                <a:solidFill>
                  <a:srgbClr val="000000"/>
                </a:solidFill>
                <a:effectLst/>
                <a:uFillTx/>
                <a:latin typeface="Arial"/>
              </a:rPr>
              <a:t>p</a:t>
            </a:r>
            <a:r>
              <a:rPr lang="fr-FR" sz="4400" b="0" u="none" strike="noStrike">
                <a:solidFill>
                  <a:srgbClr val="000000"/>
                </a:solidFill>
                <a:effectLst/>
                <a:uFillTx/>
                <a:latin typeface="Arial"/>
              </a:rPr>
              <a:t>o</a:t>
            </a:r>
            <a:r>
              <a:rPr lang="fr-FR" sz="4400" b="0" u="none" strike="noStrike">
                <a:solidFill>
                  <a:srgbClr val="000000"/>
                </a:solidFill>
                <a:effectLst/>
                <a:uFillTx/>
                <a:latin typeface="Arial"/>
              </a:rPr>
              <a:t>u</a:t>
            </a:r>
            <a:r>
              <a:rPr lang="fr-FR" sz="4400" b="0" u="none" strike="noStrike">
                <a:solidFill>
                  <a:srgbClr val="000000"/>
                </a:solidFill>
                <a:effectLst/>
                <a:uFillTx/>
                <a:latin typeface="Arial"/>
              </a:rPr>
              <a:t>r </a:t>
            </a:r>
            <a:r>
              <a:rPr lang="fr-FR" sz="4400" b="0" u="none" strike="noStrike">
                <a:solidFill>
                  <a:srgbClr val="000000"/>
                </a:solidFill>
                <a:effectLst/>
                <a:uFillTx/>
                <a:latin typeface="Arial"/>
              </a:rPr>
              <a:t>d</a:t>
            </a:r>
            <a:r>
              <a:rPr lang="fr-FR" sz="4400" b="0" u="none" strike="noStrike">
                <a:solidFill>
                  <a:srgbClr val="000000"/>
                </a:solidFill>
                <a:effectLst/>
                <a:uFillTx/>
                <a:latin typeface="Arial"/>
              </a:rPr>
              <a:t>é</a:t>
            </a:r>
            <a:r>
              <a:rPr lang="fr-FR" sz="4400" b="0" u="none" strike="noStrike">
                <a:solidFill>
                  <a:srgbClr val="000000"/>
                </a:solidFill>
                <a:effectLst/>
                <a:uFillTx/>
                <a:latin typeface="Arial"/>
              </a:rPr>
              <a:t>p</a:t>
            </a:r>
            <a:r>
              <a:rPr lang="fr-FR" sz="4400" b="0" u="none" strike="noStrike">
                <a:solidFill>
                  <a:srgbClr val="000000"/>
                </a:solidFill>
                <a:effectLst/>
                <a:uFillTx/>
                <a:latin typeface="Arial"/>
              </a:rPr>
              <a:t>l</a:t>
            </a:r>
            <a:r>
              <a:rPr lang="fr-FR" sz="4400" b="0" u="none" strike="noStrike">
                <a:solidFill>
                  <a:srgbClr val="000000"/>
                </a:solidFill>
                <a:effectLst/>
                <a:uFillTx/>
                <a:latin typeface="Arial"/>
              </a:rPr>
              <a:t>a</a:t>
            </a:r>
            <a:r>
              <a:rPr lang="fr-FR" sz="4400" b="0" u="none" strike="noStrike">
                <a:solidFill>
                  <a:srgbClr val="000000"/>
                </a:solidFill>
                <a:effectLst/>
                <a:uFillTx/>
                <a:latin typeface="Arial"/>
              </a:rPr>
              <a:t>c</a:t>
            </a:r>
            <a:r>
              <a:rPr lang="fr-FR" sz="4400" b="0" u="none" strike="noStrike">
                <a:solidFill>
                  <a:srgbClr val="000000"/>
                </a:solidFill>
                <a:effectLst/>
                <a:uFillTx/>
                <a:latin typeface="Arial"/>
              </a:rPr>
              <a:t>e</a:t>
            </a:r>
            <a:r>
              <a:rPr lang="fr-FR" sz="4400" b="0" u="none" strike="noStrike">
                <a:solidFill>
                  <a:srgbClr val="000000"/>
                </a:solidFill>
                <a:effectLst/>
                <a:uFillTx/>
                <a:latin typeface="Arial"/>
              </a:rPr>
              <a:t>r </a:t>
            </a:r>
            <a:r>
              <a:rPr lang="fr-FR" sz="4400" b="0" u="none" strike="noStrike">
                <a:solidFill>
                  <a:srgbClr val="000000"/>
                </a:solidFill>
                <a:effectLst/>
                <a:uFillTx/>
                <a:latin typeface="Arial"/>
              </a:rPr>
              <a:t>l</a:t>
            </a:r>
            <a:r>
              <a:rPr lang="fr-FR" sz="4400" b="0" u="none" strike="noStrike">
                <a:solidFill>
                  <a:srgbClr val="000000"/>
                </a:solidFill>
                <a:effectLst/>
                <a:uFillTx/>
                <a:latin typeface="Arial"/>
              </a:rPr>
              <a:t>a </a:t>
            </a:r>
            <a:r>
              <a:rPr lang="fr-FR" sz="4400" b="0" u="none" strike="noStrike">
                <a:solidFill>
                  <a:srgbClr val="000000"/>
                </a:solidFill>
                <a:effectLst/>
                <a:uFillTx/>
                <a:latin typeface="Arial"/>
              </a:rPr>
              <a:t>d</a:t>
            </a:r>
            <a:r>
              <a:rPr lang="fr-FR" sz="4400" b="0" u="none" strike="noStrike">
                <a:solidFill>
                  <a:srgbClr val="000000"/>
                </a:solidFill>
                <a:effectLst/>
                <a:uFillTx/>
                <a:latin typeface="Arial"/>
              </a:rPr>
              <a:t>i</a:t>
            </a:r>
            <a:r>
              <a:rPr lang="fr-FR" sz="4400" b="0" u="none" strike="noStrike">
                <a:solidFill>
                  <a:srgbClr val="000000"/>
                </a:solidFill>
                <a:effectLst/>
                <a:uFillTx/>
                <a:latin typeface="Arial"/>
              </a:rPr>
              <a:t>a</a:t>
            </a:r>
            <a:r>
              <a:rPr lang="fr-FR" sz="4400" b="0" u="none" strike="noStrike">
                <a:solidFill>
                  <a:srgbClr val="000000"/>
                </a:solidFill>
                <a:effectLst/>
                <a:uFillTx/>
                <a:latin typeface="Arial"/>
              </a:rPr>
              <a:t>p</a:t>
            </a:r>
            <a:r>
              <a:rPr lang="fr-FR" sz="4400" b="0" u="none" strike="noStrike">
                <a:solidFill>
                  <a:srgbClr val="000000"/>
                </a:solidFill>
                <a:effectLst/>
                <a:uFillTx/>
                <a:latin typeface="Arial"/>
              </a:rPr>
              <a:t>o</a:t>
            </a:r>
            <a:endParaRPr lang="fr-FR" sz="4400" b="0" u="none" strike="noStrike">
              <a:solidFill>
                <a:srgbClr val="000000"/>
              </a:solidFill>
              <a:effectLst/>
              <a:uFillTx/>
              <a:latin typeface="Arial"/>
            </a:endParaRPr>
          </a:p>
        </p:txBody>
      </p:sp>
      <p:sp>
        <p:nvSpPr>
          <p:cNvPr id="5"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indent="0">
              <a:buNone/>
            </a:pPr>
            <a:r>
              <a:rPr lang="fr-FR" sz="2000" b="0" u="none" strike="noStrike">
                <a:solidFill>
                  <a:srgbClr val="000000"/>
                </a:solidFill>
                <a:effectLst/>
                <a:uFillTx/>
                <a:latin typeface="Arial"/>
              </a:rPr>
              <a:t>Cliquez pour modifier le format des notes</a:t>
            </a:r>
            <a:endParaRPr lang="fr-FR" sz="2000" b="0" u="none" strike="noStrike">
              <a:solidFill>
                <a:srgbClr val="000000"/>
              </a:solidFill>
              <a:effectLst/>
              <a:uFillTx/>
              <a:latin typeface="Arial"/>
            </a:endParaRPr>
          </a:p>
        </p:txBody>
      </p:sp>
      <p:sp>
        <p:nvSpPr>
          <p:cNvPr id="6"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lang="fr-FR" sz="1400" b="0" u="none" strike="noStrike">
                <a:solidFill>
                  <a:srgbClr val="000000"/>
                </a:solidFill>
                <a:effectLst/>
                <a:uFillTx/>
                <a:latin typeface="Times New Roman"/>
              </a:rPr>
              <a:t> </a:t>
            </a:r>
            <a:endParaRPr lang="fr-FR" sz="1400" b="0" u="none" strike="noStrike">
              <a:solidFill>
                <a:srgbClr val="000000"/>
              </a:solidFill>
              <a:effectLst/>
              <a:uFillTx/>
              <a:latin typeface="Times New Roman"/>
            </a:endParaRPr>
          </a:p>
        </p:txBody>
      </p:sp>
      <p:sp>
        <p:nvSpPr>
          <p:cNvPr id="7"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indent="0" algn="r">
              <a:buNone/>
              <a:defRPr lang="fr-FR" sz="1400" b="0" u="none" strike="noStrike">
                <a:solidFill>
                  <a:srgbClr val="000000"/>
                </a:solidFill>
                <a:effectLst/>
                <a:uFillTx/>
                <a:latin typeface="Times New Roman"/>
              </a:defRPr>
            </a:lvl1pPr>
          </a:lstStyle>
          <a:p>
            <a:pPr indent="0" algn="r">
              <a:buNone/>
            </a:pPr>
            <a:r>
              <a:rPr lang="fr-FR" sz="1400" b="0" u="none" strike="noStrike">
                <a:solidFill>
                  <a:srgbClr val="000000"/>
                </a:solidFill>
                <a:effectLst/>
                <a:uFillTx/>
                <a:latin typeface="Times New Roman"/>
              </a:rPr>
              <a:t> </a:t>
            </a:r>
            <a:endParaRPr lang="fr-FR" sz="1400" b="0" u="none" strike="noStrike">
              <a:solidFill>
                <a:srgbClr val="000000"/>
              </a:solidFill>
              <a:effectLst/>
              <a:uFillTx/>
              <a:latin typeface="Times New Roman"/>
            </a:endParaRPr>
          </a:p>
        </p:txBody>
      </p:sp>
      <p:sp>
        <p:nvSpPr>
          <p:cNvPr id="8"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indent="0">
              <a:buNone/>
              <a:defRPr lang="fr-FR" sz="1400" b="0" u="none" strike="noStrike">
                <a:solidFill>
                  <a:srgbClr val="000000"/>
                </a:solidFill>
                <a:effectLst/>
                <a:uFillTx/>
                <a:latin typeface="Times New Roman"/>
              </a:defRPr>
            </a:lvl1pPr>
          </a:lstStyle>
          <a:p>
            <a:pPr indent="0">
              <a:buNone/>
            </a:pPr>
            <a:r>
              <a:rPr lang="fr-FR" sz="1400" b="0" u="none" strike="noStrike">
                <a:solidFill>
                  <a:srgbClr val="000000"/>
                </a:solidFill>
                <a:effectLst/>
                <a:uFillTx/>
                <a:latin typeface="Times New Roman"/>
              </a:rPr>
              <a:t> </a:t>
            </a:r>
            <a:endParaRPr lang="fr-FR" sz="1400" b="0" u="none" strike="noStrike">
              <a:solidFill>
                <a:srgbClr val="000000"/>
              </a:solidFill>
              <a:effectLst/>
              <a:uFillTx/>
              <a:latin typeface="Times New Roman"/>
            </a:endParaRPr>
          </a:p>
        </p:txBody>
      </p:sp>
      <p:sp>
        <p:nvSpPr>
          <p:cNvPr id="9"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indent="0" algn="r">
              <a:buNone/>
              <a:defRPr lang="fr-FR" sz="1400" b="0" u="none" strike="noStrike">
                <a:solidFill>
                  <a:srgbClr val="000000"/>
                </a:solidFill>
                <a:effectLst/>
                <a:uFillTx/>
                <a:latin typeface="Times New Roman"/>
              </a:defRPr>
            </a:lvl1pPr>
          </a:lstStyle>
          <a:p>
            <a:pPr indent="0" algn="r">
              <a:buNone/>
            </a:pPr>
            <a:fld id="{295BAC26-058D-4AD5-A4B9-249D2EC1154B}" type="slidenum">
              <a:rPr lang="fr-FR" sz="1400" b="0" u="none" strike="noStrike">
                <a:solidFill>
                  <a:srgbClr val="000000"/>
                </a:solidFill>
                <a:effectLst/>
                <a:uFillTx/>
                <a:latin typeface="Times New Roman"/>
              </a:rPr>
              <a:t>1</a:t>
            </a:fld>
            <a:endParaRPr lang="fr-FR"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1" name="PlaceHolder 1"/>
          <p:cNvSpPr>
            <a:spLocks noGrp="1"/>
          </p:cNvSpPr>
          <p:nvPr>
            <p:ph type="sldImg"/>
          </p:nvPr>
        </p:nvSpPr>
        <p:spPr>
          <a:xfrm>
            <a:off x="685800" y="1143000"/>
            <a:ext cx="5485680" cy="3085560"/>
          </a:xfrm>
          <a:prstGeom prst="rect">
            <a:avLst/>
          </a:prstGeom>
          <a:ln w="0">
            <a:noFill/>
          </a:ln>
        </p:spPr>
      </p:sp>
      <p:sp>
        <p:nvSpPr>
          <p:cNvPr id="452"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buNone/>
            </a:pPr>
            <a:endParaRPr lang="fr-FR" sz="1800" b="0" u="none" strike="noStrike">
              <a:solidFill>
                <a:srgbClr val="000000"/>
              </a:solidFill>
              <a:effectLst/>
              <a:uFillTx/>
              <a:latin typeface="Arial"/>
            </a:endParaRPr>
          </a:p>
        </p:txBody>
      </p:sp>
      <p:sp>
        <p:nvSpPr>
          <p:cNvPr id="453" name="PlaceHolder 3"/>
          <p:cNvSpPr>
            <a:spLocks noGrp="1"/>
          </p:cNvSpPr>
          <p:nvPr>
            <p:ph type="sldNum" idx="4"/>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lang="en-US" sz="1200" b="0" u="none" strike="noStrike">
                <a:solidFill>
                  <a:schemeClr val="dk1"/>
                </a:solidFill>
                <a:effectLst/>
                <a:uFillTx/>
                <a:latin typeface="+mn-lt"/>
                <a:ea typeface="+mn-ea"/>
              </a:defRPr>
            </a:lvl1pPr>
          </a:lstStyle>
          <a:p>
            <a:pPr indent="0" algn="r" defTabSz="914400">
              <a:lnSpc>
                <a:spcPct val="100000"/>
              </a:lnSpc>
              <a:buNone/>
              <a:tabLst>
                <a:tab algn="l" pos="0"/>
              </a:tabLst>
            </a:pPr>
            <a:fld id="{8F73197E-DEB7-456A-B9EC-760647EDCA11}" type="slidenum">
              <a:rPr lang="en-US" sz="1200" b="0" u="none" strike="noStrike">
                <a:solidFill>
                  <a:schemeClr val="dk1"/>
                </a:solidFill>
                <a:effectLst/>
                <a:uFillTx/>
                <a:latin typeface="+mn-lt"/>
                <a:ea typeface="+mn-ea"/>
              </a:rPr>
              <a:t>&lt;numéro&gt;</a:t>
            </a:fld>
            <a:endParaRPr lang="fr-FR"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4" name="PlaceHolder 1"/>
          <p:cNvSpPr>
            <a:spLocks noGrp="1"/>
          </p:cNvSpPr>
          <p:nvPr>
            <p:ph type="sldImg"/>
          </p:nvPr>
        </p:nvSpPr>
        <p:spPr>
          <a:xfrm>
            <a:off x="685800" y="1143000"/>
            <a:ext cx="5485680" cy="3085560"/>
          </a:xfrm>
          <a:prstGeom prst="rect">
            <a:avLst/>
          </a:prstGeom>
          <a:ln w="0">
            <a:noFill/>
          </a:ln>
        </p:spPr>
      </p:sp>
      <p:sp>
        <p:nvSpPr>
          <p:cNvPr id="455"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buNone/>
            </a:pPr>
            <a:endParaRPr lang="fr-FR" sz="1800" b="0" u="none" strike="noStrike">
              <a:solidFill>
                <a:srgbClr val="000000"/>
              </a:solidFill>
              <a:effectLst/>
              <a:uFillTx/>
              <a:latin typeface="Arial"/>
            </a:endParaRPr>
          </a:p>
        </p:txBody>
      </p:sp>
      <p:sp>
        <p:nvSpPr>
          <p:cNvPr id="456" name="PlaceHolder 3"/>
          <p:cNvSpPr>
            <a:spLocks noGrp="1"/>
          </p:cNvSpPr>
          <p:nvPr>
            <p:ph type="sldNum" idx="5"/>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lang="en-US" sz="1200" b="0" u="none" strike="noStrike">
                <a:solidFill>
                  <a:schemeClr val="dk1"/>
                </a:solidFill>
                <a:effectLst/>
                <a:uFillTx/>
                <a:latin typeface="+mn-lt"/>
                <a:ea typeface="+mn-ea"/>
              </a:defRPr>
            </a:lvl1pPr>
          </a:lstStyle>
          <a:p>
            <a:pPr indent="0" algn="r" defTabSz="914400">
              <a:lnSpc>
                <a:spcPct val="100000"/>
              </a:lnSpc>
              <a:buNone/>
              <a:tabLst>
                <a:tab algn="l" pos="0"/>
              </a:tabLst>
            </a:pPr>
            <a:fld id="{118F950C-9376-481A-8228-BECEB8DD27A3}" type="slidenum">
              <a:rPr lang="en-US" sz="1200" b="0" u="none" strike="noStrike">
                <a:solidFill>
                  <a:schemeClr val="dk1"/>
                </a:solidFill>
                <a:effectLst/>
                <a:uFillTx/>
                <a:latin typeface="+mn-lt"/>
                <a:ea typeface="+mn-ea"/>
              </a:rPr>
              <a:t>&lt;numéro&gt;</a:t>
            </a:fld>
            <a:endParaRPr lang="fr-FR"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7" name="PlaceHolder 1"/>
          <p:cNvSpPr>
            <a:spLocks noGrp="1"/>
          </p:cNvSpPr>
          <p:nvPr>
            <p:ph type="sldImg"/>
          </p:nvPr>
        </p:nvSpPr>
        <p:spPr>
          <a:xfrm>
            <a:off x="685800" y="1143000"/>
            <a:ext cx="5485680" cy="3085560"/>
          </a:xfrm>
          <a:prstGeom prst="rect">
            <a:avLst/>
          </a:prstGeom>
          <a:ln w="0">
            <a:noFill/>
          </a:ln>
        </p:spPr>
      </p:sp>
      <p:sp>
        <p:nvSpPr>
          <p:cNvPr id="458"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buNone/>
            </a:pPr>
            <a:endParaRPr lang="fr-FR" sz="1800" b="0" u="none" strike="noStrike">
              <a:solidFill>
                <a:srgbClr val="000000"/>
              </a:solidFill>
              <a:effectLst/>
              <a:uFillTx/>
              <a:latin typeface="Arial"/>
            </a:endParaRPr>
          </a:p>
        </p:txBody>
      </p:sp>
      <p:sp>
        <p:nvSpPr>
          <p:cNvPr id="459" name="PlaceHolder 3"/>
          <p:cNvSpPr>
            <a:spLocks noGrp="1"/>
          </p:cNvSpPr>
          <p:nvPr>
            <p:ph type="sldNum" idx="6"/>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lang="en-US" sz="1200" b="0" u="none" strike="noStrike">
                <a:solidFill>
                  <a:schemeClr val="dk1"/>
                </a:solidFill>
                <a:effectLst/>
                <a:uFillTx/>
                <a:latin typeface="+mn-lt"/>
                <a:ea typeface="+mn-ea"/>
              </a:defRPr>
            </a:lvl1pPr>
          </a:lstStyle>
          <a:p>
            <a:pPr indent="0" algn="r" defTabSz="914400">
              <a:lnSpc>
                <a:spcPct val="100000"/>
              </a:lnSpc>
              <a:buNone/>
              <a:tabLst>
                <a:tab algn="l" pos="0"/>
              </a:tabLst>
            </a:pPr>
            <a:fld id="{F224CC92-9766-4384-A20C-F15DAA0799B8}" type="slidenum">
              <a:rPr lang="en-US" sz="1200" b="0" u="none" strike="noStrike">
                <a:solidFill>
                  <a:schemeClr val="dk1"/>
                </a:solidFill>
                <a:effectLst/>
                <a:uFillTx/>
                <a:latin typeface="+mn-lt"/>
                <a:ea typeface="+mn-ea"/>
              </a:rPr>
              <a:t>&lt;numéro&gt;</a:t>
            </a:fld>
            <a:endParaRPr lang="fr-FR"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0" name="PlaceHolder 1"/>
          <p:cNvSpPr>
            <a:spLocks noGrp="1"/>
          </p:cNvSpPr>
          <p:nvPr>
            <p:ph type="sldImg"/>
          </p:nvPr>
        </p:nvSpPr>
        <p:spPr>
          <a:xfrm>
            <a:off x="685800" y="1143000"/>
            <a:ext cx="5485680" cy="3085560"/>
          </a:xfrm>
          <a:prstGeom prst="rect">
            <a:avLst/>
          </a:prstGeom>
          <a:ln w="0">
            <a:noFill/>
          </a:ln>
        </p:spPr>
      </p:sp>
      <p:sp>
        <p:nvSpPr>
          <p:cNvPr id="461"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buNone/>
            </a:pPr>
            <a:endParaRPr lang="fr-FR" sz="1800" b="0" u="none" strike="noStrike">
              <a:solidFill>
                <a:srgbClr val="000000"/>
              </a:solidFill>
              <a:effectLst/>
              <a:uFillTx/>
              <a:latin typeface="Arial"/>
            </a:endParaRPr>
          </a:p>
        </p:txBody>
      </p:sp>
      <p:sp>
        <p:nvSpPr>
          <p:cNvPr id="462" name="PlaceHolder 3"/>
          <p:cNvSpPr>
            <a:spLocks noGrp="1"/>
          </p:cNvSpPr>
          <p:nvPr>
            <p:ph type="sldNum" idx="7"/>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lang="en-US" sz="1200" b="0" u="none" strike="noStrike">
                <a:solidFill>
                  <a:schemeClr val="dk1"/>
                </a:solidFill>
                <a:effectLst/>
                <a:uFillTx/>
                <a:latin typeface="+mn-lt"/>
                <a:ea typeface="+mn-ea"/>
              </a:defRPr>
            </a:lvl1pPr>
          </a:lstStyle>
          <a:p>
            <a:pPr indent="0" algn="r" defTabSz="914400">
              <a:lnSpc>
                <a:spcPct val="100000"/>
              </a:lnSpc>
              <a:buNone/>
              <a:tabLst>
                <a:tab algn="l" pos="0"/>
              </a:tabLst>
            </a:pPr>
            <a:fld id="{6104351B-06F0-4FC2-B9BF-F4FF08A1666E}" type="slidenum">
              <a:rPr lang="en-US" sz="1200" b="0" u="none" strike="noStrike">
                <a:solidFill>
                  <a:schemeClr val="dk1"/>
                </a:solidFill>
                <a:effectLst/>
                <a:uFillTx/>
                <a:latin typeface="+mn-lt"/>
                <a:ea typeface="+mn-ea"/>
              </a:rPr>
              <a:t>&lt;numéro&gt;</a:t>
            </a:fld>
            <a:endParaRPr lang="fr-FR"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3" name="PlaceHolder 1"/>
          <p:cNvSpPr>
            <a:spLocks noGrp="1"/>
          </p:cNvSpPr>
          <p:nvPr>
            <p:ph type="sldImg"/>
          </p:nvPr>
        </p:nvSpPr>
        <p:spPr>
          <a:xfrm>
            <a:off x="685800" y="1143000"/>
            <a:ext cx="5485680" cy="3085560"/>
          </a:xfrm>
          <a:prstGeom prst="rect">
            <a:avLst/>
          </a:prstGeom>
          <a:ln w="0">
            <a:noFill/>
          </a:ln>
        </p:spPr>
      </p:sp>
      <p:sp>
        <p:nvSpPr>
          <p:cNvPr id="464"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buNone/>
            </a:pPr>
            <a:endParaRPr lang="fr-FR" sz="1800" b="0" u="none" strike="noStrike">
              <a:solidFill>
                <a:srgbClr val="000000"/>
              </a:solidFill>
              <a:effectLst/>
              <a:uFillTx/>
              <a:latin typeface="Arial"/>
            </a:endParaRPr>
          </a:p>
        </p:txBody>
      </p:sp>
      <p:sp>
        <p:nvSpPr>
          <p:cNvPr id="465" name="PlaceHolder 3"/>
          <p:cNvSpPr>
            <a:spLocks noGrp="1"/>
          </p:cNvSpPr>
          <p:nvPr>
            <p:ph type="sldNum" idx="8"/>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lang="en-US" sz="1200" b="0" u="none" strike="noStrike">
                <a:solidFill>
                  <a:schemeClr val="dk1"/>
                </a:solidFill>
                <a:effectLst/>
                <a:uFillTx/>
                <a:latin typeface="+mn-lt"/>
                <a:ea typeface="+mn-ea"/>
              </a:defRPr>
            </a:lvl1pPr>
          </a:lstStyle>
          <a:p>
            <a:pPr indent="0" algn="r" defTabSz="914400">
              <a:lnSpc>
                <a:spcPct val="100000"/>
              </a:lnSpc>
              <a:buNone/>
              <a:tabLst>
                <a:tab algn="l" pos="0"/>
              </a:tabLst>
            </a:pPr>
            <a:fld id="{98707FB9-B895-4965-8F96-F219FE42BB22}" type="slidenum">
              <a:rPr lang="en-US" sz="1200" b="0" u="none" strike="noStrike">
                <a:solidFill>
                  <a:schemeClr val="dk1"/>
                </a:solidFill>
                <a:effectLst/>
                <a:uFillTx/>
                <a:latin typeface="+mn-lt"/>
                <a:ea typeface="+mn-ea"/>
              </a:rPr>
              <a:t>&lt;numéro&gt;</a:t>
            </a:fld>
            <a:endParaRPr lang="fr-FR"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6" name="PlaceHolder 1"/>
          <p:cNvSpPr>
            <a:spLocks noGrp="1"/>
          </p:cNvSpPr>
          <p:nvPr>
            <p:ph type="sldImg"/>
          </p:nvPr>
        </p:nvSpPr>
        <p:spPr>
          <a:xfrm>
            <a:off x="685800" y="1143000"/>
            <a:ext cx="5485680" cy="3085560"/>
          </a:xfrm>
          <a:prstGeom prst="rect">
            <a:avLst/>
          </a:prstGeom>
          <a:ln w="0">
            <a:noFill/>
          </a:ln>
        </p:spPr>
      </p:sp>
      <p:sp>
        <p:nvSpPr>
          <p:cNvPr id="467"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buNone/>
            </a:pPr>
            <a:endParaRPr lang="fr-FR" sz="1800" b="0" u="none" strike="noStrike">
              <a:solidFill>
                <a:srgbClr val="000000"/>
              </a:solidFill>
              <a:effectLst/>
              <a:uFillTx/>
              <a:latin typeface="Arial"/>
            </a:endParaRPr>
          </a:p>
        </p:txBody>
      </p:sp>
      <p:sp>
        <p:nvSpPr>
          <p:cNvPr id="468" name="PlaceHolder 3"/>
          <p:cNvSpPr>
            <a:spLocks noGrp="1"/>
          </p:cNvSpPr>
          <p:nvPr>
            <p:ph type="sldNum" idx="9"/>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lang="en-US" sz="1200" b="0" u="none" strike="noStrike">
                <a:solidFill>
                  <a:schemeClr val="dk1"/>
                </a:solidFill>
                <a:effectLst/>
                <a:uFillTx/>
                <a:latin typeface="+mn-lt"/>
                <a:ea typeface="+mn-ea"/>
              </a:defRPr>
            </a:lvl1pPr>
          </a:lstStyle>
          <a:p>
            <a:pPr indent="0" algn="r" defTabSz="914400">
              <a:lnSpc>
                <a:spcPct val="100000"/>
              </a:lnSpc>
              <a:buNone/>
              <a:tabLst>
                <a:tab algn="l" pos="0"/>
              </a:tabLst>
            </a:pPr>
            <a:fld id="{1914F750-1B68-4A81-802C-283819270EEA}" type="slidenum">
              <a:rPr lang="en-US" sz="1200" b="0" u="none" strike="noStrike">
                <a:solidFill>
                  <a:schemeClr val="dk1"/>
                </a:solidFill>
                <a:effectLst/>
                <a:uFillTx/>
                <a:latin typeface="+mn-lt"/>
                <a:ea typeface="+mn-ea"/>
              </a:rPr>
              <a:t>&lt;numéro&gt;</a:t>
            </a:fld>
            <a:endParaRPr lang="fr-FR"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9" name="PlaceHolder 1"/>
          <p:cNvSpPr>
            <a:spLocks noGrp="1"/>
          </p:cNvSpPr>
          <p:nvPr>
            <p:ph type="sldImg"/>
          </p:nvPr>
        </p:nvSpPr>
        <p:spPr>
          <a:xfrm>
            <a:off x="685800" y="1143000"/>
            <a:ext cx="5485680" cy="3085560"/>
          </a:xfrm>
          <a:prstGeom prst="rect">
            <a:avLst/>
          </a:prstGeom>
          <a:ln w="0">
            <a:noFill/>
          </a:ln>
        </p:spPr>
      </p:sp>
      <p:sp>
        <p:nvSpPr>
          <p:cNvPr id="470"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buNone/>
            </a:pPr>
            <a:endParaRPr lang="fr-FR" sz="1800" b="0" u="none" strike="noStrike">
              <a:solidFill>
                <a:srgbClr val="000000"/>
              </a:solidFill>
              <a:effectLst/>
              <a:uFillTx/>
              <a:latin typeface="Arial"/>
            </a:endParaRPr>
          </a:p>
        </p:txBody>
      </p:sp>
      <p:sp>
        <p:nvSpPr>
          <p:cNvPr id="471" name="PlaceHolder 3"/>
          <p:cNvSpPr>
            <a:spLocks noGrp="1"/>
          </p:cNvSpPr>
          <p:nvPr>
            <p:ph type="sldNum" idx="10"/>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lang="en-US" sz="1200" b="0" u="none" strike="noStrike">
                <a:solidFill>
                  <a:schemeClr val="dk1"/>
                </a:solidFill>
                <a:effectLst/>
                <a:uFillTx/>
                <a:latin typeface="+mn-lt"/>
                <a:ea typeface="+mn-ea"/>
              </a:defRPr>
            </a:lvl1pPr>
          </a:lstStyle>
          <a:p>
            <a:pPr indent="0" algn="r" defTabSz="914400">
              <a:lnSpc>
                <a:spcPct val="100000"/>
              </a:lnSpc>
              <a:buNone/>
              <a:tabLst>
                <a:tab algn="l" pos="0"/>
              </a:tabLst>
            </a:pPr>
            <a:fld id="{BB0CF4F0-DCEE-4175-84C4-9DEB4FD48633}" type="slidenum">
              <a:rPr lang="en-US" sz="1200" b="0" u="none" strike="noStrike">
                <a:solidFill>
                  <a:schemeClr val="dk1"/>
                </a:solidFill>
                <a:effectLst/>
                <a:uFillTx/>
                <a:latin typeface="+mn-lt"/>
                <a:ea typeface="+mn-ea"/>
              </a:rPr>
              <a:t>&lt;numéro&gt;</a:t>
            </a:fld>
            <a:endParaRPr lang="fr-FR"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2" name="PlaceHolder 1"/>
          <p:cNvSpPr>
            <a:spLocks noGrp="1"/>
          </p:cNvSpPr>
          <p:nvPr>
            <p:ph type="sldImg"/>
          </p:nvPr>
        </p:nvSpPr>
        <p:spPr>
          <a:xfrm>
            <a:off x="685800" y="1143000"/>
            <a:ext cx="5485680" cy="3085560"/>
          </a:xfrm>
          <a:prstGeom prst="rect">
            <a:avLst/>
          </a:prstGeom>
          <a:ln w="0">
            <a:noFill/>
          </a:ln>
        </p:spPr>
      </p:sp>
      <p:sp>
        <p:nvSpPr>
          <p:cNvPr id="473"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buNone/>
            </a:pPr>
            <a:endParaRPr lang="fr-FR" sz="1800" b="0" u="none" strike="noStrike">
              <a:solidFill>
                <a:srgbClr val="000000"/>
              </a:solidFill>
              <a:effectLst/>
              <a:uFillTx/>
              <a:latin typeface="Arial"/>
            </a:endParaRPr>
          </a:p>
        </p:txBody>
      </p:sp>
      <p:sp>
        <p:nvSpPr>
          <p:cNvPr id="474" name="PlaceHolder 3"/>
          <p:cNvSpPr>
            <a:spLocks noGrp="1"/>
          </p:cNvSpPr>
          <p:nvPr>
            <p:ph type="sldNum" idx="11"/>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lang="en-US" sz="1200" b="0" u="none" strike="noStrike">
                <a:solidFill>
                  <a:schemeClr val="dk1"/>
                </a:solidFill>
                <a:effectLst/>
                <a:uFillTx/>
                <a:latin typeface="+mn-lt"/>
                <a:ea typeface="+mn-ea"/>
              </a:defRPr>
            </a:lvl1pPr>
          </a:lstStyle>
          <a:p>
            <a:pPr indent="0" algn="r" defTabSz="914400">
              <a:lnSpc>
                <a:spcPct val="100000"/>
              </a:lnSpc>
              <a:buNone/>
              <a:tabLst>
                <a:tab algn="l" pos="0"/>
              </a:tabLst>
            </a:pPr>
            <a:fld id="{C30E2B3A-E587-41FA-8B0E-E1B3D1777B64}" type="slidenum">
              <a:rPr lang="en-US" sz="1200" b="0" u="none" strike="noStrike">
                <a:solidFill>
                  <a:schemeClr val="dk1"/>
                </a:solidFill>
                <a:effectLst/>
                <a:uFillTx/>
                <a:latin typeface="+mn-lt"/>
                <a:ea typeface="+mn-ea"/>
              </a:rPr>
              <a:t>&lt;numéro&gt;</a:t>
            </a:fld>
            <a:endParaRPr lang="fr-FR"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5" name="PlaceHolder 1"/>
          <p:cNvSpPr>
            <a:spLocks noGrp="1"/>
          </p:cNvSpPr>
          <p:nvPr>
            <p:ph type="sldImg"/>
          </p:nvPr>
        </p:nvSpPr>
        <p:spPr>
          <a:xfrm>
            <a:off x="685800" y="1143000"/>
            <a:ext cx="5485680" cy="3085560"/>
          </a:xfrm>
          <a:prstGeom prst="rect">
            <a:avLst/>
          </a:prstGeom>
          <a:ln w="0">
            <a:noFill/>
          </a:ln>
        </p:spPr>
      </p:sp>
      <p:sp>
        <p:nvSpPr>
          <p:cNvPr id="476"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buNone/>
            </a:pPr>
            <a:endParaRPr lang="fr-FR" sz="1800" b="0" u="none" strike="noStrike">
              <a:solidFill>
                <a:srgbClr val="000000"/>
              </a:solidFill>
              <a:effectLst/>
              <a:uFillTx/>
              <a:latin typeface="Arial"/>
            </a:endParaRPr>
          </a:p>
        </p:txBody>
      </p:sp>
      <p:sp>
        <p:nvSpPr>
          <p:cNvPr id="477" name="PlaceHolder 3"/>
          <p:cNvSpPr>
            <a:spLocks noGrp="1"/>
          </p:cNvSpPr>
          <p:nvPr>
            <p:ph type="sldNum" idx="12"/>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lang="en-US" sz="1200" b="0" u="none" strike="noStrike">
                <a:solidFill>
                  <a:schemeClr val="dk1"/>
                </a:solidFill>
                <a:effectLst/>
                <a:uFillTx/>
                <a:latin typeface="+mn-lt"/>
                <a:ea typeface="+mn-ea"/>
              </a:defRPr>
            </a:lvl1pPr>
          </a:lstStyle>
          <a:p>
            <a:pPr indent="0" algn="r" defTabSz="914400">
              <a:lnSpc>
                <a:spcPct val="100000"/>
              </a:lnSpc>
              <a:buNone/>
              <a:tabLst>
                <a:tab algn="l" pos="0"/>
              </a:tabLst>
            </a:pPr>
            <a:fld id="{D98341AC-721E-4D3A-B691-DD32F2377E84}" type="slidenum">
              <a:rPr lang="en-US" sz="1200" b="0" u="none" strike="noStrike">
                <a:solidFill>
                  <a:schemeClr val="dk1"/>
                </a:solidFill>
                <a:effectLst/>
                <a:uFillTx/>
                <a:latin typeface="+mn-lt"/>
                <a:ea typeface="+mn-ea"/>
              </a:rPr>
              <a:t>&lt;numéro&gt;</a:t>
            </a:fld>
            <a:endParaRPr lang="fr-FR"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8" name="PlaceHolder 1"/>
          <p:cNvSpPr>
            <a:spLocks noGrp="1"/>
          </p:cNvSpPr>
          <p:nvPr>
            <p:ph type="sldImg"/>
          </p:nvPr>
        </p:nvSpPr>
        <p:spPr>
          <a:xfrm>
            <a:off x="685800" y="1143000"/>
            <a:ext cx="5485680" cy="3085560"/>
          </a:xfrm>
          <a:prstGeom prst="rect">
            <a:avLst/>
          </a:prstGeom>
          <a:ln w="0">
            <a:noFill/>
          </a:ln>
        </p:spPr>
      </p:sp>
      <p:sp>
        <p:nvSpPr>
          <p:cNvPr id="479"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buNone/>
            </a:pPr>
            <a:endParaRPr lang="fr-FR" sz="1800" b="0" u="none" strike="noStrike">
              <a:solidFill>
                <a:srgbClr val="000000"/>
              </a:solidFill>
              <a:effectLst/>
              <a:uFillTx/>
              <a:latin typeface="Arial"/>
            </a:endParaRPr>
          </a:p>
        </p:txBody>
      </p:sp>
      <p:sp>
        <p:nvSpPr>
          <p:cNvPr id="480" name="PlaceHolder 3"/>
          <p:cNvSpPr>
            <a:spLocks noGrp="1"/>
          </p:cNvSpPr>
          <p:nvPr>
            <p:ph type="sldNum" idx="13"/>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lang="en-US" sz="1200" b="0" u="none" strike="noStrike">
                <a:solidFill>
                  <a:schemeClr val="dk1"/>
                </a:solidFill>
                <a:effectLst/>
                <a:uFillTx/>
                <a:latin typeface="+mn-lt"/>
                <a:ea typeface="+mn-ea"/>
              </a:defRPr>
            </a:lvl1pPr>
          </a:lstStyle>
          <a:p>
            <a:pPr indent="0" algn="r" defTabSz="914400">
              <a:lnSpc>
                <a:spcPct val="100000"/>
              </a:lnSpc>
              <a:buNone/>
              <a:tabLst>
                <a:tab algn="l" pos="0"/>
              </a:tabLst>
            </a:pPr>
            <a:fld id="{A0E2B04C-A1B5-4975-829A-C40CF0C148D2}" type="slidenum">
              <a:rPr lang="en-US" sz="1200" b="0" u="none" strike="noStrike">
                <a:solidFill>
                  <a:schemeClr val="dk1"/>
                </a:solidFill>
                <a:effectLst/>
                <a:uFillTx/>
                <a:latin typeface="+mn-lt"/>
                <a:ea typeface="+mn-ea"/>
              </a:rPr>
              <a:t>&lt;numéro&gt;</a:t>
            </a:fld>
            <a:endParaRPr lang="fr-FR"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1" name="PlaceHolder 1"/>
          <p:cNvSpPr>
            <a:spLocks noGrp="1"/>
          </p:cNvSpPr>
          <p:nvPr>
            <p:ph type="sldImg"/>
          </p:nvPr>
        </p:nvSpPr>
        <p:spPr>
          <a:xfrm>
            <a:off x="685800" y="1143000"/>
            <a:ext cx="5485680" cy="3085560"/>
          </a:xfrm>
          <a:prstGeom prst="rect">
            <a:avLst/>
          </a:prstGeom>
          <a:ln w="0">
            <a:noFill/>
          </a:ln>
        </p:spPr>
      </p:sp>
      <p:sp>
        <p:nvSpPr>
          <p:cNvPr id="482"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buNone/>
            </a:pPr>
            <a:endParaRPr lang="fr-FR" sz="1800" b="0" u="none" strike="noStrike">
              <a:solidFill>
                <a:srgbClr val="000000"/>
              </a:solidFill>
              <a:effectLst/>
              <a:uFillTx/>
              <a:latin typeface="Arial"/>
            </a:endParaRPr>
          </a:p>
        </p:txBody>
      </p:sp>
      <p:sp>
        <p:nvSpPr>
          <p:cNvPr id="483" name="PlaceHolder 3"/>
          <p:cNvSpPr>
            <a:spLocks noGrp="1"/>
          </p:cNvSpPr>
          <p:nvPr>
            <p:ph type="sldNum" idx="14"/>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lang="en-US" sz="1200" b="0" u="none" strike="noStrike">
                <a:solidFill>
                  <a:schemeClr val="dk1"/>
                </a:solidFill>
                <a:effectLst/>
                <a:uFillTx/>
                <a:latin typeface="+mn-lt"/>
                <a:ea typeface="+mn-ea"/>
              </a:defRPr>
            </a:lvl1pPr>
          </a:lstStyle>
          <a:p>
            <a:pPr indent="0" algn="r" defTabSz="914400">
              <a:lnSpc>
                <a:spcPct val="100000"/>
              </a:lnSpc>
              <a:buNone/>
              <a:tabLst>
                <a:tab algn="l" pos="0"/>
              </a:tabLst>
            </a:pPr>
            <a:fld id="{16CDC929-650D-45C3-A24E-23AEC3F7A33B}" type="slidenum">
              <a:rPr lang="en-US" sz="1200" b="0" u="none" strike="noStrike">
                <a:solidFill>
                  <a:schemeClr val="dk1"/>
                </a:solidFill>
                <a:effectLst/>
                <a:uFillTx/>
                <a:latin typeface="+mn-lt"/>
                <a:ea typeface="+mn-ea"/>
              </a:rPr>
              <a:t>&lt;numéro&gt;</a:t>
            </a:fld>
            <a:endParaRPr lang="fr-FR"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4" name="PlaceHolder 1"/>
          <p:cNvSpPr>
            <a:spLocks noGrp="1"/>
          </p:cNvSpPr>
          <p:nvPr>
            <p:ph type="sldImg"/>
          </p:nvPr>
        </p:nvSpPr>
        <p:spPr>
          <a:xfrm>
            <a:off x="685800" y="1143000"/>
            <a:ext cx="5485680" cy="3085560"/>
          </a:xfrm>
          <a:prstGeom prst="rect">
            <a:avLst/>
          </a:prstGeom>
          <a:ln w="0">
            <a:noFill/>
          </a:ln>
        </p:spPr>
      </p:sp>
      <p:sp>
        <p:nvSpPr>
          <p:cNvPr id="485"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buNone/>
            </a:pPr>
            <a:endParaRPr lang="fr-FR" sz="1800" b="0" u="none" strike="noStrike">
              <a:solidFill>
                <a:srgbClr val="000000"/>
              </a:solidFill>
              <a:effectLst/>
              <a:uFillTx/>
              <a:latin typeface="Arial"/>
            </a:endParaRPr>
          </a:p>
        </p:txBody>
      </p:sp>
      <p:sp>
        <p:nvSpPr>
          <p:cNvPr id="486" name="PlaceHolder 3"/>
          <p:cNvSpPr>
            <a:spLocks noGrp="1"/>
          </p:cNvSpPr>
          <p:nvPr>
            <p:ph type="sldNum" idx="15"/>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lang="en-US" sz="1200" b="0" u="none" strike="noStrike">
                <a:solidFill>
                  <a:schemeClr val="dk1"/>
                </a:solidFill>
                <a:effectLst/>
                <a:uFillTx/>
                <a:latin typeface="+mn-lt"/>
                <a:ea typeface="+mn-ea"/>
              </a:defRPr>
            </a:lvl1pPr>
          </a:lstStyle>
          <a:p>
            <a:pPr indent="0" algn="r" defTabSz="914400">
              <a:lnSpc>
                <a:spcPct val="100000"/>
              </a:lnSpc>
              <a:buNone/>
              <a:tabLst>
                <a:tab algn="l" pos="0"/>
              </a:tabLst>
            </a:pPr>
            <a:fld id="{2F3F7206-4FD3-4ABC-A42C-9C053F4B9FE9}" type="slidenum">
              <a:rPr lang="en-US" sz="1200" b="0" u="none" strike="noStrike">
                <a:solidFill>
                  <a:schemeClr val="dk1"/>
                </a:solidFill>
                <a:effectLst/>
                <a:uFillTx/>
                <a:latin typeface="+mn-lt"/>
                <a:ea typeface="+mn-ea"/>
              </a:rPr>
              <a:t>&lt;numéro&gt;</a:t>
            </a:fld>
            <a:endParaRPr lang="fr-FR"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lang="fr-FR" sz="4400" b="0" u="none" strike="noStrike">
                <a:solidFill>
                  <a:srgbClr val="000000"/>
                </a:solidFill>
                <a:effectLst/>
                <a:uFillTx/>
                <a:latin typeface="Arial"/>
              </a:rPr>
              <a:t>Cliq</a:t>
            </a:r>
            <a:r>
              <a:rPr lang="fr-FR" sz="4400" b="0" u="none" strike="noStrike">
                <a:solidFill>
                  <a:srgbClr val="000000"/>
                </a:solidFill>
                <a:effectLst/>
                <a:uFillTx/>
                <a:latin typeface="Arial"/>
              </a:rPr>
              <a:t>uez </a:t>
            </a:r>
            <a:r>
              <a:rPr lang="fr-FR" sz="4400" b="0" u="none" strike="noStrike">
                <a:solidFill>
                  <a:srgbClr val="000000"/>
                </a:solidFill>
                <a:effectLst/>
                <a:uFillTx/>
                <a:latin typeface="Arial"/>
              </a:rPr>
              <a:t>pour </a:t>
            </a:r>
            <a:r>
              <a:rPr lang="fr-FR" sz="4400" b="0" u="none" strike="noStrike">
                <a:solidFill>
                  <a:srgbClr val="000000"/>
                </a:solidFill>
                <a:effectLst/>
                <a:uFillTx/>
                <a:latin typeface="Arial"/>
              </a:rPr>
              <a:t>édit</a:t>
            </a:r>
            <a:r>
              <a:rPr lang="fr-FR" sz="4400" b="0" u="none" strike="noStrike">
                <a:solidFill>
                  <a:srgbClr val="000000"/>
                </a:solidFill>
                <a:effectLst/>
                <a:uFillTx/>
                <a:latin typeface="Arial"/>
              </a:rPr>
              <a:t>er le </a:t>
            </a:r>
            <a:r>
              <a:rPr lang="fr-FR" sz="4400" b="0" u="none" strike="noStrike">
                <a:solidFill>
                  <a:srgbClr val="000000"/>
                </a:solidFill>
                <a:effectLst/>
                <a:uFillTx/>
                <a:latin typeface="Arial"/>
              </a:rPr>
              <a:t>form</a:t>
            </a:r>
            <a:r>
              <a:rPr lang="fr-FR" sz="4400" b="0" u="none" strike="noStrike">
                <a:solidFill>
                  <a:srgbClr val="000000"/>
                </a:solidFill>
                <a:effectLst/>
                <a:uFillTx/>
                <a:latin typeface="Arial"/>
              </a:rPr>
              <a:t>at </a:t>
            </a:r>
            <a:r>
              <a:rPr lang="fr-FR" sz="4400" b="0" u="none" strike="noStrike">
                <a:solidFill>
                  <a:srgbClr val="000000"/>
                </a:solidFill>
                <a:effectLst/>
                <a:uFillTx/>
                <a:latin typeface="Arial"/>
              </a:rPr>
              <a:t>du </a:t>
            </a:r>
            <a:r>
              <a:rPr lang="fr-FR" sz="4400" b="0" u="none" strike="noStrike">
                <a:solidFill>
                  <a:srgbClr val="000000"/>
                </a:solidFill>
                <a:effectLst/>
                <a:uFillTx/>
                <a:latin typeface="Arial"/>
              </a:rPr>
              <a:t>text</a:t>
            </a:r>
            <a:r>
              <a:rPr lang="fr-FR" sz="4400" b="0" u="none" strike="noStrike">
                <a:solidFill>
                  <a:srgbClr val="000000"/>
                </a:solidFill>
                <a:effectLst/>
                <a:uFillTx/>
                <a:latin typeface="Arial"/>
              </a:rPr>
              <a:t>e-</a:t>
            </a:r>
            <a:r>
              <a:rPr lang="fr-FR" sz="4400" b="0" u="none" strike="noStrike">
                <a:solidFill>
                  <a:srgbClr val="000000"/>
                </a:solidFill>
                <a:effectLst/>
                <a:uFillTx/>
                <a:latin typeface="Arial"/>
              </a:rPr>
              <a:t>titre</a:t>
            </a:r>
            <a:endParaRPr lang="fr-FR" sz="4400" b="0" u="none" strike="noStrike">
              <a:solidFill>
                <a:srgbClr val="000000"/>
              </a:solidFill>
              <a:effectLst/>
              <a:uFillTx/>
              <a:latin typeface="Arial"/>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fr-FR" sz="3200" b="0" u="none" strike="noStrike">
                <a:solidFill>
                  <a:srgbClr val="000000"/>
                </a:solidFill>
                <a:effectLst/>
                <a:uFillTx/>
                <a:latin typeface="Arial"/>
              </a:rPr>
              <a:t>Cliquez pour éditer le format du plan de texte</a:t>
            </a:r>
            <a:endParaRPr lang="fr-FR" sz="32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fr-FR" sz="2800" b="0" u="none" strike="noStrike">
                <a:solidFill>
                  <a:srgbClr val="000000"/>
                </a:solidFill>
                <a:effectLst/>
                <a:uFillTx/>
                <a:latin typeface="Arial"/>
              </a:rPr>
              <a:t>Second niveau de plan</a:t>
            </a:r>
            <a:endParaRPr lang="fr-FR" sz="2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fr-FR" sz="2400" b="0" u="none" strike="noStrike">
                <a:solidFill>
                  <a:srgbClr val="000000"/>
                </a:solidFill>
                <a:effectLst/>
                <a:uFillTx/>
                <a:latin typeface="Arial"/>
              </a:rPr>
              <a:t>Troisième niveau de plan</a:t>
            </a:r>
            <a:endParaRPr lang="fr-FR" sz="24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fr-FR" sz="2000" b="0" u="none" strike="noStrike">
                <a:solidFill>
                  <a:srgbClr val="000000"/>
                </a:solidFill>
                <a:effectLst/>
                <a:uFillTx/>
                <a:latin typeface="Arial"/>
              </a:rPr>
              <a:t>Quatrième niveau de plan</a:t>
            </a:r>
            <a:endParaRPr lang="fr-FR" sz="20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Cinquième niveau de plan</a:t>
            </a:r>
            <a:endParaRPr lang="fr-FR" sz="20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Sixième niveau de plan</a:t>
            </a:r>
            <a:endParaRPr lang="fr-FR" sz="20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Septième niveau de plan</a:t>
            </a:r>
            <a:endParaRPr lang="fr-FR"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svg"/><Relationship Id="rId3" Type="http://schemas.openxmlformats.org/officeDocument/2006/relationships/image" Target="../media/image3.png"/><Relationship Id="rId4" Type="http://schemas.openxmlformats.org/officeDocument/2006/relationships/image" Target="../media/image4.svg"/><Relationship Id="rId5" Type="http://schemas.openxmlformats.org/officeDocument/2006/relationships/image" Target="../media/image5.png"/><Relationship Id="rId6" Type="http://schemas.openxmlformats.org/officeDocument/2006/relationships/image" Target="../media/image6.svg"/><Relationship Id="rId7" Type="http://schemas.openxmlformats.org/officeDocument/2006/relationships/image" Target="../media/image7.png"/><Relationship Id="rId8" Type="http://schemas.openxmlformats.org/officeDocument/2006/relationships/image" Target="../media/image8.svg"/><Relationship Id="rId9" Type="http://schemas.openxmlformats.org/officeDocument/2006/relationships/image" Target="../media/image9.png"/><Relationship Id="rId10" Type="http://schemas.openxmlformats.org/officeDocument/2006/relationships/image" Target="../media/image10.svg"/><Relationship Id="rId11" Type="http://schemas.openxmlformats.org/officeDocument/2006/relationships/slideLayout" Target="../slideLayouts/slideLayout1.xml"/><Relationship Id="rId1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svg"/><Relationship Id="rId3" Type="http://schemas.openxmlformats.org/officeDocument/2006/relationships/slideLayout" Target="../slideLayouts/slideLayout1.xml"/><Relationship Id="rId4"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220"/>
        </a:solidFill>
      </p:bgPr>
    </p:bg>
    <p:spTree>
      <p:nvGrpSpPr>
        <p:cNvPr id="1" name=""/>
        <p:cNvGrpSpPr/>
        <p:nvPr/>
      </p:nvGrpSpPr>
      <p:grpSpPr>
        <a:xfrm>
          <a:off x="0" y="0"/>
          <a:ext cx="0" cy="0"/>
          <a:chOff x="0" y="0"/>
          <a:chExt cx="0" cy="0"/>
        </a:xfrm>
      </p:grpSpPr>
      <p:pic>
        <p:nvPicPr>
          <p:cNvPr id="10" name="Image 0" descr="preencoded.png"/>
          <p:cNvPicPr/>
          <p:nvPr/>
        </p:nvPicPr>
        <p:blipFill>
          <a:blip r:embed="rId1">
            <a:extLst>
              <a:ext uri="{96DAC541-7B7A-43D3-8B79-37D633B846F1}">
                <asvg:svgBlip xmlns:asvg="http://schemas.microsoft.com/office/drawing/2016/SVG/main" r:embed="rId2"/>
              </a:ext>
            </a:extLst>
          </a:blip>
          <a:stretch/>
        </p:blipFill>
        <p:spPr>
          <a:xfrm>
            <a:off x="0" y="0"/>
            <a:ext cx="12191040" cy="6857280"/>
          </a:xfrm>
          <a:prstGeom prst="rect">
            <a:avLst/>
          </a:prstGeom>
          <a:noFill/>
          <a:ln w="0">
            <a:noFill/>
          </a:ln>
        </p:spPr>
      </p:pic>
      <p:pic>
        <p:nvPicPr>
          <p:cNvPr id="11" name="Image 1" descr="preencoded.png"/>
          <p:cNvPicPr/>
          <p:nvPr/>
        </p:nvPicPr>
        <p:blipFill>
          <a:blip r:embed="rId3">
            <a:extLst>
              <a:ext uri="{96DAC541-7B7A-43D3-8B79-37D633B846F1}">
                <asvg:svgBlip xmlns:asvg="http://schemas.microsoft.com/office/drawing/2016/SVG/main" r:embed="rId4"/>
              </a:ext>
            </a:extLst>
          </a:blip>
          <a:stretch/>
        </p:blipFill>
        <p:spPr>
          <a:xfrm>
            <a:off x="0" y="0"/>
            <a:ext cx="12191040" cy="6857280"/>
          </a:xfrm>
          <a:prstGeom prst="rect">
            <a:avLst/>
          </a:prstGeom>
          <a:noFill/>
          <a:ln w="0">
            <a:noFill/>
          </a:ln>
        </p:spPr>
      </p:pic>
      <p:pic>
        <p:nvPicPr>
          <p:cNvPr id="12" name="Image 2" descr="preencoded.png"/>
          <p:cNvPicPr/>
          <p:nvPr/>
        </p:nvPicPr>
        <p:blipFill>
          <a:blip r:embed="rId5">
            <a:extLst>
              <a:ext uri="{96DAC541-7B7A-43D3-8B79-37D633B846F1}">
                <asvg:svgBlip xmlns:asvg="http://schemas.microsoft.com/office/drawing/2016/SVG/main" r:embed="rId6"/>
              </a:ext>
            </a:extLst>
          </a:blip>
          <a:stretch/>
        </p:blipFill>
        <p:spPr>
          <a:xfrm>
            <a:off x="0" y="0"/>
            <a:ext cx="12191040" cy="6857280"/>
          </a:xfrm>
          <a:prstGeom prst="rect">
            <a:avLst/>
          </a:prstGeom>
          <a:noFill/>
          <a:ln w="0">
            <a:noFill/>
          </a:ln>
        </p:spPr>
      </p:pic>
      <p:pic>
        <p:nvPicPr>
          <p:cNvPr id="13" name="Image 3" descr="preencoded.png"/>
          <p:cNvPicPr/>
          <p:nvPr/>
        </p:nvPicPr>
        <p:blipFill>
          <a:blip r:embed="rId7">
            <a:extLst>
              <a:ext uri="{96DAC541-7B7A-43D3-8B79-37D633B846F1}">
                <asvg:svgBlip xmlns:asvg="http://schemas.microsoft.com/office/drawing/2016/SVG/main" r:embed="rId8"/>
              </a:ext>
            </a:extLst>
          </a:blip>
          <a:stretch/>
        </p:blipFill>
        <p:spPr>
          <a:xfrm>
            <a:off x="0" y="0"/>
            <a:ext cx="12191040" cy="6857280"/>
          </a:xfrm>
          <a:prstGeom prst="rect">
            <a:avLst/>
          </a:prstGeom>
          <a:noFill/>
          <a:ln w="0">
            <a:noFill/>
          </a:ln>
        </p:spPr>
      </p:pic>
      <p:pic>
        <p:nvPicPr>
          <p:cNvPr id="14" name="Image 4" descr="preencoded.png"/>
          <p:cNvPicPr/>
          <p:nvPr/>
        </p:nvPicPr>
        <p:blipFill>
          <a:blip r:embed="rId9">
            <a:extLst>
              <a:ext uri="{96DAC541-7B7A-43D3-8B79-37D633B846F1}">
                <asvg:svgBlip xmlns:asvg="http://schemas.microsoft.com/office/drawing/2016/SVG/main" r:embed="rId10"/>
              </a:ext>
            </a:extLst>
          </a:blip>
          <a:stretch/>
        </p:blipFill>
        <p:spPr>
          <a:xfrm>
            <a:off x="0" y="0"/>
            <a:ext cx="12191040" cy="6857280"/>
          </a:xfrm>
          <a:prstGeom prst="rect">
            <a:avLst/>
          </a:prstGeom>
          <a:noFill/>
          <a:ln w="0">
            <a:noFill/>
          </a:ln>
        </p:spPr>
      </p:pic>
      <p:sp>
        <p:nvSpPr>
          <p:cNvPr id="15" name="Shape 0"/>
          <p:cNvSpPr/>
          <p:nvPr/>
        </p:nvSpPr>
        <p:spPr>
          <a:xfrm>
            <a:off x="3767400" y="4224600"/>
            <a:ext cx="145440" cy="145440"/>
          </a:xfrm>
          <a:prstGeom prst="ellipse">
            <a:avLst/>
          </a:prstGeom>
          <a:solidFill>
            <a:srgbClr val="ffffff"/>
          </a:solidFill>
          <a:ln w="12700">
            <a:solidFill>
              <a:srgbClr val="ffffff"/>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16" name="Shape 1"/>
          <p:cNvSpPr/>
          <p:nvPr/>
        </p:nvSpPr>
        <p:spPr>
          <a:xfrm>
            <a:off x="3803760" y="4260960"/>
            <a:ext cx="72360" cy="72360"/>
          </a:xfrm>
          <a:prstGeom prst="ellipse">
            <a:avLst/>
          </a:prstGeom>
          <a:solidFill>
            <a:srgbClr val="ffbe00"/>
          </a:solidFill>
          <a:ln w="12700">
            <a:solidFill>
              <a:srgbClr val="ffbe00"/>
            </a:solidFill>
            <a:round/>
          </a:ln>
        </p:spPr>
        <p:style>
          <a:lnRef idx="0"/>
          <a:fillRef idx="0"/>
          <a:effectRef idx="0"/>
          <a:fontRef idx="minor"/>
        </p:style>
        <p:txBody>
          <a:bodyPr lIns="90000" rIns="90000" tIns="6840" bIns="6840" anchor="t">
            <a:noAutofit/>
          </a:bodyPr>
          <a:p>
            <a:pPr>
              <a:lnSpc>
                <a:spcPct val="100000"/>
              </a:lnSpc>
            </a:pPr>
            <a:endParaRPr lang="fr-FR" sz="1800" b="0" u="none" strike="noStrike">
              <a:solidFill>
                <a:srgbClr val="000000"/>
              </a:solidFill>
              <a:effectLst/>
              <a:uFillTx/>
              <a:latin typeface="Arial"/>
            </a:endParaRPr>
          </a:p>
        </p:txBody>
      </p:sp>
      <p:sp>
        <p:nvSpPr>
          <p:cNvPr id="17" name="Shape 2"/>
          <p:cNvSpPr/>
          <p:nvPr/>
        </p:nvSpPr>
        <p:spPr>
          <a:xfrm>
            <a:off x="7425000" y="4956120"/>
            <a:ext cx="145440" cy="145440"/>
          </a:xfrm>
          <a:prstGeom prst="ellipse">
            <a:avLst/>
          </a:prstGeom>
          <a:solidFill>
            <a:srgbClr val="ffffff"/>
          </a:solidFill>
          <a:ln w="12700">
            <a:solidFill>
              <a:srgbClr val="ffffff"/>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18" name="Shape 3"/>
          <p:cNvSpPr/>
          <p:nvPr/>
        </p:nvSpPr>
        <p:spPr>
          <a:xfrm>
            <a:off x="7461360" y="4992480"/>
            <a:ext cx="72360" cy="72360"/>
          </a:xfrm>
          <a:prstGeom prst="ellipse">
            <a:avLst/>
          </a:prstGeom>
          <a:solidFill>
            <a:srgbClr val="cf009e"/>
          </a:solidFill>
          <a:ln w="12700">
            <a:solidFill>
              <a:srgbClr val="cf009e"/>
            </a:solidFill>
            <a:round/>
          </a:ln>
        </p:spPr>
        <p:style>
          <a:lnRef idx="0"/>
          <a:fillRef idx="0"/>
          <a:effectRef idx="0"/>
          <a:fontRef idx="minor"/>
        </p:style>
        <p:txBody>
          <a:bodyPr lIns="90000" rIns="90000" tIns="6840" bIns="6840" anchor="t">
            <a:noAutofit/>
          </a:bodyPr>
          <a:p>
            <a:pPr>
              <a:lnSpc>
                <a:spcPct val="100000"/>
              </a:lnSpc>
            </a:pPr>
            <a:endParaRPr lang="fr-FR" sz="1800" b="0" u="none" strike="noStrike">
              <a:solidFill>
                <a:srgbClr val="ffffff"/>
              </a:solidFill>
              <a:effectLst/>
              <a:uFillTx/>
              <a:latin typeface="Arial"/>
            </a:endParaRPr>
          </a:p>
        </p:txBody>
      </p:sp>
      <p:sp>
        <p:nvSpPr>
          <p:cNvPr id="19" name="Shape 4"/>
          <p:cNvSpPr/>
          <p:nvPr/>
        </p:nvSpPr>
        <p:spPr>
          <a:xfrm>
            <a:off x="2853000" y="3310200"/>
            <a:ext cx="145440" cy="145440"/>
          </a:xfrm>
          <a:prstGeom prst="ellipse">
            <a:avLst/>
          </a:prstGeom>
          <a:solidFill>
            <a:srgbClr val="ffffff"/>
          </a:solidFill>
          <a:ln w="12700">
            <a:solidFill>
              <a:srgbClr val="ffffff"/>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20" name="Shape 5"/>
          <p:cNvSpPr/>
          <p:nvPr/>
        </p:nvSpPr>
        <p:spPr>
          <a:xfrm>
            <a:off x="2889360" y="3346560"/>
            <a:ext cx="72360" cy="72360"/>
          </a:xfrm>
          <a:prstGeom prst="ellipse">
            <a:avLst/>
          </a:prstGeom>
          <a:solidFill>
            <a:srgbClr val="003ca6"/>
          </a:solidFill>
          <a:ln w="12700">
            <a:solidFill>
              <a:srgbClr val="003ca6"/>
            </a:solidFill>
            <a:round/>
          </a:ln>
        </p:spPr>
        <p:style>
          <a:lnRef idx="0"/>
          <a:fillRef idx="0"/>
          <a:effectRef idx="0"/>
          <a:fontRef idx="minor"/>
        </p:style>
        <p:txBody>
          <a:bodyPr lIns="90000" rIns="90000" tIns="6840" bIns="6840" anchor="t">
            <a:noAutofit/>
          </a:bodyPr>
          <a:p>
            <a:pPr>
              <a:lnSpc>
                <a:spcPct val="100000"/>
              </a:lnSpc>
            </a:pPr>
            <a:endParaRPr lang="fr-FR" sz="1800" b="0" u="none" strike="noStrike">
              <a:solidFill>
                <a:srgbClr val="ffffff"/>
              </a:solidFill>
              <a:effectLst/>
              <a:uFillTx/>
              <a:latin typeface="Arial"/>
            </a:endParaRPr>
          </a:p>
        </p:txBody>
      </p:sp>
      <p:sp>
        <p:nvSpPr>
          <p:cNvPr id="21" name="Shape 6"/>
          <p:cNvSpPr/>
          <p:nvPr/>
        </p:nvSpPr>
        <p:spPr>
          <a:xfrm>
            <a:off x="6419160" y="3401640"/>
            <a:ext cx="145440" cy="145440"/>
          </a:xfrm>
          <a:prstGeom prst="ellipse">
            <a:avLst/>
          </a:prstGeom>
          <a:solidFill>
            <a:srgbClr val="ffffff"/>
          </a:solidFill>
          <a:ln w="12700">
            <a:solidFill>
              <a:srgbClr val="ffffff"/>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22" name="Shape 7"/>
          <p:cNvSpPr/>
          <p:nvPr/>
        </p:nvSpPr>
        <p:spPr>
          <a:xfrm>
            <a:off x="6455520" y="3438000"/>
            <a:ext cx="72360" cy="72360"/>
          </a:xfrm>
          <a:prstGeom prst="ellipse">
            <a:avLst/>
          </a:prstGeom>
          <a:solidFill>
            <a:srgbClr val="10b981"/>
          </a:solidFill>
          <a:ln w="12700">
            <a:solidFill>
              <a:srgbClr val="10b981"/>
            </a:solidFill>
            <a:round/>
          </a:ln>
        </p:spPr>
        <p:style>
          <a:lnRef idx="0"/>
          <a:fillRef idx="0"/>
          <a:effectRef idx="0"/>
          <a:fontRef idx="minor"/>
        </p:style>
        <p:txBody>
          <a:bodyPr lIns="90000" rIns="90000" tIns="6840" bIns="6840" anchor="t">
            <a:noAutofit/>
          </a:bodyPr>
          <a:p>
            <a:pPr>
              <a:lnSpc>
                <a:spcPct val="100000"/>
              </a:lnSpc>
            </a:pPr>
            <a:endParaRPr lang="fr-FR" sz="1800" b="0" u="none" strike="noStrike">
              <a:solidFill>
                <a:srgbClr val="000000"/>
              </a:solidFill>
              <a:effectLst/>
              <a:uFillTx/>
              <a:latin typeface="Arial"/>
            </a:endParaRPr>
          </a:p>
        </p:txBody>
      </p:sp>
      <p:sp>
        <p:nvSpPr>
          <p:cNvPr id="23" name="Shape 8"/>
          <p:cNvSpPr/>
          <p:nvPr/>
        </p:nvSpPr>
        <p:spPr>
          <a:xfrm>
            <a:off x="4864680" y="2487240"/>
            <a:ext cx="145440" cy="145440"/>
          </a:xfrm>
          <a:prstGeom prst="ellipse">
            <a:avLst/>
          </a:prstGeom>
          <a:solidFill>
            <a:srgbClr val="ffffff"/>
          </a:solidFill>
          <a:ln w="12700">
            <a:solidFill>
              <a:srgbClr val="ffffff"/>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24" name="Shape 9"/>
          <p:cNvSpPr/>
          <p:nvPr/>
        </p:nvSpPr>
        <p:spPr>
          <a:xfrm>
            <a:off x="4901040" y="2523600"/>
            <a:ext cx="72360" cy="72360"/>
          </a:xfrm>
          <a:prstGeom prst="ellipse">
            <a:avLst/>
          </a:prstGeom>
          <a:solidFill>
            <a:srgbClr val="8b5cf6"/>
          </a:solidFill>
          <a:ln w="12700">
            <a:solidFill>
              <a:srgbClr val="8b5cf6"/>
            </a:solidFill>
            <a:round/>
          </a:ln>
        </p:spPr>
        <p:style>
          <a:lnRef idx="0"/>
          <a:fillRef idx="0"/>
          <a:effectRef idx="0"/>
          <a:fontRef idx="minor"/>
        </p:style>
        <p:txBody>
          <a:bodyPr lIns="90000" rIns="90000" tIns="6840" bIns="6840" anchor="t">
            <a:noAutofit/>
          </a:bodyPr>
          <a:p>
            <a:pPr>
              <a:lnSpc>
                <a:spcPct val="100000"/>
              </a:lnSpc>
            </a:pPr>
            <a:endParaRPr lang="fr-FR" sz="1800" b="0" u="none" strike="noStrike">
              <a:solidFill>
                <a:srgbClr val="ffffff"/>
              </a:solidFill>
              <a:effectLst/>
              <a:uFillTx/>
              <a:latin typeface="Arial"/>
            </a:endParaRPr>
          </a:p>
        </p:txBody>
      </p:sp>
      <p:sp>
        <p:nvSpPr>
          <p:cNvPr id="25" name="Shape 10"/>
          <p:cNvSpPr/>
          <p:nvPr/>
        </p:nvSpPr>
        <p:spPr>
          <a:xfrm>
            <a:off x="9070920" y="3675960"/>
            <a:ext cx="145440" cy="145440"/>
          </a:xfrm>
          <a:prstGeom prst="ellipse">
            <a:avLst/>
          </a:prstGeom>
          <a:solidFill>
            <a:srgbClr val="ffffff"/>
          </a:solidFill>
          <a:ln w="12700">
            <a:solidFill>
              <a:srgbClr val="ffffff"/>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26" name="Shape 11"/>
          <p:cNvSpPr/>
          <p:nvPr/>
        </p:nvSpPr>
        <p:spPr>
          <a:xfrm>
            <a:off x="9107280" y="3712320"/>
            <a:ext cx="72360" cy="72360"/>
          </a:xfrm>
          <a:prstGeom prst="ellipse">
            <a:avLst/>
          </a:prstGeom>
          <a:solidFill>
            <a:srgbClr val="ffbe00"/>
          </a:solidFill>
          <a:ln w="12700">
            <a:solidFill>
              <a:srgbClr val="ffbe00"/>
            </a:solidFill>
            <a:round/>
          </a:ln>
        </p:spPr>
        <p:style>
          <a:lnRef idx="0"/>
          <a:fillRef idx="0"/>
          <a:effectRef idx="0"/>
          <a:fontRef idx="minor"/>
        </p:style>
        <p:txBody>
          <a:bodyPr lIns="90000" rIns="90000" tIns="6840" bIns="6840" anchor="t">
            <a:noAutofit/>
          </a:bodyPr>
          <a:p>
            <a:pPr>
              <a:lnSpc>
                <a:spcPct val="100000"/>
              </a:lnSpc>
            </a:pPr>
            <a:endParaRPr lang="fr-FR" sz="1800" b="0" u="none" strike="noStrike">
              <a:solidFill>
                <a:srgbClr val="000000"/>
              </a:solidFill>
              <a:effectLst/>
              <a:uFillTx/>
              <a:latin typeface="Arial"/>
            </a:endParaRPr>
          </a:p>
        </p:txBody>
      </p:sp>
      <p:sp>
        <p:nvSpPr>
          <p:cNvPr id="27" name="Shape 12"/>
          <p:cNvSpPr/>
          <p:nvPr/>
        </p:nvSpPr>
        <p:spPr>
          <a:xfrm>
            <a:off x="10716840" y="3675960"/>
            <a:ext cx="145440" cy="145440"/>
          </a:xfrm>
          <a:prstGeom prst="ellipse">
            <a:avLst/>
          </a:prstGeom>
          <a:solidFill>
            <a:srgbClr val="ffffff"/>
          </a:solidFill>
          <a:ln w="12700">
            <a:solidFill>
              <a:srgbClr val="ffffff"/>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28" name="Shape 13"/>
          <p:cNvSpPr/>
          <p:nvPr/>
        </p:nvSpPr>
        <p:spPr>
          <a:xfrm>
            <a:off x="10753200" y="3712320"/>
            <a:ext cx="72360" cy="72360"/>
          </a:xfrm>
          <a:prstGeom prst="ellipse">
            <a:avLst/>
          </a:prstGeom>
          <a:solidFill>
            <a:srgbClr val="cf009e"/>
          </a:solidFill>
          <a:ln w="12700">
            <a:solidFill>
              <a:srgbClr val="cf009e"/>
            </a:solidFill>
            <a:round/>
          </a:ln>
        </p:spPr>
        <p:style>
          <a:lnRef idx="0"/>
          <a:fillRef idx="0"/>
          <a:effectRef idx="0"/>
          <a:fontRef idx="minor"/>
        </p:style>
        <p:txBody>
          <a:bodyPr lIns="90000" rIns="90000" tIns="6840" bIns="6840" anchor="t">
            <a:noAutofit/>
          </a:bodyPr>
          <a:p>
            <a:pPr>
              <a:lnSpc>
                <a:spcPct val="100000"/>
              </a:lnSpc>
            </a:pPr>
            <a:endParaRPr lang="fr-FR" sz="1800" b="0" u="none" strike="noStrike">
              <a:solidFill>
                <a:srgbClr val="ffffff"/>
              </a:solidFill>
              <a:effectLst/>
              <a:uFillTx/>
              <a:latin typeface="Arial"/>
            </a:endParaRPr>
          </a:p>
        </p:txBody>
      </p:sp>
      <p:sp>
        <p:nvSpPr>
          <p:cNvPr id="29" name="Shape 14"/>
          <p:cNvSpPr/>
          <p:nvPr/>
        </p:nvSpPr>
        <p:spPr>
          <a:xfrm>
            <a:off x="5870520" y="1024200"/>
            <a:ext cx="145440" cy="145440"/>
          </a:xfrm>
          <a:prstGeom prst="ellipse">
            <a:avLst/>
          </a:prstGeom>
          <a:solidFill>
            <a:srgbClr val="ffffff"/>
          </a:solidFill>
          <a:ln w="12700">
            <a:solidFill>
              <a:srgbClr val="ffffff"/>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30" name="Shape 15"/>
          <p:cNvSpPr/>
          <p:nvPr/>
        </p:nvSpPr>
        <p:spPr>
          <a:xfrm>
            <a:off x="5906880" y="1060560"/>
            <a:ext cx="72360" cy="72360"/>
          </a:xfrm>
          <a:prstGeom prst="ellipse">
            <a:avLst/>
          </a:prstGeom>
          <a:solidFill>
            <a:srgbClr val="003ca6"/>
          </a:solidFill>
          <a:ln w="12700">
            <a:solidFill>
              <a:srgbClr val="003ca6"/>
            </a:solidFill>
            <a:round/>
          </a:ln>
        </p:spPr>
        <p:style>
          <a:lnRef idx="0"/>
          <a:fillRef idx="0"/>
          <a:effectRef idx="0"/>
          <a:fontRef idx="minor"/>
        </p:style>
        <p:txBody>
          <a:bodyPr lIns="90000" rIns="90000" tIns="6840" bIns="6840" anchor="t">
            <a:noAutofit/>
          </a:bodyPr>
          <a:p>
            <a:pPr>
              <a:lnSpc>
                <a:spcPct val="100000"/>
              </a:lnSpc>
            </a:pPr>
            <a:endParaRPr lang="fr-FR" sz="1800" b="0" u="none" strike="noStrike">
              <a:solidFill>
                <a:srgbClr val="ffffff"/>
              </a:solidFill>
              <a:effectLst/>
              <a:uFillTx/>
              <a:latin typeface="Arial"/>
            </a:endParaRPr>
          </a:p>
        </p:txBody>
      </p:sp>
      <p:sp>
        <p:nvSpPr>
          <p:cNvPr id="31" name="Shape 16"/>
          <p:cNvSpPr/>
          <p:nvPr/>
        </p:nvSpPr>
        <p:spPr>
          <a:xfrm>
            <a:off x="10168200" y="1572840"/>
            <a:ext cx="145440" cy="145440"/>
          </a:xfrm>
          <a:prstGeom prst="ellipse">
            <a:avLst/>
          </a:prstGeom>
          <a:solidFill>
            <a:srgbClr val="ffffff"/>
          </a:solidFill>
          <a:ln w="12700">
            <a:solidFill>
              <a:srgbClr val="ffffff"/>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32" name="Shape 17"/>
          <p:cNvSpPr/>
          <p:nvPr/>
        </p:nvSpPr>
        <p:spPr>
          <a:xfrm>
            <a:off x="10204560" y="1609200"/>
            <a:ext cx="72360" cy="72360"/>
          </a:xfrm>
          <a:prstGeom prst="ellipse">
            <a:avLst/>
          </a:prstGeom>
          <a:solidFill>
            <a:srgbClr val="10b981"/>
          </a:solidFill>
          <a:ln w="12700">
            <a:solidFill>
              <a:srgbClr val="10b981"/>
            </a:solidFill>
            <a:round/>
          </a:ln>
        </p:spPr>
        <p:style>
          <a:lnRef idx="0"/>
          <a:fillRef idx="0"/>
          <a:effectRef idx="0"/>
          <a:fontRef idx="minor"/>
        </p:style>
        <p:txBody>
          <a:bodyPr lIns="90000" rIns="90000" tIns="6840" bIns="6840" anchor="t">
            <a:noAutofit/>
          </a:bodyPr>
          <a:p>
            <a:pPr>
              <a:lnSpc>
                <a:spcPct val="100000"/>
              </a:lnSpc>
            </a:pPr>
            <a:endParaRPr lang="fr-FR" sz="1800" b="0" u="none" strike="noStrike">
              <a:solidFill>
                <a:srgbClr val="000000"/>
              </a:solidFill>
              <a:effectLst/>
              <a:uFillTx/>
              <a:latin typeface="Arial"/>
            </a:endParaRPr>
          </a:p>
        </p:txBody>
      </p:sp>
      <p:sp>
        <p:nvSpPr>
          <p:cNvPr id="33" name="Shape 18"/>
          <p:cNvSpPr/>
          <p:nvPr/>
        </p:nvSpPr>
        <p:spPr>
          <a:xfrm>
            <a:off x="749880" y="804600"/>
            <a:ext cx="6217200" cy="4159800"/>
          </a:xfrm>
          <a:prstGeom prst="roundRect">
            <a:avLst>
              <a:gd name="adj" fmla="val 1758"/>
            </a:avLst>
          </a:prstGeom>
          <a:solidFill>
            <a:srgbClr val="0e172a">
              <a:alpha val="82000"/>
            </a:srgbClr>
          </a:solidFill>
          <a:ln w="12700">
            <a:solidFill>
              <a:srgbClr val="334155">
                <a:alpha val="65000"/>
              </a:srgbClr>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34" name="Text 19"/>
          <p:cNvSpPr/>
          <p:nvPr/>
        </p:nvSpPr>
        <p:spPr>
          <a:xfrm>
            <a:off x="1024200" y="1234440"/>
            <a:ext cx="5394240" cy="15080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2700" b="1" u="none" strike="noStrike">
                <a:solidFill>
                  <a:srgbClr val="ffffff"/>
                </a:solidFill>
                <a:effectLst/>
                <a:uFillTx/>
                <a:latin typeface="Aptos Display"/>
                <a:ea typeface="Aptos Display"/>
              </a:rPr>
              <a:t>SAE Base de données</a:t>
            </a:r>
            <a:endParaRPr lang="fr-FR" sz="2700" b="0" u="none" strike="noStrike">
              <a:solidFill>
                <a:srgbClr val="ffffff"/>
              </a:solidFill>
              <a:effectLst/>
              <a:uFillTx/>
              <a:latin typeface="Arial"/>
            </a:endParaRPr>
          </a:p>
          <a:p>
            <a:pPr defTabSz="914400">
              <a:lnSpc>
                <a:spcPct val="100000"/>
              </a:lnSpc>
              <a:tabLst>
                <a:tab algn="l" pos="0"/>
              </a:tabLst>
            </a:pPr>
            <a:r>
              <a:rPr lang="en-US" sz="2700" b="1" u="none" strike="noStrike">
                <a:solidFill>
                  <a:srgbClr val="ffffff"/>
                </a:solidFill>
                <a:effectLst/>
                <a:uFillTx/>
                <a:latin typeface="Aptos Display"/>
                <a:ea typeface="Aptos Display"/>
              </a:rPr>
              <a:t>Métro parisien</a:t>
            </a:r>
            <a:endParaRPr lang="fr-FR" sz="2700" b="0" u="none" strike="noStrike">
              <a:solidFill>
                <a:srgbClr val="ffffff"/>
              </a:solidFill>
              <a:effectLst/>
              <a:uFillTx/>
              <a:latin typeface="Arial"/>
            </a:endParaRPr>
          </a:p>
        </p:txBody>
      </p:sp>
      <p:sp>
        <p:nvSpPr>
          <p:cNvPr id="35" name="Text 20"/>
          <p:cNvSpPr/>
          <p:nvPr/>
        </p:nvSpPr>
        <p:spPr>
          <a:xfrm>
            <a:off x="1051560" y="2907720"/>
            <a:ext cx="4982760" cy="7308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600" b="0" u="none" strike="noStrike">
                <a:solidFill>
                  <a:srgbClr val="d7e1ee"/>
                </a:solidFill>
                <a:effectLst/>
                <a:uFillTx/>
                <a:latin typeface="Aptos"/>
              </a:rPr>
              <a:t>Conception d'une base relationnelle PostgreSQL</a:t>
            </a:r>
            <a:endParaRPr lang="fr-FR" sz="1600" b="0" u="none" strike="noStrike">
              <a:solidFill>
                <a:srgbClr val="ffffff"/>
              </a:solidFill>
              <a:effectLst/>
              <a:uFillTx/>
              <a:latin typeface="Arial"/>
            </a:endParaRPr>
          </a:p>
          <a:p>
            <a:pPr defTabSz="914400">
              <a:lnSpc>
                <a:spcPct val="100000"/>
              </a:lnSpc>
              <a:tabLst>
                <a:tab algn="l" pos="0"/>
              </a:tabLst>
            </a:pPr>
            <a:r>
              <a:rPr lang="en-US" sz="1600" b="0" u="none" strike="noStrike">
                <a:solidFill>
                  <a:srgbClr val="d7e1ee"/>
                </a:solidFill>
                <a:effectLst/>
                <a:uFillTx/>
                <a:latin typeface="Aptos"/>
              </a:rPr>
              <a:t>pour modéliser le réseau, les stations et les passages.</a:t>
            </a:r>
            <a:endParaRPr lang="fr-FR" sz="1600" b="0" u="none" strike="noStrike">
              <a:solidFill>
                <a:srgbClr val="ffffff"/>
              </a:solidFill>
              <a:effectLst/>
              <a:uFillTx/>
              <a:latin typeface="Arial"/>
            </a:endParaRPr>
          </a:p>
        </p:txBody>
      </p:sp>
      <p:sp>
        <p:nvSpPr>
          <p:cNvPr id="36" name="Shape 21"/>
          <p:cNvSpPr/>
          <p:nvPr/>
        </p:nvSpPr>
        <p:spPr>
          <a:xfrm>
            <a:off x="1051560" y="3858480"/>
            <a:ext cx="1417320" cy="360"/>
          </a:xfrm>
          <a:prstGeom prst="line">
            <a:avLst/>
          </a:prstGeom>
          <a:ln w="12700">
            <a:solidFill>
              <a:srgbClr val="38bdf8"/>
            </a:solidFill>
            <a:round/>
          </a:ln>
        </p:spPr>
        <p:style>
          <a:lnRef idx="0"/>
          <a:fillRef idx="0"/>
          <a:effectRef idx="0"/>
          <a:fontRef idx="minor"/>
        </p:style>
        <p:txBody>
          <a:bodyPr lIns="90000" rIns="90000" tIns="-44640" bIns="-44640" anchor="t" anchorCtr="1">
            <a:noAutofit/>
          </a:bodyPr>
          <a:p>
            <a:endParaRPr lang="fr-FR" sz="1800" b="0" u="none" strike="noStrike">
              <a:solidFill>
                <a:srgbClr val="ffffff"/>
              </a:solidFill>
              <a:effectLst/>
              <a:uFillTx/>
              <a:latin typeface="Arial"/>
            </a:endParaRPr>
          </a:p>
        </p:txBody>
      </p:sp>
      <p:sp>
        <p:nvSpPr>
          <p:cNvPr id="37" name="Text 22"/>
          <p:cNvSpPr/>
          <p:nvPr/>
        </p:nvSpPr>
        <p:spPr>
          <a:xfrm>
            <a:off x="1051560" y="4005000"/>
            <a:ext cx="4205520" cy="2005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150" b="0" u="none" strike="noStrike">
                <a:solidFill>
                  <a:srgbClr val="94a3b8"/>
                </a:solidFill>
                <a:effectLst/>
                <a:uFillTx/>
                <a:latin typeface="Aptos"/>
              </a:rPr>
              <a:t>Mini-soutenance - BUT1 Informatique - S2.04</a:t>
            </a:r>
            <a:endParaRPr lang="fr-FR" sz="1150" b="0" u="none" strike="noStrike">
              <a:solidFill>
                <a:srgbClr val="ffffff"/>
              </a:solidFill>
              <a:effectLst/>
              <a:uFillTx/>
              <a:latin typeface="Arial"/>
            </a:endParaRPr>
          </a:p>
        </p:txBody>
      </p:sp>
      <p:sp>
        <p:nvSpPr>
          <p:cNvPr id="38" name="Shape 23"/>
          <p:cNvSpPr/>
          <p:nvPr/>
        </p:nvSpPr>
        <p:spPr>
          <a:xfrm>
            <a:off x="8339400" y="720000"/>
            <a:ext cx="3126600" cy="1259640"/>
          </a:xfrm>
          <a:prstGeom prst="roundRect">
            <a:avLst>
              <a:gd name="adj" fmla="val 3704"/>
            </a:avLst>
          </a:prstGeom>
          <a:solidFill>
            <a:srgbClr val="0e172a">
              <a:alpha val="82000"/>
            </a:srgbClr>
          </a:solidFill>
          <a:ln w="12700">
            <a:solidFill>
              <a:srgbClr val="334155">
                <a:alpha val="65000"/>
              </a:srgbClr>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39" name="Text 24"/>
          <p:cNvSpPr/>
          <p:nvPr/>
        </p:nvSpPr>
        <p:spPr>
          <a:xfrm>
            <a:off x="8613720" y="1105920"/>
            <a:ext cx="2605320" cy="4381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50" b="0" u="none" strike="noStrike">
                <a:solidFill>
                  <a:srgbClr val="e2e8f0"/>
                </a:solidFill>
                <a:effectLst/>
                <a:uFillTx/>
                <a:latin typeface="Aptos"/>
              </a:rPr>
              <a:t>Groupe : B1</a:t>
            </a:r>
            <a:endParaRPr lang="fr-FR" sz="1350" b="0" u="none" strike="noStrike">
              <a:solidFill>
                <a:srgbClr val="ffffff"/>
              </a:solidFill>
              <a:effectLst/>
              <a:uFillTx/>
              <a:latin typeface="Arial"/>
            </a:endParaRPr>
          </a:p>
          <a:p>
            <a:pPr defTabSz="914400">
              <a:lnSpc>
                <a:spcPct val="100000"/>
              </a:lnSpc>
              <a:tabLst>
                <a:tab algn="l" pos="0"/>
              </a:tabLst>
            </a:pPr>
            <a:r>
              <a:rPr lang="en-US" sz="1350" b="0" u="none" strike="noStrike">
                <a:solidFill>
                  <a:srgbClr val="e2e8f0"/>
                </a:solidFill>
                <a:effectLst/>
                <a:uFillTx/>
                <a:latin typeface="Aptos"/>
              </a:rPr>
              <a:t>Noms : Ali DEMIR, </a:t>
            </a:r>
            <a:endParaRPr lang="fr-FR" sz="1350" b="0" u="none" strike="noStrike">
              <a:solidFill>
                <a:srgbClr val="ffffff"/>
              </a:solidFill>
              <a:effectLst/>
              <a:uFillTx/>
              <a:latin typeface="Arial"/>
            </a:endParaRPr>
          </a:p>
          <a:p>
            <a:pPr defTabSz="914400">
              <a:lnSpc>
                <a:spcPct val="100000"/>
              </a:lnSpc>
              <a:tabLst>
                <a:tab algn="l" pos="0"/>
              </a:tabLst>
            </a:pPr>
            <a:r>
              <a:rPr lang="en-US" sz="1350" b="0" u="none" strike="noStrike">
                <a:solidFill>
                  <a:srgbClr val="e2e8f0"/>
                </a:solidFill>
                <a:effectLst/>
                <a:uFillTx/>
                <a:latin typeface="Aptos"/>
              </a:rPr>
              <a:t>Antoine TOUCANE, </a:t>
            </a:r>
            <a:endParaRPr lang="fr-FR" sz="1350" b="0" u="none" strike="noStrike">
              <a:solidFill>
                <a:srgbClr val="ffffff"/>
              </a:solidFill>
              <a:effectLst/>
              <a:uFillTx/>
              <a:latin typeface="Arial"/>
            </a:endParaRPr>
          </a:p>
          <a:p>
            <a:pPr defTabSz="914400">
              <a:lnSpc>
                <a:spcPct val="100000"/>
              </a:lnSpc>
              <a:tabLst>
                <a:tab algn="l" pos="0"/>
              </a:tabLst>
            </a:pPr>
            <a:r>
              <a:rPr lang="en-US" sz="1350" b="0" u="none" strike="noStrike">
                <a:solidFill>
                  <a:srgbClr val="e2e8f0"/>
                </a:solidFill>
                <a:effectLst/>
                <a:uFillTx/>
                <a:latin typeface="Aptos"/>
              </a:rPr>
              <a:t>Zakariya BOURGUIBA, Stiven NIKULIKA</a:t>
            </a:r>
            <a:endParaRPr lang="fr-FR" sz="1350" b="0" u="none" strike="noStrike">
              <a:solidFill>
                <a:srgbClr val="ffffff"/>
              </a:solidFill>
              <a:effectLst/>
              <a:uFillTx/>
              <a:latin typeface="Arial"/>
            </a:endParaRPr>
          </a:p>
        </p:txBody>
      </p:sp>
      <p:sp>
        <p:nvSpPr>
          <p:cNvPr id="40" name="Text 25"/>
          <p:cNvSpPr/>
          <p:nvPr/>
        </p:nvSpPr>
        <p:spPr>
          <a:xfrm>
            <a:off x="8275320" y="5376600"/>
            <a:ext cx="2925360" cy="54792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lang="en-US" sz="1800" b="1" u="none" strike="noStrike">
                <a:solidFill>
                  <a:srgbClr val="ffffff"/>
                </a:solidFill>
                <a:effectLst/>
                <a:uFillTx/>
                <a:latin typeface="Aptos"/>
              </a:rPr>
              <a:t>Données, SQL, visualisation</a:t>
            </a:r>
            <a:endParaRPr lang="fr-FR" sz="1800" b="0" u="none" strike="noStrike">
              <a:solidFill>
                <a:srgbClr val="ffffff"/>
              </a:solidFill>
              <a:effectLst/>
              <a:uFillTx/>
              <a:latin typeface="Arial"/>
            </a:endParaRPr>
          </a:p>
          <a:p>
            <a:pPr algn="r" defTabSz="914400">
              <a:lnSpc>
                <a:spcPct val="100000"/>
              </a:lnSpc>
              <a:tabLst>
                <a:tab algn="l" pos="0"/>
              </a:tabLst>
            </a:pPr>
            <a:r>
              <a:rPr lang="en-US" sz="1800" b="1" u="none" strike="noStrike">
                <a:solidFill>
                  <a:srgbClr val="ffffff"/>
                </a:solidFill>
                <a:effectLst/>
                <a:uFillTx/>
                <a:latin typeface="Aptos"/>
              </a:rPr>
              <a:t>et travail collaboratif</a:t>
            </a:r>
            <a:endParaRPr lang="fr-FR" sz="1800" b="0" u="none" strike="noStrike">
              <a:solidFill>
                <a:srgbClr val="ffffff"/>
              </a:solidFill>
              <a:effectLst/>
              <a:uFillTx/>
              <a:latin typeface="Arial"/>
            </a:endParaRPr>
          </a:p>
        </p:txBody>
      </p:sp>
      <p:sp>
        <p:nvSpPr>
          <p:cNvPr id="41" name="Shape 26"/>
          <p:cNvSpPr/>
          <p:nvPr/>
        </p:nvSpPr>
        <p:spPr>
          <a:xfrm>
            <a:off x="9646920" y="6108120"/>
            <a:ext cx="346680" cy="255240"/>
          </a:xfrm>
          <a:prstGeom prst="roundRect">
            <a:avLst>
              <a:gd name="adj" fmla="val 17857"/>
            </a:avLst>
          </a:prstGeom>
          <a:solidFill>
            <a:srgbClr val="ffbe00"/>
          </a:solidFill>
          <a:ln w="12700">
            <a:solidFill>
              <a:srgbClr val="ffbe00"/>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42" name="Text 27"/>
          <p:cNvSpPr/>
          <p:nvPr/>
        </p:nvSpPr>
        <p:spPr>
          <a:xfrm>
            <a:off x="9646920" y="6153480"/>
            <a:ext cx="346680" cy="1821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100" b="1" u="none" strike="noStrike">
                <a:solidFill>
                  <a:srgbClr val="ffffff"/>
                </a:solidFill>
                <a:effectLst/>
                <a:uFillTx/>
                <a:latin typeface="Aptos"/>
              </a:rPr>
              <a:t>1</a:t>
            </a:r>
            <a:endParaRPr lang="fr-FR" sz="1100" b="0" u="none" strike="noStrike">
              <a:solidFill>
                <a:srgbClr val="ffffff"/>
              </a:solidFill>
              <a:effectLst/>
              <a:uFillTx/>
              <a:latin typeface="Arial"/>
            </a:endParaRPr>
          </a:p>
        </p:txBody>
      </p:sp>
      <p:sp>
        <p:nvSpPr>
          <p:cNvPr id="43" name="Shape 28"/>
          <p:cNvSpPr/>
          <p:nvPr/>
        </p:nvSpPr>
        <p:spPr>
          <a:xfrm>
            <a:off x="10076760" y="6108120"/>
            <a:ext cx="346680" cy="255240"/>
          </a:xfrm>
          <a:prstGeom prst="roundRect">
            <a:avLst>
              <a:gd name="adj" fmla="val 17857"/>
            </a:avLst>
          </a:prstGeom>
          <a:solidFill>
            <a:srgbClr val="cf009e"/>
          </a:solidFill>
          <a:ln w="12700">
            <a:solidFill>
              <a:srgbClr val="cf009e"/>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44" name="Text 29"/>
          <p:cNvSpPr/>
          <p:nvPr/>
        </p:nvSpPr>
        <p:spPr>
          <a:xfrm>
            <a:off x="10076760" y="6153480"/>
            <a:ext cx="346680" cy="1821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100" b="1" u="none" strike="noStrike">
                <a:solidFill>
                  <a:srgbClr val="ffffff"/>
                </a:solidFill>
                <a:effectLst/>
                <a:uFillTx/>
                <a:latin typeface="Aptos"/>
              </a:rPr>
              <a:t>4</a:t>
            </a:r>
            <a:endParaRPr lang="fr-FR" sz="1100" b="0" u="none" strike="noStrike">
              <a:solidFill>
                <a:srgbClr val="ffffff"/>
              </a:solidFill>
              <a:effectLst/>
              <a:uFillTx/>
              <a:latin typeface="Arial"/>
            </a:endParaRPr>
          </a:p>
        </p:txBody>
      </p:sp>
      <p:sp>
        <p:nvSpPr>
          <p:cNvPr id="45" name="Shape 30"/>
          <p:cNvSpPr/>
          <p:nvPr/>
        </p:nvSpPr>
        <p:spPr>
          <a:xfrm>
            <a:off x="10506600" y="6108120"/>
            <a:ext cx="346680" cy="255240"/>
          </a:xfrm>
          <a:prstGeom prst="roundRect">
            <a:avLst>
              <a:gd name="adj" fmla="val 17857"/>
            </a:avLst>
          </a:prstGeom>
          <a:solidFill>
            <a:srgbClr val="fa9aba"/>
          </a:solidFill>
          <a:ln w="12700">
            <a:solidFill>
              <a:srgbClr val="fa9aba"/>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46" name="Text 31"/>
          <p:cNvSpPr/>
          <p:nvPr/>
        </p:nvSpPr>
        <p:spPr>
          <a:xfrm>
            <a:off x="10506600" y="6153480"/>
            <a:ext cx="346680" cy="1821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100" b="1" u="none" strike="noStrike">
                <a:solidFill>
                  <a:srgbClr val="ffffff"/>
                </a:solidFill>
                <a:effectLst/>
                <a:uFillTx/>
                <a:latin typeface="Aptos"/>
              </a:rPr>
              <a:t>7</a:t>
            </a:r>
            <a:endParaRPr lang="fr-FR" sz="1100" b="0" u="none" strike="noStrike">
              <a:solidFill>
                <a:srgbClr val="ffffff"/>
              </a:solidFill>
              <a:effectLst/>
              <a:uFillTx/>
              <a:latin typeface="Arial"/>
            </a:endParaRPr>
          </a:p>
        </p:txBody>
      </p:sp>
      <p:sp>
        <p:nvSpPr>
          <p:cNvPr id="47" name="Shape 32"/>
          <p:cNvSpPr/>
          <p:nvPr/>
        </p:nvSpPr>
        <p:spPr>
          <a:xfrm>
            <a:off x="10936080" y="6108120"/>
            <a:ext cx="346680" cy="255240"/>
          </a:xfrm>
          <a:prstGeom prst="roundRect">
            <a:avLst>
              <a:gd name="adj" fmla="val 17857"/>
            </a:avLst>
          </a:prstGeom>
          <a:solidFill>
            <a:srgbClr val="9f9825"/>
          </a:solidFill>
          <a:ln w="12700">
            <a:solidFill>
              <a:srgbClr val="9f9825"/>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48" name="Text 33"/>
          <p:cNvSpPr/>
          <p:nvPr/>
        </p:nvSpPr>
        <p:spPr>
          <a:xfrm>
            <a:off x="10936080" y="6153480"/>
            <a:ext cx="346680" cy="1821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100" b="1" u="none" strike="noStrike">
                <a:solidFill>
                  <a:srgbClr val="ffffff"/>
                </a:solidFill>
                <a:effectLst/>
                <a:uFillTx/>
                <a:latin typeface="Aptos"/>
              </a:rPr>
              <a:t>9</a:t>
            </a:r>
            <a:endParaRPr lang="fr-FR" sz="1100" b="0" u="none" strike="noStrike">
              <a:solidFill>
                <a:srgbClr val="ffffff"/>
              </a:solidFill>
              <a:effectLst/>
              <a:uFillTx/>
              <a:latin typeface="Arial"/>
            </a:endParaRPr>
          </a:p>
        </p:txBody>
      </p:sp>
      <p:sp>
        <p:nvSpPr>
          <p:cNvPr id="49" name="Text 34"/>
          <p:cNvSpPr/>
          <p:nvPr/>
        </p:nvSpPr>
        <p:spPr>
          <a:xfrm>
            <a:off x="6583680" y="6382440"/>
            <a:ext cx="4571280" cy="25524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lang="en-US" sz="880" b="0" u="none" strike="noStrike">
                <a:solidFill>
                  <a:srgbClr val="a8b4c7"/>
                </a:solidFill>
                <a:effectLst/>
                <a:uFillTx/>
                <a:latin typeface="Aptos"/>
              </a:rPr>
              <a:t>IUT de MONTREUIL</a:t>
            </a:r>
            <a:endParaRPr lang="fr-FR" sz="88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c"/>
        </a:solidFill>
      </p:bgPr>
    </p:bg>
    <p:spTree>
      <p:nvGrpSpPr>
        <p:cNvPr id="1" name=""/>
        <p:cNvGrpSpPr/>
        <p:nvPr/>
      </p:nvGrpSpPr>
      <p:grpSpPr>
        <a:xfrm>
          <a:off x="0" y="0"/>
          <a:ext cx="0" cy="0"/>
          <a:chOff x="0" y="0"/>
          <a:chExt cx="0" cy="0"/>
        </a:xfrm>
      </p:grpSpPr>
      <p:sp>
        <p:nvSpPr>
          <p:cNvPr id="50" name="Shape 0"/>
          <p:cNvSpPr/>
          <p:nvPr/>
        </p:nvSpPr>
        <p:spPr>
          <a:xfrm>
            <a:off x="0" y="0"/>
            <a:ext cx="12191040" cy="163800"/>
          </a:xfrm>
          <a:prstGeom prst="rect">
            <a:avLst/>
          </a:prstGeom>
          <a:solidFill>
            <a:srgbClr val="1d4ed8"/>
          </a:solidFill>
          <a:ln w="12700">
            <a:solidFill>
              <a:srgbClr val="1d4ed8"/>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51" name="Text 1"/>
          <p:cNvSpPr/>
          <p:nvPr/>
        </p:nvSpPr>
        <p:spPr>
          <a:xfrm>
            <a:off x="548640" y="347400"/>
            <a:ext cx="8046000" cy="4107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2600" b="1" u="none" strike="noStrike">
                <a:solidFill>
                  <a:srgbClr val="111827"/>
                </a:solidFill>
                <a:effectLst/>
                <a:uFillTx/>
                <a:latin typeface="Aptos Display"/>
                <a:ea typeface="Aptos Display"/>
              </a:rPr>
              <a:t>Cahier des charges fictif</a:t>
            </a:r>
            <a:endParaRPr lang="fr-FR" sz="2600" b="0" u="none" strike="noStrike">
              <a:solidFill>
                <a:srgbClr val="000000"/>
              </a:solidFill>
              <a:effectLst/>
              <a:uFillTx/>
              <a:latin typeface="Arial"/>
            </a:endParaRPr>
          </a:p>
        </p:txBody>
      </p:sp>
      <p:sp>
        <p:nvSpPr>
          <p:cNvPr id="52" name="Text 2"/>
          <p:cNvSpPr/>
          <p:nvPr/>
        </p:nvSpPr>
        <p:spPr>
          <a:xfrm>
            <a:off x="548640" y="768240"/>
            <a:ext cx="7863120" cy="255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lang="fr-FR" sz="1800" b="0" u="none" strike="noStrike">
              <a:solidFill>
                <a:srgbClr val="000000"/>
              </a:solidFill>
              <a:effectLst/>
              <a:uFillTx/>
              <a:latin typeface="Arial"/>
            </a:endParaRPr>
          </a:p>
        </p:txBody>
      </p:sp>
      <p:sp>
        <p:nvSpPr>
          <p:cNvPr id="53" name="Shape 3"/>
          <p:cNvSpPr/>
          <p:nvPr/>
        </p:nvSpPr>
        <p:spPr>
          <a:xfrm>
            <a:off x="548640" y="1051560"/>
            <a:ext cx="11064240" cy="360"/>
          </a:xfrm>
          <a:prstGeom prst="line">
            <a:avLst/>
          </a:prstGeom>
          <a:ln w="12700">
            <a:solidFill>
              <a:srgbClr val="cbd5e1"/>
            </a:solidFill>
            <a:round/>
          </a:ln>
        </p:spPr>
        <p:style>
          <a:lnRef idx="0"/>
          <a:fillRef idx="0"/>
          <a:effectRef idx="0"/>
          <a:fontRef idx="minor"/>
        </p:style>
        <p:txBody>
          <a:bodyPr lIns="90000" rIns="90000" tIns="-44640" bIns="-44640" anchor="t" anchorCtr="1">
            <a:noAutofit/>
          </a:bodyPr>
          <a:p>
            <a:endParaRPr lang="fr-FR" sz="1800" b="0" u="none" strike="noStrike">
              <a:solidFill>
                <a:srgbClr val="000000"/>
              </a:solidFill>
              <a:effectLst/>
              <a:uFillTx/>
              <a:latin typeface="Arial"/>
            </a:endParaRPr>
          </a:p>
        </p:txBody>
      </p:sp>
      <p:sp>
        <p:nvSpPr>
          <p:cNvPr id="54" name="Shape 4"/>
          <p:cNvSpPr/>
          <p:nvPr/>
        </p:nvSpPr>
        <p:spPr>
          <a:xfrm>
            <a:off x="594360" y="1080000"/>
            <a:ext cx="3794040" cy="5399640"/>
          </a:xfrm>
          <a:prstGeom prst="roundRect">
            <a:avLst>
              <a:gd name="adj" fmla="val 1928"/>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55" name="Text 5"/>
          <p:cNvSpPr/>
          <p:nvPr/>
        </p:nvSpPr>
        <p:spPr>
          <a:xfrm>
            <a:off x="580680" y="1240200"/>
            <a:ext cx="2285280" cy="273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2000" b="1" u="none" strike="noStrike">
                <a:solidFill>
                  <a:srgbClr val="111827"/>
                </a:solidFill>
                <a:effectLst/>
                <a:uFillTx/>
                <a:latin typeface="Aptos"/>
              </a:rPr>
              <a:t>Contexte client</a:t>
            </a:r>
            <a:endParaRPr lang="fr-FR" sz="2000" b="0" u="none" strike="noStrike">
              <a:solidFill>
                <a:srgbClr val="000000"/>
              </a:solidFill>
              <a:effectLst/>
              <a:uFillTx/>
              <a:latin typeface="Arial"/>
            </a:endParaRPr>
          </a:p>
        </p:txBody>
      </p:sp>
      <p:sp>
        <p:nvSpPr>
          <p:cNvPr id="56" name="Text 6"/>
          <p:cNvSpPr/>
          <p:nvPr/>
        </p:nvSpPr>
        <p:spPr>
          <a:xfrm>
            <a:off x="868680" y="2469960"/>
            <a:ext cx="3153960" cy="9867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spcBef>
                <a:spcPts val="1191"/>
              </a:spcBef>
              <a:spcAft>
                <a:spcPts val="992"/>
              </a:spcAft>
              <a:tabLst>
                <a:tab algn="l" pos="0"/>
              </a:tabLst>
            </a:pPr>
            <a:r>
              <a:rPr lang="en-US" sz="1600" b="0" u="none" strike="noStrike">
                <a:solidFill>
                  <a:srgbClr val="374151"/>
                </a:solidFill>
                <a:effectLst/>
                <a:uFillTx/>
                <a:latin typeface="Aptos"/>
              </a:rPr>
              <a:t>- Demande fictive de la RATP </a:t>
            </a:r>
            <a:endParaRPr lang="fr-FR" sz="1600" b="0" u="none" strike="noStrike">
              <a:solidFill>
                <a:srgbClr val="000000"/>
              </a:solidFill>
              <a:effectLst/>
              <a:uFillTx/>
              <a:latin typeface="Arial"/>
            </a:endParaRPr>
          </a:p>
          <a:p>
            <a:pPr defTabSz="914400">
              <a:lnSpc>
                <a:spcPct val="100000"/>
              </a:lnSpc>
              <a:spcBef>
                <a:spcPts val="1191"/>
              </a:spcBef>
              <a:spcAft>
                <a:spcPts val="992"/>
              </a:spcAft>
              <a:tabLst>
                <a:tab algn="l" pos="0"/>
              </a:tabLst>
            </a:pPr>
            <a:r>
              <a:rPr lang="en-US" sz="1600" b="0" u="none" strike="noStrike">
                <a:solidFill>
                  <a:srgbClr val="374151"/>
                </a:solidFill>
                <a:effectLst/>
                <a:uFillTx/>
                <a:latin typeface="Aptos"/>
              </a:rPr>
              <a:t>- Créer une base de données simple </a:t>
            </a:r>
            <a:endParaRPr lang="fr-FR" sz="1600" b="0" u="none" strike="noStrike">
              <a:solidFill>
                <a:srgbClr val="000000"/>
              </a:solidFill>
              <a:effectLst/>
              <a:uFillTx/>
              <a:latin typeface="Arial"/>
            </a:endParaRPr>
          </a:p>
          <a:p>
            <a:pPr defTabSz="914400">
              <a:lnSpc>
                <a:spcPct val="100000"/>
              </a:lnSpc>
              <a:spcBef>
                <a:spcPts val="1191"/>
              </a:spcBef>
              <a:spcAft>
                <a:spcPts val="992"/>
              </a:spcAft>
              <a:tabLst>
                <a:tab algn="l" pos="0"/>
              </a:tabLst>
            </a:pPr>
            <a:r>
              <a:rPr lang="en-US" sz="1600" b="0" u="none" strike="noStrike">
                <a:solidFill>
                  <a:srgbClr val="374151"/>
                </a:solidFill>
                <a:effectLst/>
                <a:uFillTx/>
                <a:latin typeface="Aptos"/>
              </a:rPr>
              <a:t>- Représenter le métro parisien Permettre l’exploitation des données</a:t>
            </a:r>
            <a:endParaRPr lang="fr-FR" sz="1600" b="0" u="none" strike="noStrike">
              <a:solidFill>
                <a:srgbClr val="000000"/>
              </a:solidFill>
              <a:effectLst/>
              <a:uFillTx/>
              <a:latin typeface="Arial"/>
            </a:endParaRPr>
          </a:p>
          <a:p>
            <a:pPr defTabSz="914400">
              <a:lnSpc>
                <a:spcPct val="100000"/>
              </a:lnSpc>
              <a:spcBef>
                <a:spcPts val="1191"/>
              </a:spcBef>
              <a:spcAft>
                <a:spcPts val="992"/>
              </a:spcAft>
              <a:tabLst>
                <a:tab algn="l" pos="0"/>
              </a:tabLst>
            </a:pPr>
            <a:endParaRPr lang="fr-FR" sz="1600" b="0" u="none" strike="noStrike">
              <a:solidFill>
                <a:srgbClr val="000000"/>
              </a:solidFill>
              <a:effectLst/>
              <a:uFillTx/>
              <a:latin typeface="Arial"/>
            </a:endParaRPr>
          </a:p>
        </p:txBody>
      </p:sp>
      <p:sp>
        <p:nvSpPr>
          <p:cNvPr id="57" name="Text 7"/>
          <p:cNvSpPr/>
          <p:nvPr/>
        </p:nvSpPr>
        <p:spPr>
          <a:xfrm>
            <a:off x="580680" y="3786120"/>
            <a:ext cx="228528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700" b="1" u="none" strike="noStrike">
                <a:solidFill>
                  <a:srgbClr val="111827"/>
                </a:solidFill>
                <a:effectLst/>
                <a:uFillTx/>
                <a:latin typeface="Aptos"/>
              </a:rPr>
              <a:t>Objectif global</a:t>
            </a:r>
            <a:endParaRPr lang="fr-FR" sz="1700" b="0" u="none" strike="noStrike">
              <a:solidFill>
                <a:srgbClr val="000000"/>
              </a:solidFill>
              <a:effectLst/>
              <a:uFillTx/>
              <a:latin typeface="Arial"/>
            </a:endParaRPr>
          </a:p>
        </p:txBody>
      </p:sp>
      <p:sp>
        <p:nvSpPr>
          <p:cNvPr id="58" name="Text 8"/>
          <p:cNvSpPr/>
          <p:nvPr/>
        </p:nvSpPr>
        <p:spPr>
          <a:xfrm>
            <a:off x="868680" y="4339800"/>
            <a:ext cx="3153960" cy="913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spcBef>
                <a:spcPts val="1191"/>
              </a:spcBef>
              <a:spcAft>
                <a:spcPts val="992"/>
              </a:spcAft>
              <a:tabLst>
                <a:tab algn="l" pos="0"/>
              </a:tabLst>
            </a:pPr>
            <a:r>
              <a:rPr lang="en-US" sz="1550" b="0" u="none" strike="noStrike">
                <a:solidFill>
                  <a:srgbClr val="374151"/>
                </a:solidFill>
                <a:effectLst/>
                <a:uFillTx/>
                <a:latin typeface="Aptos"/>
              </a:rPr>
              <a:t>- Stocker les lignes, les stations, les trajets et les passages</a:t>
            </a:r>
            <a:endParaRPr lang="fr-FR" sz="1550" b="0" u="none" strike="noStrike">
              <a:solidFill>
                <a:srgbClr val="000000"/>
              </a:solidFill>
              <a:effectLst/>
              <a:uFillTx/>
              <a:latin typeface="Arial"/>
            </a:endParaRPr>
          </a:p>
          <a:p>
            <a:pPr defTabSz="914400">
              <a:lnSpc>
                <a:spcPct val="100000"/>
              </a:lnSpc>
              <a:spcBef>
                <a:spcPts val="1191"/>
              </a:spcBef>
              <a:spcAft>
                <a:spcPts val="992"/>
              </a:spcAft>
              <a:tabLst>
                <a:tab algn="l" pos="0"/>
              </a:tabLst>
            </a:pPr>
            <a:r>
              <a:rPr lang="en-US" sz="1550" b="0" u="none" strike="noStrike">
                <a:solidFill>
                  <a:srgbClr val="374151"/>
                </a:solidFill>
                <a:effectLst/>
                <a:uFillTx/>
                <a:latin typeface="Aptos"/>
              </a:rPr>
              <a:t>- Obtenir des graphiques utiles à la lecture du réseau</a:t>
            </a:r>
            <a:endParaRPr lang="fr-FR" sz="1550" b="0" u="none" strike="noStrike">
              <a:solidFill>
                <a:srgbClr val="000000"/>
              </a:solidFill>
              <a:effectLst/>
              <a:uFillTx/>
              <a:latin typeface="Arial"/>
            </a:endParaRPr>
          </a:p>
        </p:txBody>
      </p:sp>
      <p:sp>
        <p:nvSpPr>
          <p:cNvPr id="59" name="Shape 9"/>
          <p:cNvSpPr/>
          <p:nvPr/>
        </p:nvSpPr>
        <p:spPr>
          <a:xfrm>
            <a:off x="1048680" y="5639400"/>
            <a:ext cx="2833920" cy="712440"/>
          </a:xfrm>
          <a:prstGeom prst="roundRect">
            <a:avLst>
              <a:gd name="adj" fmla="val 5128"/>
            </a:avLst>
          </a:prstGeom>
          <a:solidFill>
            <a:srgbClr val="eff6ff"/>
          </a:solidFill>
          <a:ln w="12700">
            <a:solidFill>
              <a:srgbClr val="bfdbfe"/>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60" name="Text 10"/>
          <p:cNvSpPr/>
          <p:nvPr/>
        </p:nvSpPr>
        <p:spPr>
          <a:xfrm>
            <a:off x="1267560" y="5913360"/>
            <a:ext cx="2468160" cy="1821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320" b="1" u="none" strike="noStrike">
                <a:solidFill>
                  <a:srgbClr val="1e40af"/>
                </a:solidFill>
                <a:effectLst/>
                <a:uFillTx/>
                <a:latin typeface="Aptos"/>
              </a:rPr>
              <a:t>Base relationnelle + script SQL + analyse</a:t>
            </a:r>
            <a:endParaRPr lang="fr-FR" sz="1320" b="0" u="none" strike="noStrike">
              <a:solidFill>
                <a:srgbClr val="000000"/>
              </a:solidFill>
              <a:effectLst/>
              <a:uFillTx/>
              <a:latin typeface="Arial"/>
            </a:endParaRPr>
          </a:p>
        </p:txBody>
      </p:sp>
      <p:sp>
        <p:nvSpPr>
          <p:cNvPr id="61" name="Shape 11"/>
          <p:cNvSpPr/>
          <p:nvPr/>
        </p:nvSpPr>
        <p:spPr>
          <a:xfrm>
            <a:off x="4754880" y="1444680"/>
            <a:ext cx="2148120" cy="1919520"/>
          </a:xfrm>
          <a:prstGeom prst="roundRect">
            <a:avLst>
              <a:gd name="adj" fmla="val 3810"/>
            </a:avLst>
          </a:prstGeom>
          <a:solidFill>
            <a:srgbClr val="dbeafe"/>
          </a:solidFill>
          <a:ln w="12700">
            <a:solidFill>
              <a:srgbClr val="93c5fd"/>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62" name="Text 12"/>
          <p:cNvSpPr/>
          <p:nvPr/>
        </p:nvSpPr>
        <p:spPr>
          <a:xfrm>
            <a:off x="4937760" y="1609200"/>
            <a:ext cx="1782360" cy="2278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600" b="1" u="none" strike="noStrike">
                <a:solidFill>
                  <a:srgbClr val="111827"/>
                </a:solidFill>
                <a:effectLst/>
                <a:uFillTx/>
                <a:latin typeface="Aptos"/>
              </a:rPr>
              <a:t>Ce qu'on stocke</a:t>
            </a:r>
            <a:endParaRPr lang="fr-FR" sz="1600" b="0" u="none" strike="noStrike">
              <a:solidFill>
                <a:srgbClr val="000000"/>
              </a:solidFill>
              <a:effectLst/>
              <a:uFillTx/>
              <a:latin typeface="Arial"/>
            </a:endParaRPr>
          </a:p>
        </p:txBody>
      </p:sp>
      <p:sp>
        <p:nvSpPr>
          <p:cNvPr id="63" name="Shape 13"/>
          <p:cNvSpPr/>
          <p:nvPr/>
        </p:nvSpPr>
        <p:spPr>
          <a:xfrm>
            <a:off x="4974480" y="209412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64" name="Text 14"/>
          <p:cNvSpPr/>
          <p:nvPr/>
        </p:nvSpPr>
        <p:spPr>
          <a:xfrm>
            <a:off x="5139000" y="2020680"/>
            <a:ext cx="173664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Lignes</a:t>
            </a:r>
            <a:endParaRPr lang="fr-FR" sz="1320" b="0" u="none" strike="noStrike">
              <a:solidFill>
                <a:srgbClr val="000000"/>
              </a:solidFill>
              <a:effectLst/>
              <a:uFillTx/>
              <a:latin typeface="Arial"/>
            </a:endParaRPr>
          </a:p>
        </p:txBody>
      </p:sp>
      <p:sp>
        <p:nvSpPr>
          <p:cNvPr id="65" name="Shape 15"/>
          <p:cNvSpPr/>
          <p:nvPr/>
        </p:nvSpPr>
        <p:spPr>
          <a:xfrm>
            <a:off x="4974480" y="238644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66" name="Text 16"/>
          <p:cNvSpPr/>
          <p:nvPr/>
        </p:nvSpPr>
        <p:spPr>
          <a:xfrm>
            <a:off x="5139000" y="2313360"/>
            <a:ext cx="173664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Stations</a:t>
            </a:r>
            <a:endParaRPr lang="fr-FR" sz="1320" b="0" u="none" strike="noStrike">
              <a:solidFill>
                <a:srgbClr val="000000"/>
              </a:solidFill>
              <a:effectLst/>
              <a:uFillTx/>
              <a:latin typeface="Arial"/>
            </a:endParaRPr>
          </a:p>
        </p:txBody>
      </p:sp>
      <p:sp>
        <p:nvSpPr>
          <p:cNvPr id="67" name="Shape 17"/>
          <p:cNvSpPr/>
          <p:nvPr/>
        </p:nvSpPr>
        <p:spPr>
          <a:xfrm>
            <a:off x="4974480" y="267912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68" name="Text 18"/>
          <p:cNvSpPr/>
          <p:nvPr/>
        </p:nvSpPr>
        <p:spPr>
          <a:xfrm>
            <a:off x="5139000" y="2606040"/>
            <a:ext cx="173664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Trajets</a:t>
            </a:r>
            <a:endParaRPr lang="fr-FR" sz="1320" b="0" u="none" strike="noStrike">
              <a:solidFill>
                <a:srgbClr val="000000"/>
              </a:solidFill>
              <a:effectLst/>
              <a:uFillTx/>
              <a:latin typeface="Arial"/>
            </a:endParaRPr>
          </a:p>
        </p:txBody>
      </p:sp>
      <p:sp>
        <p:nvSpPr>
          <p:cNvPr id="69" name="Shape 19"/>
          <p:cNvSpPr/>
          <p:nvPr/>
        </p:nvSpPr>
        <p:spPr>
          <a:xfrm>
            <a:off x="4974480" y="297180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70" name="Text 20"/>
          <p:cNvSpPr/>
          <p:nvPr/>
        </p:nvSpPr>
        <p:spPr>
          <a:xfrm>
            <a:off x="5139000" y="2898720"/>
            <a:ext cx="173664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Passages</a:t>
            </a:r>
            <a:endParaRPr lang="fr-FR" sz="1320" b="0" u="none" strike="noStrike">
              <a:solidFill>
                <a:srgbClr val="000000"/>
              </a:solidFill>
              <a:effectLst/>
              <a:uFillTx/>
              <a:latin typeface="Arial"/>
            </a:endParaRPr>
          </a:p>
        </p:txBody>
      </p:sp>
      <p:sp>
        <p:nvSpPr>
          <p:cNvPr id="71" name="Shape 21"/>
          <p:cNvSpPr/>
          <p:nvPr/>
        </p:nvSpPr>
        <p:spPr>
          <a:xfrm>
            <a:off x="7059240" y="1444680"/>
            <a:ext cx="2148120" cy="1919520"/>
          </a:xfrm>
          <a:prstGeom prst="roundRect">
            <a:avLst>
              <a:gd name="adj" fmla="val 3810"/>
            </a:avLst>
          </a:prstGeom>
          <a:solidFill>
            <a:srgbClr val="ecfdf5"/>
          </a:solidFill>
          <a:ln w="12700">
            <a:solidFill>
              <a:srgbClr val="a7f3d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72" name="Text 22"/>
          <p:cNvSpPr/>
          <p:nvPr/>
        </p:nvSpPr>
        <p:spPr>
          <a:xfrm>
            <a:off x="7242120" y="1609200"/>
            <a:ext cx="1782360" cy="2278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600" b="1" u="none" strike="noStrike">
                <a:solidFill>
                  <a:srgbClr val="111827"/>
                </a:solidFill>
                <a:effectLst/>
                <a:uFillTx/>
                <a:latin typeface="Aptos"/>
              </a:rPr>
              <a:t>Ce qu'on relie</a:t>
            </a:r>
            <a:endParaRPr lang="fr-FR" sz="1600" b="0" u="none" strike="noStrike">
              <a:solidFill>
                <a:srgbClr val="000000"/>
              </a:solidFill>
              <a:effectLst/>
              <a:uFillTx/>
              <a:latin typeface="Arial"/>
            </a:endParaRPr>
          </a:p>
        </p:txBody>
      </p:sp>
      <p:sp>
        <p:nvSpPr>
          <p:cNvPr id="73" name="Shape 23"/>
          <p:cNvSpPr/>
          <p:nvPr/>
        </p:nvSpPr>
        <p:spPr>
          <a:xfrm>
            <a:off x="7278480" y="2094120"/>
            <a:ext cx="90720" cy="90720"/>
          </a:xfrm>
          <a:prstGeom prst="ellipse">
            <a:avLst/>
          </a:prstGeom>
          <a:solidFill>
            <a:srgbClr val="10b981"/>
          </a:solidFill>
          <a:ln w="12700">
            <a:solidFill>
              <a:srgbClr val="10b981"/>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000000"/>
              </a:solidFill>
              <a:effectLst/>
              <a:uFillTx/>
              <a:latin typeface="Arial"/>
            </a:endParaRPr>
          </a:p>
        </p:txBody>
      </p:sp>
      <p:sp>
        <p:nvSpPr>
          <p:cNvPr id="74" name="Text 24"/>
          <p:cNvSpPr/>
          <p:nvPr/>
        </p:nvSpPr>
        <p:spPr>
          <a:xfrm>
            <a:off x="7443360" y="2020680"/>
            <a:ext cx="173664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Dessertes</a:t>
            </a:r>
            <a:endParaRPr lang="fr-FR" sz="1320" b="0" u="none" strike="noStrike">
              <a:solidFill>
                <a:srgbClr val="000000"/>
              </a:solidFill>
              <a:effectLst/>
              <a:uFillTx/>
              <a:latin typeface="Arial"/>
            </a:endParaRPr>
          </a:p>
        </p:txBody>
      </p:sp>
      <p:sp>
        <p:nvSpPr>
          <p:cNvPr id="75" name="Shape 25"/>
          <p:cNvSpPr/>
          <p:nvPr/>
        </p:nvSpPr>
        <p:spPr>
          <a:xfrm>
            <a:off x="7278480" y="2386440"/>
            <a:ext cx="90720" cy="90720"/>
          </a:xfrm>
          <a:prstGeom prst="ellipse">
            <a:avLst/>
          </a:prstGeom>
          <a:solidFill>
            <a:srgbClr val="10b981"/>
          </a:solidFill>
          <a:ln w="12700">
            <a:solidFill>
              <a:srgbClr val="10b981"/>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000000"/>
              </a:solidFill>
              <a:effectLst/>
              <a:uFillTx/>
              <a:latin typeface="Arial"/>
            </a:endParaRPr>
          </a:p>
        </p:txBody>
      </p:sp>
      <p:sp>
        <p:nvSpPr>
          <p:cNvPr id="76" name="Text 26"/>
          <p:cNvSpPr/>
          <p:nvPr/>
        </p:nvSpPr>
        <p:spPr>
          <a:xfrm>
            <a:off x="7443360" y="2313360"/>
            <a:ext cx="173664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Ordre des stations</a:t>
            </a:r>
            <a:endParaRPr lang="fr-FR" sz="1320" b="0" u="none" strike="noStrike">
              <a:solidFill>
                <a:srgbClr val="000000"/>
              </a:solidFill>
              <a:effectLst/>
              <a:uFillTx/>
              <a:latin typeface="Arial"/>
            </a:endParaRPr>
          </a:p>
        </p:txBody>
      </p:sp>
      <p:sp>
        <p:nvSpPr>
          <p:cNvPr id="77" name="Shape 27"/>
          <p:cNvSpPr/>
          <p:nvPr/>
        </p:nvSpPr>
        <p:spPr>
          <a:xfrm>
            <a:off x="7278480" y="2679120"/>
            <a:ext cx="90720" cy="90720"/>
          </a:xfrm>
          <a:prstGeom prst="ellipse">
            <a:avLst/>
          </a:prstGeom>
          <a:solidFill>
            <a:srgbClr val="10b981"/>
          </a:solidFill>
          <a:ln w="12700">
            <a:solidFill>
              <a:srgbClr val="10b981"/>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000000"/>
              </a:solidFill>
              <a:effectLst/>
              <a:uFillTx/>
              <a:latin typeface="Arial"/>
            </a:endParaRPr>
          </a:p>
        </p:txBody>
      </p:sp>
      <p:sp>
        <p:nvSpPr>
          <p:cNvPr id="78" name="Text 28"/>
          <p:cNvSpPr/>
          <p:nvPr/>
        </p:nvSpPr>
        <p:spPr>
          <a:xfrm>
            <a:off x="7443360" y="2606040"/>
            <a:ext cx="173664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Horaires</a:t>
            </a:r>
            <a:endParaRPr lang="fr-FR" sz="1320" b="0" u="none" strike="noStrike">
              <a:solidFill>
                <a:srgbClr val="000000"/>
              </a:solidFill>
              <a:effectLst/>
              <a:uFillTx/>
              <a:latin typeface="Arial"/>
            </a:endParaRPr>
          </a:p>
        </p:txBody>
      </p:sp>
      <p:sp>
        <p:nvSpPr>
          <p:cNvPr id="79" name="Shape 29"/>
          <p:cNvSpPr/>
          <p:nvPr/>
        </p:nvSpPr>
        <p:spPr>
          <a:xfrm>
            <a:off x="7278480" y="2971800"/>
            <a:ext cx="90720" cy="90720"/>
          </a:xfrm>
          <a:prstGeom prst="ellipse">
            <a:avLst/>
          </a:prstGeom>
          <a:solidFill>
            <a:srgbClr val="10b981"/>
          </a:solidFill>
          <a:ln w="12700">
            <a:solidFill>
              <a:srgbClr val="10b981"/>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000000"/>
              </a:solidFill>
              <a:effectLst/>
              <a:uFillTx/>
              <a:latin typeface="Arial"/>
            </a:endParaRPr>
          </a:p>
        </p:txBody>
      </p:sp>
      <p:sp>
        <p:nvSpPr>
          <p:cNvPr id="80" name="Text 30"/>
          <p:cNvSpPr/>
          <p:nvPr/>
        </p:nvSpPr>
        <p:spPr>
          <a:xfrm>
            <a:off x="7443360" y="2898720"/>
            <a:ext cx="173664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Correspondances</a:t>
            </a:r>
            <a:endParaRPr lang="fr-FR" sz="1320" b="0" u="none" strike="noStrike">
              <a:solidFill>
                <a:srgbClr val="000000"/>
              </a:solidFill>
              <a:effectLst/>
              <a:uFillTx/>
              <a:latin typeface="Arial"/>
            </a:endParaRPr>
          </a:p>
        </p:txBody>
      </p:sp>
      <p:sp>
        <p:nvSpPr>
          <p:cNvPr id="81" name="Shape 31"/>
          <p:cNvSpPr/>
          <p:nvPr/>
        </p:nvSpPr>
        <p:spPr>
          <a:xfrm>
            <a:off x="9363600" y="1444680"/>
            <a:ext cx="2148120" cy="1919520"/>
          </a:xfrm>
          <a:prstGeom prst="roundRect">
            <a:avLst>
              <a:gd name="adj" fmla="val 3810"/>
            </a:avLst>
          </a:prstGeom>
          <a:solidFill>
            <a:srgbClr val="fef3c7"/>
          </a:solidFill>
          <a:ln w="12700">
            <a:solidFill>
              <a:srgbClr val="fcd34d"/>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82" name="Text 32"/>
          <p:cNvSpPr/>
          <p:nvPr/>
        </p:nvSpPr>
        <p:spPr>
          <a:xfrm>
            <a:off x="9546480" y="1609200"/>
            <a:ext cx="1782360" cy="2278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600" b="1" u="none" strike="noStrike">
                <a:solidFill>
                  <a:srgbClr val="111827"/>
                </a:solidFill>
                <a:effectLst/>
                <a:uFillTx/>
                <a:latin typeface="Aptos"/>
              </a:rPr>
              <a:t>Ce qu'on exploite</a:t>
            </a:r>
            <a:endParaRPr lang="fr-FR" sz="1600" b="0" u="none" strike="noStrike">
              <a:solidFill>
                <a:srgbClr val="000000"/>
              </a:solidFill>
              <a:effectLst/>
              <a:uFillTx/>
              <a:latin typeface="Arial"/>
            </a:endParaRPr>
          </a:p>
        </p:txBody>
      </p:sp>
      <p:sp>
        <p:nvSpPr>
          <p:cNvPr id="83" name="Shape 33"/>
          <p:cNvSpPr/>
          <p:nvPr/>
        </p:nvSpPr>
        <p:spPr>
          <a:xfrm>
            <a:off x="9582840" y="2094120"/>
            <a:ext cx="90720" cy="90720"/>
          </a:xfrm>
          <a:prstGeom prst="ellipse">
            <a:avLst/>
          </a:prstGeom>
          <a:solidFill>
            <a:srgbClr val="f59e0b"/>
          </a:solidFill>
          <a:ln w="12700">
            <a:solidFill>
              <a:srgbClr val="f59e0b"/>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000000"/>
              </a:solidFill>
              <a:effectLst/>
              <a:uFillTx/>
              <a:latin typeface="Arial"/>
            </a:endParaRPr>
          </a:p>
        </p:txBody>
      </p:sp>
      <p:sp>
        <p:nvSpPr>
          <p:cNvPr id="84" name="Text 34"/>
          <p:cNvSpPr/>
          <p:nvPr/>
        </p:nvSpPr>
        <p:spPr>
          <a:xfrm>
            <a:off x="9747360" y="2020680"/>
            <a:ext cx="173664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Requêtes SQL</a:t>
            </a:r>
            <a:endParaRPr lang="fr-FR" sz="1320" b="0" u="none" strike="noStrike">
              <a:solidFill>
                <a:srgbClr val="000000"/>
              </a:solidFill>
              <a:effectLst/>
              <a:uFillTx/>
              <a:latin typeface="Arial"/>
            </a:endParaRPr>
          </a:p>
        </p:txBody>
      </p:sp>
      <p:sp>
        <p:nvSpPr>
          <p:cNvPr id="85" name="Shape 35"/>
          <p:cNvSpPr/>
          <p:nvPr/>
        </p:nvSpPr>
        <p:spPr>
          <a:xfrm>
            <a:off x="9582840" y="2386440"/>
            <a:ext cx="90720" cy="90720"/>
          </a:xfrm>
          <a:prstGeom prst="ellipse">
            <a:avLst/>
          </a:prstGeom>
          <a:solidFill>
            <a:srgbClr val="f59e0b"/>
          </a:solidFill>
          <a:ln w="12700">
            <a:solidFill>
              <a:srgbClr val="f59e0b"/>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000000"/>
              </a:solidFill>
              <a:effectLst/>
              <a:uFillTx/>
              <a:latin typeface="Arial"/>
            </a:endParaRPr>
          </a:p>
        </p:txBody>
      </p:sp>
      <p:sp>
        <p:nvSpPr>
          <p:cNvPr id="86" name="Text 36"/>
          <p:cNvSpPr/>
          <p:nvPr/>
        </p:nvSpPr>
        <p:spPr>
          <a:xfrm>
            <a:off x="9747360" y="2313360"/>
            <a:ext cx="173664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Indicateurs</a:t>
            </a:r>
            <a:endParaRPr lang="fr-FR" sz="1320" b="0" u="none" strike="noStrike">
              <a:solidFill>
                <a:srgbClr val="000000"/>
              </a:solidFill>
              <a:effectLst/>
              <a:uFillTx/>
              <a:latin typeface="Arial"/>
            </a:endParaRPr>
          </a:p>
        </p:txBody>
      </p:sp>
      <p:sp>
        <p:nvSpPr>
          <p:cNvPr id="87" name="Shape 37"/>
          <p:cNvSpPr/>
          <p:nvPr/>
        </p:nvSpPr>
        <p:spPr>
          <a:xfrm>
            <a:off x="9582840" y="2679120"/>
            <a:ext cx="90720" cy="90720"/>
          </a:xfrm>
          <a:prstGeom prst="ellipse">
            <a:avLst/>
          </a:prstGeom>
          <a:solidFill>
            <a:srgbClr val="f59e0b"/>
          </a:solidFill>
          <a:ln w="12700">
            <a:solidFill>
              <a:srgbClr val="f59e0b"/>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000000"/>
              </a:solidFill>
              <a:effectLst/>
              <a:uFillTx/>
              <a:latin typeface="Arial"/>
            </a:endParaRPr>
          </a:p>
        </p:txBody>
      </p:sp>
      <p:sp>
        <p:nvSpPr>
          <p:cNvPr id="88" name="Text 38"/>
          <p:cNvSpPr/>
          <p:nvPr/>
        </p:nvSpPr>
        <p:spPr>
          <a:xfrm>
            <a:off x="9747360" y="2606040"/>
            <a:ext cx="173664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Graphiques</a:t>
            </a:r>
            <a:endParaRPr lang="fr-FR" sz="1320" b="0" u="none" strike="noStrike">
              <a:solidFill>
                <a:srgbClr val="000000"/>
              </a:solidFill>
              <a:effectLst/>
              <a:uFillTx/>
              <a:latin typeface="Arial"/>
            </a:endParaRPr>
          </a:p>
        </p:txBody>
      </p:sp>
      <p:sp>
        <p:nvSpPr>
          <p:cNvPr id="89" name="Shape 39"/>
          <p:cNvSpPr/>
          <p:nvPr/>
        </p:nvSpPr>
        <p:spPr>
          <a:xfrm>
            <a:off x="9582840" y="2971800"/>
            <a:ext cx="90720" cy="90720"/>
          </a:xfrm>
          <a:prstGeom prst="ellipse">
            <a:avLst/>
          </a:prstGeom>
          <a:solidFill>
            <a:srgbClr val="f59e0b"/>
          </a:solidFill>
          <a:ln w="12700">
            <a:solidFill>
              <a:srgbClr val="f59e0b"/>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000000"/>
              </a:solidFill>
              <a:effectLst/>
              <a:uFillTx/>
              <a:latin typeface="Arial"/>
            </a:endParaRPr>
          </a:p>
        </p:txBody>
      </p:sp>
      <p:sp>
        <p:nvSpPr>
          <p:cNvPr id="90" name="Text 40"/>
          <p:cNvSpPr/>
          <p:nvPr/>
        </p:nvSpPr>
        <p:spPr>
          <a:xfrm>
            <a:off x="9747360" y="2898720"/>
            <a:ext cx="173664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Lecture du réseau</a:t>
            </a:r>
            <a:endParaRPr lang="fr-FR" sz="1320" b="0" u="none" strike="noStrike">
              <a:solidFill>
                <a:srgbClr val="000000"/>
              </a:solidFill>
              <a:effectLst/>
              <a:uFillTx/>
              <a:latin typeface="Arial"/>
            </a:endParaRPr>
          </a:p>
        </p:txBody>
      </p:sp>
      <p:sp>
        <p:nvSpPr>
          <p:cNvPr id="91" name="Shape 41"/>
          <p:cNvSpPr/>
          <p:nvPr/>
        </p:nvSpPr>
        <p:spPr>
          <a:xfrm>
            <a:off x="4754880" y="3667320"/>
            <a:ext cx="6756840" cy="2331000"/>
          </a:xfrm>
          <a:prstGeom prst="roundRect">
            <a:avLst>
              <a:gd name="adj" fmla="val 3137"/>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92" name="Text 42"/>
          <p:cNvSpPr/>
          <p:nvPr/>
        </p:nvSpPr>
        <p:spPr>
          <a:xfrm>
            <a:off x="5029200" y="3941640"/>
            <a:ext cx="329112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800" b="1" u="none" strike="noStrike">
                <a:solidFill>
                  <a:srgbClr val="111827"/>
                </a:solidFill>
                <a:effectLst/>
                <a:uFillTx/>
                <a:latin typeface="Aptos"/>
              </a:rPr>
              <a:t>Livrables ciblés dans la présentation</a:t>
            </a:r>
            <a:endParaRPr lang="fr-FR" sz="1800" b="0" u="none" strike="noStrike">
              <a:solidFill>
                <a:srgbClr val="000000"/>
              </a:solidFill>
              <a:effectLst/>
              <a:uFillTx/>
              <a:latin typeface="Arial"/>
            </a:endParaRPr>
          </a:p>
        </p:txBody>
      </p:sp>
      <p:sp>
        <p:nvSpPr>
          <p:cNvPr id="93" name="Shape 43"/>
          <p:cNvSpPr/>
          <p:nvPr/>
        </p:nvSpPr>
        <p:spPr>
          <a:xfrm>
            <a:off x="5074920" y="444384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94" name="Text 44"/>
          <p:cNvSpPr/>
          <p:nvPr/>
        </p:nvSpPr>
        <p:spPr>
          <a:xfrm>
            <a:off x="5239440" y="4370760"/>
            <a:ext cx="260532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420" b="0" u="none" strike="noStrike">
                <a:solidFill>
                  <a:srgbClr val="374151"/>
                </a:solidFill>
                <a:effectLst/>
                <a:uFillTx/>
                <a:latin typeface="Aptos"/>
              </a:rPr>
              <a:t>MLD clair</a:t>
            </a:r>
            <a:endParaRPr lang="fr-FR" sz="1420" b="0" u="none" strike="noStrike">
              <a:solidFill>
                <a:srgbClr val="000000"/>
              </a:solidFill>
              <a:effectLst/>
              <a:uFillTx/>
              <a:latin typeface="Arial"/>
            </a:endParaRPr>
          </a:p>
        </p:txBody>
      </p:sp>
      <p:sp>
        <p:nvSpPr>
          <p:cNvPr id="95" name="Shape 45"/>
          <p:cNvSpPr/>
          <p:nvPr/>
        </p:nvSpPr>
        <p:spPr>
          <a:xfrm>
            <a:off x="5074920" y="479160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96" name="Text 46"/>
          <p:cNvSpPr/>
          <p:nvPr/>
        </p:nvSpPr>
        <p:spPr>
          <a:xfrm>
            <a:off x="5239440" y="4718160"/>
            <a:ext cx="260532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420" b="0" u="none" strike="noStrike">
                <a:solidFill>
                  <a:srgbClr val="374151"/>
                </a:solidFill>
                <a:effectLst/>
                <a:uFillTx/>
                <a:latin typeface="Aptos"/>
              </a:rPr>
              <a:t>Script PostgreSQL</a:t>
            </a:r>
            <a:endParaRPr lang="fr-FR" sz="1420" b="0" u="none" strike="noStrike">
              <a:solidFill>
                <a:srgbClr val="000000"/>
              </a:solidFill>
              <a:effectLst/>
              <a:uFillTx/>
              <a:latin typeface="Arial"/>
            </a:endParaRPr>
          </a:p>
        </p:txBody>
      </p:sp>
      <p:sp>
        <p:nvSpPr>
          <p:cNvPr id="97" name="Shape 47"/>
          <p:cNvSpPr/>
          <p:nvPr/>
        </p:nvSpPr>
        <p:spPr>
          <a:xfrm>
            <a:off x="5074920" y="513900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98" name="Text 48"/>
          <p:cNvSpPr/>
          <p:nvPr/>
        </p:nvSpPr>
        <p:spPr>
          <a:xfrm>
            <a:off x="5239440" y="5065920"/>
            <a:ext cx="260532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420" b="0" u="none" strike="noStrike">
                <a:solidFill>
                  <a:srgbClr val="374151"/>
                </a:solidFill>
                <a:effectLst/>
                <a:uFillTx/>
                <a:latin typeface="Aptos"/>
              </a:rPr>
              <a:t>Jeu de données</a:t>
            </a:r>
            <a:endParaRPr lang="fr-FR" sz="1420" b="0" u="none" strike="noStrike">
              <a:solidFill>
                <a:srgbClr val="000000"/>
              </a:solidFill>
              <a:effectLst/>
              <a:uFillTx/>
              <a:latin typeface="Arial"/>
            </a:endParaRPr>
          </a:p>
        </p:txBody>
      </p:sp>
      <p:sp>
        <p:nvSpPr>
          <p:cNvPr id="99" name="Shape 49"/>
          <p:cNvSpPr/>
          <p:nvPr/>
        </p:nvSpPr>
        <p:spPr>
          <a:xfrm>
            <a:off x="5074920" y="548640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100" name="Text 50"/>
          <p:cNvSpPr/>
          <p:nvPr/>
        </p:nvSpPr>
        <p:spPr>
          <a:xfrm>
            <a:off x="5239440" y="5413320"/>
            <a:ext cx="260532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420" b="0" u="none" strike="noStrike">
                <a:solidFill>
                  <a:srgbClr val="374151"/>
                </a:solidFill>
                <a:effectLst/>
                <a:uFillTx/>
                <a:latin typeface="Aptos"/>
              </a:rPr>
              <a:t>10 requêtes SQL</a:t>
            </a:r>
            <a:endParaRPr lang="fr-FR" sz="1420" b="0" u="none" strike="noStrike">
              <a:solidFill>
                <a:srgbClr val="000000"/>
              </a:solidFill>
              <a:effectLst/>
              <a:uFillTx/>
              <a:latin typeface="Arial"/>
            </a:endParaRPr>
          </a:p>
        </p:txBody>
      </p:sp>
      <p:sp>
        <p:nvSpPr>
          <p:cNvPr id="101" name="Shape 51"/>
          <p:cNvSpPr/>
          <p:nvPr/>
        </p:nvSpPr>
        <p:spPr>
          <a:xfrm>
            <a:off x="8183880" y="4443840"/>
            <a:ext cx="90720" cy="90720"/>
          </a:xfrm>
          <a:prstGeom prst="ellipse">
            <a:avLst/>
          </a:prstGeom>
          <a:solidFill>
            <a:srgbClr val="8b5cf6"/>
          </a:solidFill>
          <a:ln w="12700">
            <a:solidFill>
              <a:srgbClr val="8b5cf6"/>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102" name="Text 52"/>
          <p:cNvSpPr/>
          <p:nvPr/>
        </p:nvSpPr>
        <p:spPr>
          <a:xfrm>
            <a:off x="8348400" y="4370760"/>
            <a:ext cx="260532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420" b="0" u="none" strike="noStrike">
                <a:solidFill>
                  <a:srgbClr val="374151"/>
                </a:solidFill>
                <a:effectLst/>
                <a:uFillTx/>
                <a:latin typeface="Aptos"/>
              </a:rPr>
              <a:t>Captures du projet</a:t>
            </a:r>
            <a:endParaRPr lang="fr-FR" sz="1420" b="0" u="none" strike="noStrike">
              <a:solidFill>
                <a:srgbClr val="000000"/>
              </a:solidFill>
              <a:effectLst/>
              <a:uFillTx/>
              <a:latin typeface="Arial"/>
            </a:endParaRPr>
          </a:p>
        </p:txBody>
      </p:sp>
      <p:sp>
        <p:nvSpPr>
          <p:cNvPr id="103" name="Shape 53"/>
          <p:cNvSpPr/>
          <p:nvPr/>
        </p:nvSpPr>
        <p:spPr>
          <a:xfrm>
            <a:off x="8183880" y="4791600"/>
            <a:ext cx="90720" cy="90720"/>
          </a:xfrm>
          <a:prstGeom prst="ellipse">
            <a:avLst/>
          </a:prstGeom>
          <a:solidFill>
            <a:srgbClr val="8b5cf6"/>
          </a:solidFill>
          <a:ln w="12700">
            <a:solidFill>
              <a:srgbClr val="8b5cf6"/>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104" name="Text 54"/>
          <p:cNvSpPr/>
          <p:nvPr/>
        </p:nvSpPr>
        <p:spPr>
          <a:xfrm>
            <a:off x="8348400" y="4718160"/>
            <a:ext cx="260532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420" b="0" u="none" strike="noStrike">
                <a:solidFill>
                  <a:srgbClr val="374151"/>
                </a:solidFill>
                <a:effectLst/>
                <a:uFillTx/>
                <a:latin typeface="Aptos"/>
              </a:rPr>
              <a:t>Slides orales</a:t>
            </a:r>
            <a:endParaRPr lang="fr-FR" sz="1420" b="0" u="none" strike="noStrike">
              <a:solidFill>
                <a:srgbClr val="000000"/>
              </a:solidFill>
              <a:effectLst/>
              <a:uFillTx/>
              <a:latin typeface="Arial"/>
            </a:endParaRPr>
          </a:p>
        </p:txBody>
      </p:sp>
      <p:sp>
        <p:nvSpPr>
          <p:cNvPr id="105" name="Shape 55"/>
          <p:cNvSpPr/>
          <p:nvPr/>
        </p:nvSpPr>
        <p:spPr>
          <a:xfrm>
            <a:off x="8183880" y="5139000"/>
            <a:ext cx="90720" cy="90720"/>
          </a:xfrm>
          <a:prstGeom prst="ellipse">
            <a:avLst/>
          </a:prstGeom>
          <a:solidFill>
            <a:srgbClr val="8b5cf6"/>
          </a:solidFill>
          <a:ln w="12700">
            <a:solidFill>
              <a:srgbClr val="8b5cf6"/>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106" name="Text 56"/>
          <p:cNvSpPr/>
          <p:nvPr/>
        </p:nvSpPr>
        <p:spPr>
          <a:xfrm>
            <a:off x="8348400" y="5065920"/>
            <a:ext cx="260532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420" b="0" u="none" strike="noStrike">
                <a:solidFill>
                  <a:srgbClr val="374151"/>
                </a:solidFill>
                <a:effectLst/>
                <a:uFillTx/>
                <a:latin typeface="Aptos"/>
              </a:rPr>
              <a:t>Travail en groupe</a:t>
            </a:r>
            <a:endParaRPr lang="fr-FR" sz="1420" b="0" u="none" strike="noStrike">
              <a:solidFill>
                <a:srgbClr val="000000"/>
              </a:solidFill>
              <a:effectLst/>
              <a:uFillTx/>
              <a:latin typeface="Arial"/>
            </a:endParaRPr>
          </a:p>
        </p:txBody>
      </p:sp>
      <p:sp>
        <p:nvSpPr>
          <p:cNvPr id="107" name="Shape 57"/>
          <p:cNvSpPr/>
          <p:nvPr/>
        </p:nvSpPr>
        <p:spPr>
          <a:xfrm>
            <a:off x="8183880" y="5486400"/>
            <a:ext cx="90720" cy="90720"/>
          </a:xfrm>
          <a:prstGeom prst="ellipse">
            <a:avLst/>
          </a:prstGeom>
          <a:solidFill>
            <a:srgbClr val="8b5cf6"/>
          </a:solidFill>
          <a:ln w="12700">
            <a:solidFill>
              <a:srgbClr val="8b5cf6"/>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108" name="Text 58"/>
          <p:cNvSpPr/>
          <p:nvPr/>
        </p:nvSpPr>
        <p:spPr>
          <a:xfrm>
            <a:off x="8348400" y="5413320"/>
            <a:ext cx="260532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420" b="0" u="none" strike="noStrike">
                <a:solidFill>
                  <a:srgbClr val="374151"/>
                </a:solidFill>
                <a:effectLst/>
                <a:uFillTx/>
                <a:latin typeface="Aptos"/>
              </a:rPr>
              <a:t>Analyse graphique</a:t>
            </a:r>
            <a:endParaRPr lang="fr-FR" sz="1420" b="0" u="none" strike="noStrike">
              <a:solidFill>
                <a:srgbClr val="000000"/>
              </a:solidFill>
              <a:effectLst/>
              <a:uFillTx/>
              <a:latin typeface="Arial"/>
            </a:endParaRPr>
          </a:p>
        </p:txBody>
      </p:sp>
      <p:sp>
        <p:nvSpPr>
          <p:cNvPr id="109" name="Text 59"/>
          <p:cNvSpPr/>
          <p:nvPr/>
        </p:nvSpPr>
        <p:spPr>
          <a:xfrm>
            <a:off x="548640" y="6519600"/>
            <a:ext cx="3839760" cy="1364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800" b="0" u="none" strike="noStrike">
                <a:solidFill>
                  <a:srgbClr val="94a3b8"/>
                </a:solidFill>
                <a:effectLst/>
                <a:uFillTx/>
                <a:latin typeface="Aptos"/>
              </a:rPr>
              <a:t>SAE 2.04 - Exploitation d'une base de données</a:t>
            </a:r>
            <a:endParaRPr lang="fr-FR" sz="800" b="0" u="none" strike="noStrike">
              <a:solidFill>
                <a:srgbClr val="000000"/>
              </a:solidFill>
              <a:effectLst/>
              <a:uFillTx/>
              <a:latin typeface="Arial"/>
            </a:endParaRPr>
          </a:p>
        </p:txBody>
      </p:sp>
      <p:sp>
        <p:nvSpPr>
          <p:cNvPr id="110" name="Text 60"/>
          <p:cNvSpPr/>
          <p:nvPr/>
        </p:nvSpPr>
        <p:spPr>
          <a:xfrm>
            <a:off x="10424160" y="6519600"/>
            <a:ext cx="1188000" cy="13644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lang="en-US" sz="800" b="0" u="none" strike="noStrike">
                <a:solidFill>
                  <a:srgbClr val="94a3b8"/>
                </a:solidFill>
                <a:effectLst/>
                <a:uFillTx/>
                <a:latin typeface="Aptos"/>
              </a:rPr>
              <a:t>Métro parisien</a:t>
            </a:r>
            <a:endParaRPr lang="fr-FR"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c"/>
        </a:solidFill>
      </p:bgPr>
    </p:bg>
    <p:spTree>
      <p:nvGrpSpPr>
        <p:cNvPr id="1" name=""/>
        <p:cNvGrpSpPr/>
        <p:nvPr/>
      </p:nvGrpSpPr>
      <p:grpSpPr>
        <a:xfrm>
          <a:off x="0" y="0"/>
          <a:ext cx="0" cy="0"/>
          <a:chOff x="0" y="0"/>
          <a:chExt cx="0" cy="0"/>
        </a:xfrm>
      </p:grpSpPr>
      <p:sp>
        <p:nvSpPr>
          <p:cNvPr id="111" name="Shape 0"/>
          <p:cNvSpPr/>
          <p:nvPr/>
        </p:nvSpPr>
        <p:spPr>
          <a:xfrm>
            <a:off x="0" y="0"/>
            <a:ext cx="12191040" cy="163800"/>
          </a:xfrm>
          <a:prstGeom prst="rect">
            <a:avLst/>
          </a:prstGeom>
          <a:solidFill>
            <a:srgbClr val="1d4ed8"/>
          </a:solidFill>
          <a:ln w="12700">
            <a:solidFill>
              <a:srgbClr val="1d4ed8"/>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112" name="Text 1"/>
          <p:cNvSpPr/>
          <p:nvPr/>
        </p:nvSpPr>
        <p:spPr>
          <a:xfrm>
            <a:off x="548640" y="347400"/>
            <a:ext cx="8046000" cy="4107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2600" b="1" u="none" strike="noStrike">
                <a:solidFill>
                  <a:srgbClr val="111827"/>
                </a:solidFill>
                <a:effectLst/>
                <a:uFillTx/>
                <a:latin typeface="Aptos Display"/>
                <a:ea typeface="Aptos Display"/>
              </a:rPr>
              <a:t>Démarche de conception</a:t>
            </a:r>
            <a:endParaRPr lang="fr-FR" sz="2600" b="0" u="none" strike="noStrike">
              <a:solidFill>
                <a:srgbClr val="000000"/>
              </a:solidFill>
              <a:effectLst/>
              <a:uFillTx/>
              <a:latin typeface="Arial"/>
            </a:endParaRPr>
          </a:p>
        </p:txBody>
      </p:sp>
      <p:sp>
        <p:nvSpPr>
          <p:cNvPr id="113" name="Text 2"/>
          <p:cNvSpPr/>
          <p:nvPr/>
        </p:nvSpPr>
        <p:spPr>
          <a:xfrm>
            <a:off x="548640" y="768240"/>
            <a:ext cx="7863120" cy="255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050" b="0" u="none" strike="noStrike">
                <a:solidFill>
                  <a:srgbClr val="64748b"/>
                </a:solidFill>
                <a:effectLst/>
                <a:uFillTx/>
                <a:latin typeface="Aptos"/>
                <a:ea typeface="Aptos"/>
              </a:rPr>
              <a:t>Le projet suit une chaîne de travail simple : besoin, modèle, création, données, exploitation.</a:t>
            </a:r>
            <a:endParaRPr lang="fr-FR" sz="1050" b="0" u="none" strike="noStrike">
              <a:solidFill>
                <a:srgbClr val="000000"/>
              </a:solidFill>
              <a:effectLst/>
              <a:uFillTx/>
              <a:latin typeface="Arial"/>
            </a:endParaRPr>
          </a:p>
        </p:txBody>
      </p:sp>
      <p:sp>
        <p:nvSpPr>
          <p:cNvPr id="114" name="Shape 3"/>
          <p:cNvSpPr/>
          <p:nvPr/>
        </p:nvSpPr>
        <p:spPr>
          <a:xfrm>
            <a:off x="548640" y="1051560"/>
            <a:ext cx="11064240" cy="360"/>
          </a:xfrm>
          <a:prstGeom prst="line">
            <a:avLst/>
          </a:prstGeom>
          <a:ln w="12700">
            <a:solidFill>
              <a:srgbClr val="cbd5e1"/>
            </a:solidFill>
            <a:round/>
          </a:ln>
        </p:spPr>
        <p:style>
          <a:lnRef idx="0"/>
          <a:fillRef idx="0"/>
          <a:effectRef idx="0"/>
          <a:fontRef idx="minor"/>
        </p:style>
        <p:txBody>
          <a:bodyPr lIns="90000" rIns="90000" tIns="-44640" bIns="-44640" anchor="t" anchorCtr="1">
            <a:noAutofit/>
          </a:bodyPr>
          <a:p>
            <a:endParaRPr lang="fr-FR" sz="1800" b="0" u="none" strike="noStrike">
              <a:solidFill>
                <a:srgbClr val="000000"/>
              </a:solidFill>
              <a:effectLst/>
              <a:uFillTx/>
              <a:latin typeface="Arial"/>
            </a:endParaRPr>
          </a:p>
        </p:txBody>
      </p:sp>
      <p:sp>
        <p:nvSpPr>
          <p:cNvPr id="115" name="Shape 4"/>
          <p:cNvSpPr/>
          <p:nvPr/>
        </p:nvSpPr>
        <p:spPr>
          <a:xfrm>
            <a:off x="1261800" y="2806920"/>
            <a:ext cx="1280160" cy="360"/>
          </a:xfrm>
          <a:prstGeom prst="line">
            <a:avLst/>
          </a:prstGeom>
          <a:ln w="12700">
            <a:solidFill>
              <a:srgbClr val="cbd5e1"/>
            </a:solidFill>
            <a:round/>
          </a:ln>
        </p:spPr>
        <p:style>
          <a:lnRef idx="0"/>
          <a:fillRef idx="0"/>
          <a:effectRef idx="0"/>
          <a:fontRef idx="minor"/>
        </p:style>
        <p:txBody>
          <a:bodyPr lIns="90000" rIns="90000" tIns="-44640" bIns="-44640" anchor="t" anchorCtr="1">
            <a:noAutofit/>
          </a:bodyPr>
          <a:p>
            <a:endParaRPr lang="fr-FR" sz="1800" b="0" u="none" strike="noStrike">
              <a:solidFill>
                <a:srgbClr val="000000"/>
              </a:solidFill>
              <a:effectLst/>
              <a:uFillTx/>
              <a:latin typeface="Arial"/>
            </a:endParaRPr>
          </a:p>
        </p:txBody>
      </p:sp>
      <p:sp>
        <p:nvSpPr>
          <p:cNvPr id="116" name="Shape 5"/>
          <p:cNvSpPr/>
          <p:nvPr/>
        </p:nvSpPr>
        <p:spPr>
          <a:xfrm>
            <a:off x="3163680" y="2806920"/>
            <a:ext cx="1280160" cy="360"/>
          </a:xfrm>
          <a:prstGeom prst="line">
            <a:avLst/>
          </a:prstGeom>
          <a:ln w="12700">
            <a:solidFill>
              <a:srgbClr val="cbd5e1"/>
            </a:solidFill>
            <a:round/>
          </a:ln>
        </p:spPr>
        <p:style>
          <a:lnRef idx="0"/>
          <a:fillRef idx="0"/>
          <a:effectRef idx="0"/>
          <a:fontRef idx="minor"/>
        </p:style>
        <p:txBody>
          <a:bodyPr lIns="90000" rIns="90000" tIns="-44640" bIns="-44640" anchor="t" anchorCtr="1">
            <a:noAutofit/>
          </a:bodyPr>
          <a:p>
            <a:endParaRPr lang="fr-FR" sz="1800" b="0" u="none" strike="noStrike">
              <a:solidFill>
                <a:srgbClr val="000000"/>
              </a:solidFill>
              <a:effectLst/>
              <a:uFillTx/>
              <a:latin typeface="Arial"/>
            </a:endParaRPr>
          </a:p>
        </p:txBody>
      </p:sp>
      <p:sp>
        <p:nvSpPr>
          <p:cNvPr id="117" name="Shape 6"/>
          <p:cNvSpPr/>
          <p:nvPr/>
        </p:nvSpPr>
        <p:spPr>
          <a:xfrm>
            <a:off x="5065560" y="2806920"/>
            <a:ext cx="1280160" cy="360"/>
          </a:xfrm>
          <a:prstGeom prst="line">
            <a:avLst/>
          </a:prstGeom>
          <a:ln w="12700">
            <a:solidFill>
              <a:srgbClr val="cbd5e1"/>
            </a:solidFill>
            <a:round/>
          </a:ln>
        </p:spPr>
        <p:style>
          <a:lnRef idx="0"/>
          <a:fillRef idx="0"/>
          <a:effectRef idx="0"/>
          <a:fontRef idx="minor"/>
        </p:style>
        <p:txBody>
          <a:bodyPr lIns="90000" rIns="90000" tIns="-44640" bIns="-44640" anchor="t" anchorCtr="1">
            <a:noAutofit/>
          </a:bodyPr>
          <a:p>
            <a:endParaRPr lang="fr-FR" sz="1800" b="0" u="none" strike="noStrike">
              <a:solidFill>
                <a:srgbClr val="000000"/>
              </a:solidFill>
              <a:effectLst/>
              <a:uFillTx/>
              <a:latin typeface="Arial"/>
            </a:endParaRPr>
          </a:p>
        </p:txBody>
      </p:sp>
      <p:sp>
        <p:nvSpPr>
          <p:cNvPr id="118" name="Shape 7"/>
          <p:cNvSpPr/>
          <p:nvPr/>
        </p:nvSpPr>
        <p:spPr>
          <a:xfrm>
            <a:off x="6967440" y="2806920"/>
            <a:ext cx="1280160" cy="360"/>
          </a:xfrm>
          <a:prstGeom prst="line">
            <a:avLst/>
          </a:prstGeom>
          <a:ln w="12700">
            <a:solidFill>
              <a:srgbClr val="cbd5e1"/>
            </a:solidFill>
            <a:round/>
          </a:ln>
        </p:spPr>
        <p:style>
          <a:lnRef idx="0"/>
          <a:fillRef idx="0"/>
          <a:effectRef idx="0"/>
          <a:fontRef idx="minor"/>
        </p:style>
        <p:txBody>
          <a:bodyPr lIns="90000" rIns="90000" tIns="-44640" bIns="-44640" anchor="t" anchorCtr="1">
            <a:noAutofit/>
          </a:bodyPr>
          <a:p>
            <a:endParaRPr lang="fr-FR" sz="1800" b="0" u="none" strike="noStrike">
              <a:solidFill>
                <a:srgbClr val="000000"/>
              </a:solidFill>
              <a:effectLst/>
              <a:uFillTx/>
              <a:latin typeface="Arial"/>
            </a:endParaRPr>
          </a:p>
        </p:txBody>
      </p:sp>
      <p:sp>
        <p:nvSpPr>
          <p:cNvPr id="119" name="Shape 8"/>
          <p:cNvSpPr/>
          <p:nvPr/>
        </p:nvSpPr>
        <p:spPr>
          <a:xfrm>
            <a:off x="8869680" y="2806920"/>
            <a:ext cx="1280160" cy="360"/>
          </a:xfrm>
          <a:prstGeom prst="line">
            <a:avLst/>
          </a:prstGeom>
          <a:ln w="12700">
            <a:solidFill>
              <a:srgbClr val="cbd5e1"/>
            </a:solidFill>
            <a:round/>
          </a:ln>
        </p:spPr>
        <p:style>
          <a:lnRef idx="0"/>
          <a:fillRef idx="0"/>
          <a:effectRef idx="0"/>
          <a:fontRef idx="minor"/>
        </p:style>
        <p:txBody>
          <a:bodyPr lIns="90000" rIns="90000" tIns="-44640" bIns="-44640" anchor="t" anchorCtr="1">
            <a:noAutofit/>
          </a:bodyPr>
          <a:p>
            <a:endParaRPr lang="fr-FR" sz="1800" b="0" u="none" strike="noStrike">
              <a:solidFill>
                <a:srgbClr val="000000"/>
              </a:solidFill>
              <a:effectLst/>
              <a:uFillTx/>
              <a:latin typeface="Arial"/>
            </a:endParaRPr>
          </a:p>
        </p:txBody>
      </p:sp>
      <p:sp>
        <p:nvSpPr>
          <p:cNvPr id="120" name="Shape 9"/>
          <p:cNvSpPr/>
          <p:nvPr/>
        </p:nvSpPr>
        <p:spPr>
          <a:xfrm>
            <a:off x="10771560" y="2806920"/>
            <a:ext cx="1280160" cy="360"/>
          </a:xfrm>
          <a:prstGeom prst="line">
            <a:avLst/>
          </a:prstGeom>
          <a:ln w="12700">
            <a:solidFill>
              <a:srgbClr val="cbd5e1"/>
            </a:solidFill>
            <a:round/>
          </a:ln>
        </p:spPr>
        <p:style>
          <a:lnRef idx="0"/>
          <a:fillRef idx="0"/>
          <a:effectRef idx="0"/>
          <a:fontRef idx="minor"/>
        </p:style>
        <p:txBody>
          <a:bodyPr lIns="90000" rIns="90000" tIns="-44640" bIns="-44640" anchor="t" anchorCtr="1">
            <a:noAutofit/>
          </a:bodyPr>
          <a:p>
            <a:endParaRPr lang="fr-FR" sz="1800" b="0" u="none" strike="noStrike">
              <a:solidFill>
                <a:srgbClr val="000000"/>
              </a:solidFill>
              <a:effectLst/>
              <a:uFillTx/>
              <a:latin typeface="Arial"/>
            </a:endParaRPr>
          </a:p>
        </p:txBody>
      </p:sp>
      <p:sp>
        <p:nvSpPr>
          <p:cNvPr id="121" name="Shape 10"/>
          <p:cNvSpPr/>
          <p:nvPr/>
        </p:nvSpPr>
        <p:spPr>
          <a:xfrm>
            <a:off x="621720" y="1920240"/>
            <a:ext cx="1645200" cy="2239560"/>
          </a:xfrm>
          <a:prstGeom prst="roundRect">
            <a:avLst>
              <a:gd name="adj" fmla="val 4444"/>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122" name="Shape 11"/>
          <p:cNvSpPr/>
          <p:nvPr/>
        </p:nvSpPr>
        <p:spPr>
          <a:xfrm>
            <a:off x="1188720" y="1463040"/>
            <a:ext cx="511200" cy="511200"/>
          </a:xfrm>
          <a:prstGeom prst="ellipse">
            <a:avLst/>
          </a:prstGeom>
          <a:solidFill>
            <a:srgbClr val="1d4ed8"/>
          </a:solidFill>
          <a:ln w="12700">
            <a:solidFill>
              <a:srgbClr val="1d4ed8"/>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123" name="Text 12"/>
          <p:cNvSpPr/>
          <p:nvPr/>
        </p:nvSpPr>
        <p:spPr>
          <a:xfrm>
            <a:off x="1188720" y="1617840"/>
            <a:ext cx="511200" cy="1821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600" b="1" u="none" strike="noStrike">
                <a:solidFill>
                  <a:srgbClr val="ffffff"/>
                </a:solidFill>
                <a:effectLst/>
                <a:uFillTx/>
                <a:latin typeface="Aptos"/>
              </a:rPr>
              <a:t>1</a:t>
            </a:r>
            <a:endParaRPr lang="fr-FR" sz="1600" b="0" u="none" strike="noStrike">
              <a:solidFill>
                <a:srgbClr val="000000"/>
              </a:solidFill>
              <a:effectLst/>
              <a:uFillTx/>
              <a:latin typeface="Arial"/>
            </a:endParaRPr>
          </a:p>
        </p:txBody>
      </p:sp>
      <p:sp>
        <p:nvSpPr>
          <p:cNvPr id="124" name="Text 13"/>
          <p:cNvSpPr/>
          <p:nvPr/>
        </p:nvSpPr>
        <p:spPr>
          <a:xfrm>
            <a:off x="786240" y="2148840"/>
            <a:ext cx="1316160" cy="2278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600" b="1" u="none" strike="noStrike">
                <a:solidFill>
                  <a:srgbClr val="111827"/>
                </a:solidFill>
                <a:effectLst/>
                <a:uFillTx/>
                <a:latin typeface="Aptos"/>
              </a:rPr>
              <a:t>Besoin</a:t>
            </a:r>
            <a:endParaRPr lang="fr-FR" sz="1600" b="0" u="none" strike="noStrike">
              <a:solidFill>
                <a:srgbClr val="000000"/>
              </a:solidFill>
              <a:effectLst/>
              <a:uFillTx/>
              <a:latin typeface="Arial"/>
            </a:endParaRPr>
          </a:p>
        </p:txBody>
      </p:sp>
      <p:sp>
        <p:nvSpPr>
          <p:cNvPr id="125" name="Text 14"/>
          <p:cNvSpPr/>
          <p:nvPr/>
        </p:nvSpPr>
        <p:spPr>
          <a:xfrm>
            <a:off x="749880" y="2514600"/>
            <a:ext cx="1389240" cy="10051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250" b="0" u="none" strike="noStrike">
                <a:solidFill>
                  <a:srgbClr val="475569"/>
                </a:solidFill>
                <a:effectLst/>
                <a:uFillTx/>
                <a:latin typeface="Aptos"/>
              </a:rPr>
              <a:t>Définir le scénario</a:t>
            </a:r>
            <a:endParaRPr lang="fr-FR" sz="1250" b="0" u="none" strike="noStrike">
              <a:solidFill>
                <a:srgbClr val="000000"/>
              </a:solidFill>
              <a:effectLst/>
              <a:uFillTx/>
              <a:latin typeface="Arial"/>
            </a:endParaRPr>
          </a:p>
          <a:p>
            <a:pPr algn="ctr" defTabSz="914400">
              <a:lnSpc>
                <a:spcPct val="100000"/>
              </a:lnSpc>
              <a:tabLst>
                <a:tab algn="l" pos="0"/>
              </a:tabLst>
            </a:pPr>
            <a:r>
              <a:rPr lang="en-US" sz="1250" b="0" u="none" strike="noStrike">
                <a:solidFill>
                  <a:srgbClr val="475569"/>
                </a:solidFill>
                <a:effectLst/>
                <a:uFillTx/>
                <a:latin typeface="Aptos"/>
              </a:rPr>
              <a:t>client et les objets à représenter</a:t>
            </a:r>
            <a:endParaRPr lang="fr-FR" sz="1250" b="0" u="none" strike="noStrike">
              <a:solidFill>
                <a:srgbClr val="000000"/>
              </a:solidFill>
              <a:effectLst/>
              <a:uFillTx/>
              <a:latin typeface="Arial"/>
            </a:endParaRPr>
          </a:p>
        </p:txBody>
      </p:sp>
      <p:sp>
        <p:nvSpPr>
          <p:cNvPr id="126" name="Shape 15"/>
          <p:cNvSpPr/>
          <p:nvPr/>
        </p:nvSpPr>
        <p:spPr>
          <a:xfrm>
            <a:off x="2523600" y="1920240"/>
            <a:ext cx="1645200" cy="2239560"/>
          </a:xfrm>
          <a:prstGeom prst="roundRect">
            <a:avLst>
              <a:gd name="adj" fmla="val 4444"/>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127" name="Shape 16"/>
          <p:cNvSpPr/>
          <p:nvPr/>
        </p:nvSpPr>
        <p:spPr>
          <a:xfrm>
            <a:off x="3090600" y="1463040"/>
            <a:ext cx="511200" cy="511200"/>
          </a:xfrm>
          <a:prstGeom prst="ellipse">
            <a:avLst/>
          </a:prstGeom>
          <a:solidFill>
            <a:srgbClr val="06b6d4"/>
          </a:solidFill>
          <a:ln w="12700">
            <a:solidFill>
              <a:srgbClr val="06b6d4"/>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128" name="Text 17"/>
          <p:cNvSpPr/>
          <p:nvPr/>
        </p:nvSpPr>
        <p:spPr>
          <a:xfrm>
            <a:off x="3090600" y="1617840"/>
            <a:ext cx="511200" cy="1821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600" b="1" u="none" strike="noStrike">
                <a:solidFill>
                  <a:srgbClr val="ffffff"/>
                </a:solidFill>
                <a:effectLst/>
                <a:uFillTx/>
                <a:latin typeface="Aptos"/>
              </a:rPr>
              <a:t>2</a:t>
            </a:r>
            <a:endParaRPr lang="fr-FR" sz="1600" b="0" u="none" strike="noStrike">
              <a:solidFill>
                <a:srgbClr val="000000"/>
              </a:solidFill>
              <a:effectLst/>
              <a:uFillTx/>
              <a:latin typeface="Arial"/>
            </a:endParaRPr>
          </a:p>
        </p:txBody>
      </p:sp>
      <p:sp>
        <p:nvSpPr>
          <p:cNvPr id="129" name="Text 18"/>
          <p:cNvSpPr/>
          <p:nvPr/>
        </p:nvSpPr>
        <p:spPr>
          <a:xfrm rot="31200">
            <a:off x="2410920" y="2120040"/>
            <a:ext cx="1905480" cy="2278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600" b="1" u="none" strike="noStrike">
                <a:solidFill>
                  <a:srgbClr val="111827"/>
                </a:solidFill>
                <a:effectLst/>
                <a:uFillTx/>
                <a:latin typeface="Aptos"/>
              </a:rPr>
              <a:t>Modélisation</a:t>
            </a:r>
            <a:endParaRPr lang="fr-FR" sz="1600" b="0" u="none" strike="noStrike">
              <a:solidFill>
                <a:srgbClr val="000000"/>
              </a:solidFill>
              <a:effectLst/>
              <a:uFillTx/>
              <a:latin typeface="Arial"/>
            </a:endParaRPr>
          </a:p>
        </p:txBody>
      </p:sp>
      <p:sp>
        <p:nvSpPr>
          <p:cNvPr id="130" name="Text 19"/>
          <p:cNvSpPr/>
          <p:nvPr/>
        </p:nvSpPr>
        <p:spPr>
          <a:xfrm>
            <a:off x="2651760" y="2514600"/>
            <a:ext cx="1389240" cy="10051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250" b="0" u="none" strike="noStrike">
                <a:solidFill>
                  <a:srgbClr val="475569"/>
                </a:solidFill>
                <a:effectLst/>
                <a:uFillTx/>
                <a:latin typeface="Aptos"/>
              </a:rPr>
              <a:t>Construire le MLD</a:t>
            </a:r>
            <a:endParaRPr lang="fr-FR" sz="1250" b="0" u="none" strike="noStrike">
              <a:solidFill>
                <a:srgbClr val="000000"/>
              </a:solidFill>
              <a:effectLst/>
              <a:uFillTx/>
              <a:latin typeface="Arial"/>
            </a:endParaRPr>
          </a:p>
          <a:p>
            <a:pPr algn="ctr" defTabSz="914400">
              <a:lnSpc>
                <a:spcPct val="100000"/>
              </a:lnSpc>
              <a:tabLst>
                <a:tab algn="l" pos="0"/>
              </a:tabLst>
            </a:pPr>
            <a:r>
              <a:rPr lang="en-US" sz="1250" b="0" u="none" strike="noStrike">
                <a:solidFill>
                  <a:srgbClr val="475569"/>
                </a:solidFill>
                <a:effectLst/>
                <a:uFillTx/>
                <a:latin typeface="Aptos"/>
              </a:rPr>
              <a:t>et fixer les relations</a:t>
            </a:r>
            <a:endParaRPr lang="fr-FR" sz="1250" b="0" u="none" strike="noStrike">
              <a:solidFill>
                <a:srgbClr val="000000"/>
              </a:solidFill>
              <a:effectLst/>
              <a:uFillTx/>
              <a:latin typeface="Arial"/>
            </a:endParaRPr>
          </a:p>
        </p:txBody>
      </p:sp>
      <p:sp>
        <p:nvSpPr>
          <p:cNvPr id="131" name="Shape 20"/>
          <p:cNvSpPr/>
          <p:nvPr/>
        </p:nvSpPr>
        <p:spPr>
          <a:xfrm>
            <a:off x="4425840" y="1920240"/>
            <a:ext cx="1645200" cy="2239560"/>
          </a:xfrm>
          <a:prstGeom prst="roundRect">
            <a:avLst>
              <a:gd name="adj" fmla="val 4444"/>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132" name="Shape 21"/>
          <p:cNvSpPr/>
          <p:nvPr/>
        </p:nvSpPr>
        <p:spPr>
          <a:xfrm>
            <a:off x="4992480" y="1463040"/>
            <a:ext cx="511200" cy="511200"/>
          </a:xfrm>
          <a:prstGeom prst="ellipse">
            <a:avLst/>
          </a:prstGeom>
          <a:solidFill>
            <a:srgbClr val="10b981"/>
          </a:solidFill>
          <a:ln w="12700">
            <a:solidFill>
              <a:srgbClr val="10b981"/>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133" name="Text 22"/>
          <p:cNvSpPr/>
          <p:nvPr/>
        </p:nvSpPr>
        <p:spPr>
          <a:xfrm>
            <a:off x="4992480" y="1617840"/>
            <a:ext cx="511200" cy="1821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600" b="1" u="none" strike="noStrike">
                <a:solidFill>
                  <a:srgbClr val="ffffff"/>
                </a:solidFill>
                <a:effectLst/>
                <a:uFillTx/>
                <a:latin typeface="Aptos"/>
              </a:rPr>
              <a:t>3</a:t>
            </a:r>
            <a:endParaRPr lang="fr-FR" sz="1600" b="0" u="none" strike="noStrike">
              <a:solidFill>
                <a:srgbClr val="000000"/>
              </a:solidFill>
              <a:effectLst/>
              <a:uFillTx/>
              <a:latin typeface="Arial"/>
            </a:endParaRPr>
          </a:p>
        </p:txBody>
      </p:sp>
      <p:sp>
        <p:nvSpPr>
          <p:cNvPr id="134" name="Text 23"/>
          <p:cNvSpPr/>
          <p:nvPr/>
        </p:nvSpPr>
        <p:spPr>
          <a:xfrm>
            <a:off x="4590360" y="2148840"/>
            <a:ext cx="1316160" cy="2278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600" b="1" u="none" strike="noStrike">
                <a:solidFill>
                  <a:srgbClr val="111827"/>
                </a:solidFill>
                <a:effectLst/>
                <a:uFillTx/>
                <a:latin typeface="Aptos"/>
              </a:rPr>
              <a:t>Création</a:t>
            </a:r>
            <a:endParaRPr lang="fr-FR" sz="1600" b="0" u="none" strike="noStrike">
              <a:solidFill>
                <a:srgbClr val="000000"/>
              </a:solidFill>
              <a:effectLst/>
              <a:uFillTx/>
              <a:latin typeface="Arial"/>
            </a:endParaRPr>
          </a:p>
        </p:txBody>
      </p:sp>
      <p:sp>
        <p:nvSpPr>
          <p:cNvPr id="135" name="Text 24"/>
          <p:cNvSpPr/>
          <p:nvPr/>
        </p:nvSpPr>
        <p:spPr>
          <a:xfrm>
            <a:off x="4553640" y="2514600"/>
            <a:ext cx="1389240" cy="10051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250" b="0" u="none" strike="noStrike">
                <a:solidFill>
                  <a:srgbClr val="475569"/>
                </a:solidFill>
                <a:effectLst/>
                <a:uFillTx/>
                <a:latin typeface="Aptos"/>
              </a:rPr>
              <a:t>Écrire le schéma</a:t>
            </a:r>
            <a:endParaRPr lang="fr-FR" sz="1250" b="0" u="none" strike="noStrike">
              <a:solidFill>
                <a:srgbClr val="000000"/>
              </a:solidFill>
              <a:effectLst/>
              <a:uFillTx/>
              <a:latin typeface="Arial"/>
            </a:endParaRPr>
          </a:p>
          <a:p>
            <a:pPr algn="ctr" defTabSz="914400">
              <a:lnSpc>
                <a:spcPct val="100000"/>
              </a:lnSpc>
              <a:tabLst>
                <a:tab algn="l" pos="0"/>
              </a:tabLst>
            </a:pPr>
            <a:r>
              <a:rPr lang="en-US" sz="1250" b="0" u="none" strike="noStrike">
                <a:solidFill>
                  <a:srgbClr val="475569"/>
                </a:solidFill>
                <a:effectLst/>
                <a:uFillTx/>
                <a:latin typeface="Aptos"/>
              </a:rPr>
              <a:t>et les tables SQL</a:t>
            </a:r>
            <a:endParaRPr lang="fr-FR" sz="1250" b="0" u="none" strike="noStrike">
              <a:solidFill>
                <a:srgbClr val="000000"/>
              </a:solidFill>
              <a:effectLst/>
              <a:uFillTx/>
              <a:latin typeface="Arial"/>
            </a:endParaRPr>
          </a:p>
        </p:txBody>
      </p:sp>
      <p:sp>
        <p:nvSpPr>
          <p:cNvPr id="136" name="Shape 25"/>
          <p:cNvSpPr/>
          <p:nvPr/>
        </p:nvSpPr>
        <p:spPr>
          <a:xfrm>
            <a:off x="6327720" y="1920240"/>
            <a:ext cx="1645200" cy="2239560"/>
          </a:xfrm>
          <a:prstGeom prst="roundRect">
            <a:avLst>
              <a:gd name="adj" fmla="val 4444"/>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137" name="Shape 26"/>
          <p:cNvSpPr/>
          <p:nvPr/>
        </p:nvSpPr>
        <p:spPr>
          <a:xfrm>
            <a:off x="6894720" y="1463040"/>
            <a:ext cx="511200" cy="511200"/>
          </a:xfrm>
          <a:prstGeom prst="ellipse">
            <a:avLst/>
          </a:prstGeom>
          <a:solidFill>
            <a:srgbClr val="f59e0b"/>
          </a:solidFill>
          <a:ln w="12700">
            <a:solidFill>
              <a:srgbClr val="f59e0b"/>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138" name="Text 27"/>
          <p:cNvSpPr/>
          <p:nvPr/>
        </p:nvSpPr>
        <p:spPr>
          <a:xfrm>
            <a:off x="6894720" y="1617840"/>
            <a:ext cx="511200" cy="1821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600" b="1" u="none" strike="noStrike">
                <a:solidFill>
                  <a:srgbClr val="ffffff"/>
                </a:solidFill>
                <a:effectLst/>
                <a:uFillTx/>
                <a:latin typeface="Aptos"/>
              </a:rPr>
              <a:t>4</a:t>
            </a:r>
            <a:endParaRPr lang="fr-FR" sz="1600" b="0" u="none" strike="noStrike">
              <a:solidFill>
                <a:srgbClr val="000000"/>
              </a:solidFill>
              <a:effectLst/>
              <a:uFillTx/>
              <a:latin typeface="Arial"/>
            </a:endParaRPr>
          </a:p>
        </p:txBody>
      </p:sp>
      <p:sp>
        <p:nvSpPr>
          <p:cNvPr id="139" name="Text 28"/>
          <p:cNvSpPr/>
          <p:nvPr/>
        </p:nvSpPr>
        <p:spPr>
          <a:xfrm>
            <a:off x="6492240" y="2148840"/>
            <a:ext cx="1316160" cy="2278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600" b="1" u="none" strike="noStrike">
                <a:solidFill>
                  <a:srgbClr val="111827"/>
                </a:solidFill>
                <a:effectLst/>
                <a:uFillTx/>
                <a:latin typeface="Aptos"/>
              </a:rPr>
              <a:t>Insertion</a:t>
            </a:r>
            <a:endParaRPr lang="fr-FR" sz="1600" b="0" u="none" strike="noStrike">
              <a:solidFill>
                <a:srgbClr val="000000"/>
              </a:solidFill>
              <a:effectLst/>
              <a:uFillTx/>
              <a:latin typeface="Arial"/>
            </a:endParaRPr>
          </a:p>
        </p:txBody>
      </p:sp>
      <p:sp>
        <p:nvSpPr>
          <p:cNvPr id="140" name="Text 29"/>
          <p:cNvSpPr/>
          <p:nvPr/>
        </p:nvSpPr>
        <p:spPr>
          <a:xfrm>
            <a:off x="6455520" y="2514600"/>
            <a:ext cx="1389240" cy="10051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250" b="0" u="none" strike="noStrike">
                <a:solidFill>
                  <a:srgbClr val="475569"/>
                </a:solidFill>
                <a:effectLst/>
                <a:uFillTx/>
                <a:latin typeface="Aptos"/>
              </a:rPr>
              <a:t>Préparer les données</a:t>
            </a:r>
            <a:endParaRPr lang="fr-FR" sz="1250" b="0" u="none" strike="noStrike">
              <a:solidFill>
                <a:srgbClr val="000000"/>
              </a:solidFill>
              <a:effectLst/>
              <a:uFillTx/>
              <a:latin typeface="Arial"/>
            </a:endParaRPr>
          </a:p>
          <a:p>
            <a:pPr algn="ctr" defTabSz="914400">
              <a:lnSpc>
                <a:spcPct val="100000"/>
              </a:lnSpc>
              <a:tabLst>
                <a:tab algn="l" pos="0"/>
              </a:tabLst>
            </a:pPr>
            <a:r>
              <a:rPr lang="en-US" sz="1250" b="0" u="none" strike="noStrike">
                <a:solidFill>
                  <a:srgbClr val="475569"/>
                </a:solidFill>
                <a:effectLst/>
                <a:uFillTx/>
                <a:latin typeface="Aptos"/>
              </a:rPr>
              <a:t>et générer les inserts</a:t>
            </a:r>
            <a:endParaRPr lang="fr-FR" sz="1250" b="0" u="none" strike="noStrike">
              <a:solidFill>
                <a:srgbClr val="000000"/>
              </a:solidFill>
              <a:effectLst/>
              <a:uFillTx/>
              <a:latin typeface="Arial"/>
            </a:endParaRPr>
          </a:p>
        </p:txBody>
      </p:sp>
      <p:sp>
        <p:nvSpPr>
          <p:cNvPr id="141" name="Shape 30"/>
          <p:cNvSpPr/>
          <p:nvPr/>
        </p:nvSpPr>
        <p:spPr>
          <a:xfrm>
            <a:off x="8229600" y="1920240"/>
            <a:ext cx="1645200" cy="2239560"/>
          </a:xfrm>
          <a:prstGeom prst="roundRect">
            <a:avLst>
              <a:gd name="adj" fmla="val 4444"/>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142" name="Shape 31"/>
          <p:cNvSpPr/>
          <p:nvPr/>
        </p:nvSpPr>
        <p:spPr>
          <a:xfrm>
            <a:off x="8796600" y="1463040"/>
            <a:ext cx="511200" cy="511200"/>
          </a:xfrm>
          <a:prstGeom prst="ellipse">
            <a:avLst/>
          </a:prstGeom>
          <a:solidFill>
            <a:srgbClr val="8b5cf6"/>
          </a:solidFill>
          <a:ln w="12700">
            <a:solidFill>
              <a:srgbClr val="8b5cf6"/>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143" name="Text 32"/>
          <p:cNvSpPr/>
          <p:nvPr/>
        </p:nvSpPr>
        <p:spPr>
          <a:xfrm>
            <a:off x="8796600" y="1617840"/>
            <a:ext cx="511200" cy="1821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600" b="1" u="none" strike="noStrike">
                <a:solidFill>
                  <a:srgbClr val="ffffff"/>
                </a:solidFill>
                <a:effectLst/>
                <a:uFillTx/>
                <a:latin typeface="Aptos"/>
              </a:rPr>
              <a:t>5</a:t>
            </a:r>
            <a:endParaRPr lang="fr-FR" sz="1600" b="0" u="none" strike="noStrike">
              <a:solidFill>
                <a:srgbClr val="000000"/>
              </a:solidFill>
              <a:effectLst/>
              <a:uFillTx/>
              <a:latin typeface="Arial"/>
            </a:endParaRPr>
          </a:p>
        </p:txBody>
      </p:sp>
      <p:sp>
        <p:nvSpPr>
          <p:cNvPr id="144" name="Text 33"/>
          <p:cNvSpPr/>
          <p:nvPr/>
        </p:nvSpPr>
        <p:spPr>
          <a:xfrm>
            <a:off x="8394120" y="2148840"/>
            <a:ext cx="1316160" cy="2278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600" b="1" u="none" strike="noStrike">
                <a:solidFill>
                  <a:srgbClr val="111827"/>
                </a:solidFill>
                <a:effectLst/>
                <a:uFillTx/>
                <a:latin typeface="Aptos"/>
              </a:rPr>
              <a:t>Requêtes</a:t>
            </a:r>
            <a:endParaRPr lang="fr-FR" sz="1600" b="0" u="none" strike="noStrike">
              <a:solidFill>
                <a:srgbClr val="000000"/>
              </a:solidFill>
              <a:effectLst/>
              <a:uFillTx/>
              <a:latin typeface="Arial"/>
            </a:endParaRPr>
          </a:p>
        </p:txBody>
      </p:sp>
      <p:sp>
        <p:nvSpPr>
          <p:cNvPr id="145" name="Text 34"/>
          <p:cNvSpPr/>
          <p:nvPr/>
        </p:nvSpPr>
        <p:spPr>
          <a:xfrm>
            <a:off x="8357760" y="2514600"/>
            <a:ext cx="1389240" cy="10051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250" b="0" u="none" strike="noStrike">
                <a:solidFill>
                  <a:srgbClr val="475569"/>
                </a:solidFill>
                <a:effectLst/>
                <a:uFillTx/>
                <a:latin typeface="Aptos"/>
              </a:rPr>
              <a:t>Interroger la base</a:t>
            </a:r>
            <a:endParaRPr lang="fr-FR" sz="1250" b="0" u="none" strike="noStrike">
              <a:solidFill>
                <a:srgbClr val="000000"/>
              </a:solidFill>
              <a:effectLst/>
              <a:uFillTx/>
              <a:latin typeface="Arial"/>
            </a:endParaRPr>
          </a:p>
          <a:p>
            <a:pPr algn="ctr" defTabSz="914400">
              <a:lnSpc>
                <a:spcPct val="100000"/>
              </a:lnSpc>
              <a:tabLst>
                <a:tab algn="l" pos="0"/>
              </a:tabLst>
            </a:pPr>
            <a:r>
              <a:rPr lang="en-US" sz="1250" b="0" u="none" strike="noStrike">
                <a:solidFill>
                  <a:srgbClr val="475569"/>
                </a:solidFill>
                <a:effectLst/>
                <a:uFillTx/>
                <a:latin typeface="Aptos"/>
              </a:rPr>
              <a:t>et calculer les indicateurs</a:t>
            </a:r>
            <a:endParaRPr lang="fr-FR" sz="1250" b="0" u="none" strike="noStrike">
              <a:solidFill>
                <a:srgbClr val="000000"/>
              </a:solidFill>
              <a:effectLst/>
              <a:uFillTx/>
              <a:latin typeface="Arial"/>
            </a:endParaRPr>
          </a:p>
        </p:txBody>
      </p:sp>
      <p:sp>
        <p:nvSpPr>
          <p:cNvPr id="146" name="Shape 35"/>
          <p:cNvSpPr/>
          <p:nvPr/>
        </p:nvSpPr>
        <p:spPr>
          <a:xfrm>
            <a:off x="10131480" y="1920240"/>
            <a:ext cx="1645200" cy="2239560"/>
          </a:xfrm>
          <a:prstGeom prst="roundRect">
            <a:avLst>
              <a:gd name="adj" fmla="val 4444"/>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147" name="Shape 36"/>
          <p:cNvSpPr/>
          <p:nvPr/>
        </p:nvSpPr>
        <p:spPr>
          <a:xfrm>
            <a:off x="10698480" y="1463040"/>
            <a:ext cx="511200" cy="511200"/>
          </a:xfrm>
          <a:prstGeom prst="ellipse">
            <a:avLst/>
          </a:prstGeom>
          <a:solidFill>
            <a:srgbClr val="ec4899"/>
          </a:solidFill>
          <a:ln w="12700">
            <a:solidFill>
              <a:srgbClr val="ec4899"/>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148" name="Text 37"/>
          <p:cNvSpPr/>
          <p:nvPr/>
        </p:nvSpPr>
        <p:spPr>
          <a:xfrm>
            <a:off x="10698480" y="1617840"/>
            <a:ext cx="511200" cy="1821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600" b="1" u="none" strike="noStrike">
                <a:solidFill>
                  <a:srgbClr val="ffffff"/>
                </a:solidFill>
                <a:effectLst/>
                <a:uFillTx/>
                <a:latin typeface="Aptos"/>
              </a:rPr>
              <a:t>6</a:t>
            </a:r>
            <a:endParaRPr lang="fr-FR" sz="1600" b="0" u="none" strike="noStrike">
              <a:solidFill>
                <a:srgbClr val="000000"/>
              </a:solidFill>
              <a:effectLst/>
              <a:uFillTx/>
              <a:latin typeface="Arial"/>
            </a:endParaRPr>
          </a:p>
        </p:txBody>
      </p:sp>
      <p:sp>
        <p:nvSpPr>
          <p:cNvPr id="149" name="Text 38"/>
          <p:cNvSpPr/>
          <p:nvPr/>
        </p:nvSpPr>
        <p:spPr>
          <a:xfrm>
            <a:off x="10044000" y="2148840"/>
            <a:ext cx="1799640" cy="2278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600" b="1" u="none" strike="noStrike">
                <a:solidFill>
                  <a:srgbClr val="111827"/>
                </a:solidFill>
                <a:effectLst/>
                <a:uFillTx/>
                <a:latin typeface="Aptos"/>
              </a:rPr>
              <a:t>Présentation</a:t>
            </a:r>
            <a:endParaRPr lang="fr-FR" sz="1600" b="0" u="none" strike="noStrike">
              <a:solidFill>
                <a:srgbClr val="000000"/>
              </a:solidFill>
              <a:effectLst/>
              <a:uFillTx/>
              <a:latin typeface="Arial"/>
            </a:endParaRPr>
          </a:p>
        </p:txBody>
      </p:sp>
      <p:sp>
        <p:nvSpPr>
          <p:cNvPr id="150" name="Text 39"/>
          <p:cNvSpPr/>
          <p:nvPr/>
        </p:nvSpPr>
        <p:spPr>
          <a:xfrm>
            <a:off x="10259640" y="2514600"/>
            <a:ext cx="1389240" cy="10051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250" b="0" u="none" strike="noStrike">
                <a:solidFill>
                  <a:srgbClr val="475569"/>
                </a:solidFill>
                <a:effectLst/>
                <a:uFillTx/>
                <a:latin typeface="Aptos"/>
              </a:rPr>
              <a:t>Montrer les résultats</a:t>
            </a:r>
            <a:endParaRPr lang="fr-FR" sz="1250" b="0" u="none" strike="noStrike">
              <a:solidFill>
                <a:srgbClr val="000000"/>
              </a:solidFill>
              <a:effectLst/>
              <a:uFillTx/>
              <a:latin typeface="Arial"/>
            </a:endParaRPr>
          </a:p>
          <a:p>
            <a:pPr algn="ctr" defTabSz="914400">
              <a:lnSpc>
                <a:spcPct val="100000"/>
              </a:lnSpc>
              <a:tabLst>
                <a:tab algn="l" pos="0"/>
              </a:tabLst>
            </a:pPr>
            <a:r>
              <a:rPr lang="en-US" sz="1250" b="0" u="none" strike="noStrike">
                <a:solidFill>
                  <a:srgbClr val="475569"/>
                </a:solidFill>
                <a:effectLst/>
                <a:uFillTx/>
                <a:latin typeface="Aptos"/>
              </a:rPr>
              <a:t>et le travail d'équipe</a:t>
            </a:r>
            <a:endParaRPr lang="fr-FR" sz="1250" b="0" u="none" strike="noStrike">
              <a:solidFill>
                <a:srgbClr val="000000"/>
              </a:solidFill>
              <a:effectLst/>
              <a:uFillTx/>
              <a:latin typeface="Arial"/>
            </a:endParaRPr>
          </a:p>
        </p:txBody>
      </p:sp>
      <p:sp>
        <p:nvSpPr>
          <p:cNvPr id="151" name="Shape 40"/>
          <p:cNvSpPr/>
          <p:nvPr/>
        </p:nvSpPr>
        <p:spPr>
          <a:xfrm>
            <a:off x="777240" y="4709160"/>
            <a:ext cx="10972080" cy="1005120"/>
          </a:xfrm>
          <a:prstGeom prst="roundRect">
            <a:avLst>
              <a:gd name="adj" fmla="val 7273"/>
            </a:avLst>
          </a:prstGeom>
          <a:solidFill>
            <a:srgbClr val="eef2ff"/>
          </a:solidFill>
          <a:ln w="12700">
            <a:solidFill>
              <a:srgbClr val="c7d2fe"/>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152" name="Text 41"/>
          <p:cNvSpPr/>
          <p:nvPr/>
        </p:nvSpPr>
        <p:spPr>
          <a:xfrm>
            <a:off x="1005840" y="5010840"/>
            <a:ext cx="10469160" cy="3193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600" b="0" u="none" strike="noStrike">
                <a:solidFill>
                  <a:srgbClr val="312e81"/>
                </a:solidFill>
                <a:effectLst/>
                <a:uFillTx/>
                <a:latin typeface="Aptos"/>
              </a:rPr>
              <a:t>Point fort du projet : les scripts, les données et le texte oral sont centralisés dans un même dépôt GitHub, ce qui facilite le suivi des modifications et la répartition du travail, ce qui nous donne une meilleure alchimie pour un travail de groupe.</a:t>
            </a:r>
            <a:endParaRPr lang="fr-FR" sz="1600" b="0" u="none" strike="noStrike">
              <a:solidFill>
                <a:srgbClr val="000000"/>
              </a:solidFill>
              <a:effectLst/>
              <a:uFillTx/>
              <a:latin typeface="Arial"/>
            </a:endParaRPr>
          </a:p>
        </p:txBody>
      </p:sp>
      <p:sp>
        <p:nvSpPr>
          <p:cNvPr id="153" name="Text 42"/>
          <p:cNvSpPr/>
          <p:nvPr/>
        </p:nvSpPr>
        <p:spPr>
          <a:xfrm>
            <a:off x="548640" y="6519600"/>
            <a:ext cx="3839760" cy="1364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800" b="0" u="none" strike="noStrike">
                <a:solidFill>
                  <a:srgbClr val="94a3b8"/>
                </a:solidFill>
                <a:effectLst/>
                <a:uFillTx/>
                <a:latin typeface="Aptos"/>
              </a:rPr>
              <a:t>SAE 2.04 - Exploitation d'une base de données</a:t>
            </a:r>
            <a:endParaRPr lang="fr-FR" sz="800" b="0" u="none" strike="noStrike">
              <a:solidFill>
                <a:srgbClr val="000000"/>
              </a:solidFill>
              <a:effectLst/>
              <a:uFillTx/>
              <a:latin typeface="Arial"/>
            </a:endParaRPr>
          </a:p>
        </p:txBody>
      </p:sp>
      <p:sp>
        <p:nvSpPr>
          <p:cNvPr id="154" name="Text 43"/>
          <p:cNvSpPr/>
          <p:nvPr/>
        </p:nvSpPr>
        <p:spPr>
          <a:xfrm>
            <a:off x="10424160" y="6519600"/>
            <a:ext cx="1188000" cy="13644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lang="en-US" sz="800" b="0" u="none" strike="noStrike">
                <a:solidFill>
                  <a:srgbClr val="94a3b8"/>
                </a:solidFill>
                <a:effectLst/>
                <a:uFillTx/>
                <a:latin typeface="Aptos"/>
              </a:rPr>
              <a:t>Métro parisien</a:t>
            </a:r>
            <a:endParaRPr lang="fr-FR"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c"/>
        </a:solidFill>
      </p:bgPr>
    </p:bg>
    <p:spTree>
      <p:nvGrpSpPr>
        <p:cNvPr id="1" name=""/>
        <p:cNvGrpSpPr/>
        <p:nvPr/>
      </p:nvGrpSpPr>
      <p:grpSpPr>
        <a:xfrm>
          <a:off x="0" y="0"/>
          <a:ext cx="0" cy="0"/>
          <a:chOff x="0" y="0"/>
          <a:chExt cx="0" cy="0"/>
        </a:xfrm>
      </p:grpSpPr>
      <p:sp>
        <p:nvSpPr>
          <p:cNvPr id="155" name="Shape 0"/>
          <p:cNvSpPr/>
          <p:nvPr/>
        </p:nvSpPr>
        <p:spPr>
          <a:xfrm>
            <a:off x="0" y="0"/>
            <a:ext cx="12191040" cy="163800"/>
          </a:xfrm>
          <a:prstGeom prst="rect">
            <a:avLst/>
          </a:prstGeom>
          <a:solidFill>
            <a:srgbClr val="1d4ed8"/>
          </a:solidFill>
          <a:ln w="12700">
            <a:solidFill>
              <a:srgbClr val="1d4ed8"/>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156" name="Text 1"/>
          <p:cNvSpPr/>
          <p:nvPr/>
        </p:nvSpPr>
        <p:spPr>
          <a:xfrm>
            <a:off x="548640" y="347400"/>
            <a:ext cx="8046000" cy="4107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2600" b="1" u="none" strike="noStrike">
                <a:solidFill>
                  <a:srgbClr val="111827"/>
                </a:solidFill>
                <a:effectLst/>
                <a:uFillTx/>
                <a:latin typeface="Aptos Display"/>
                <a:ea typeface="Aptos Display"/>
              </a:rPr>
              <a:t>Modèle logique de données</a:t>
            </a:r>
            <a:endParaRPr lang="fr-FR" sz="2600" b="0" u="none" strike="noStrike">
              <a:solidFill>
                <a:srgbClr val="000000"/>
              </a:solidFill>
              <a:effectLst/>
              <a:uFillTx/>
              <a:latin typeface="Arial"/>
            </a:endParaRPr>
          </a:p>
        </p:txBody>
      </p:sp>
      <p:sp>
        <p:nvSpPr>
          <p:cNvPr id="157" name="Text 2"/>
          <p:cNvSpPr/>
          <p:nvPr/>
        </p:nvSpPr>
        <p:spPr>
          <a:xfrm>
            <a:off x="548640" y="768240"/>
            <a:ext cx="7863120" cy="255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050" b="0" u="none" strike="noStrike">
                <a:solidFill>
                  <a:srgbClr val="64748b"/>
                </a:solidFill>
                <a:effectLst/>
                <a:uFillTx/>
                <a:latin typeface="Aptos"/>
                <a:ea typeface="Aptos"/>
              </a:rPr>
              <a:t>Le schéma relationnel structure le réseau autour des lignes, stations, trajets et passages.</a:t>
            </a:r>
            <a:endParaRPr lang="fr-FR" sz="1050" b="0" u="none" strike="noStrike">
              <a:solidFill>
                <a:srgbClr val="000000"/>
              </a:solidFill>
              <a:effectLst/>
              <a:uFillTx/>
              <a:latin typeface="Arial"/>
            </a:endParaRPr>
          </a:p>
        </p:txBody>
      </p:sp>
      <p:sp>
        <p:nvSpPr>
          <p:cNvPr id="158" name="Shape 3"/>
          <p:cNvSpPr/>
          <p:nvPr/>
        </p:nvSpPr>
        <p:spPr>
          <a:xfrm>
            <a:off x="548640" y="1051560"/>
            <a:ext cx="11064240" cy="360"/>
          </a:xfrm>
          <a:prstGeom prst="line">
            <a:avLst/>
          </a:prstGeom>
          <a:ln w="12700">
            <a:solidFill>
              <a:srgbClr val="cbd5e1"/>
            </a:solidFill>
            <a:round/>
          </a:ln>
        </p:spPr>
        <p:style>
          <a:lnRef idx="0"/>
          <a:fillRef idx="0"/>
          <a:effectRef idx="0"/>
          <a:fontRef idx="minor"/>
        </p:style>
        <p:txBody>
          <a:bodyPr lIns="90000" rIns="90000" tIns="-44640" bIns="-44640" anchor="t" anchorCtr="1">
            <a:noAutofit/>
          </a:bodyPr>
          <a:p>
            <a:endParaRPr lang="fr-FR" sz="1800" b="0" u="none" strike="noStrike">
              <a:solidFill>
                <a:srgbClr val="000000"/>
              </a:solidFill>
              <a:effectLst/>
              <a:uFillTx/>
              <a:latin typeface="Arial"/>
            </a:endParaRPr>
          </a:p>
        </p:txBody>
      </p:sp>
      <p:sp>
        <p:nvSpPr>
          <p:cNvPr id="159" name="Shape 4"/>
          <p:cNvSpPr/>
          <p:nvPr/>
        </p:nvSpPr>
        <p:spPr>
          <a:xfrm>
            <a:off x="594360" y="1325880"/>
            <a:ext cx="7405920" cy="4982760"/>
          </a:xfrm>
          <a:prstGeom prst="roundRect">
            <a:avLst>
              <a:gd name="adj" fmla="val 1468"/>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pic>
        <p:nvPicPr>
          <p:cNvPr id="160" name="Image 0" descr="/mnt/data/schemaMetro_repo.png"/>
          <p:cNvPicPr/>
          <p:nvPr/>
        </p:nvPicPr>
        <p:blipFill>
          <a:blip r:embed="rId1"/>
          <a:stretch/>
        </p:blipFill>
        <p:spPr>
          <a:xfrm>
            <a:off x="841320" y="1651680"/>
            <a:ext cx="6903000" cy="4285440"/>
          </a:xfrm>
          <a:prstGeom prst="rect">
            <a:avLst/>
          </a:prstGeom>
          <a:noFill/>
          <a:ln w="0">
            <a:noFill/>
          </a:ln>
        </p:spPr>
      </p:pic>
      <p:sp>
        <p:nvSpPr>
          <p:cNvPr id="161" name="Shape 5"/>
          <p:cNvSpPr/>
          <p:nvPr/>
        </p:nvSpPr>
        <p:spPr>
          <a:xfrm>
            <a:off x="8229600" y="1289880"/>
            <a:ext cx="3291120" cy="2102400"/>
          </a:xfrm>
          <a:prstGeom prst="roundRect">
            <a:avLst>
              <a:gd name="adj" fmla="val 3478"/>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162" name="Text 6"/>
          <p:cNvSpPr/>
          <p:nvPr/>
        </p:nvSpPr>
        <p:spPr>
          <a:xfrm>
            <a:off x="8377560" y="1528200"/>
            <a:ext cx="303516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800" b="1" u="none" strike="noStrike">
                <a:solidFill>
                  <a:srgbClr val="111827"/>
                </a:solidFill>
                <a:effectLst/>
                <a:uFillTx/>
                <a:latin typeface="Aptos"/>
              </a:rPr>
              <a:t>Tables principales</a:t>
            </a:r>
            <a:endParaRPr lang="fr-FR" sz="1800" b="0" u="none" strike="noStrike">
              <a:solidFill>
                <a:srgbClr val="000000"/>
              </a:solidFill>
              <a:effectLst/>
              <a:uFillTx/>
              <a:latin typeface="Arial"/>
            </a:endParaRPr>
          </a:p>
        </p:txBody>
      </p:sp>
      <p:sp>
        <p:nvSpPr>
          <p:cNvPr id="163" name="Shape 7"/>
          <p:cNvSpPr/>
          <p:nvPr/>
        </p:nvSpPr>
        <p:spPr>
          <a:xfrm>
            <a:off x="8485560" y="202068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164" name="Text 8"/>
          <p:cNvSpPr/>
          <p:nvPr/>
        </p:nvSpPr>
        <p:spPr>
          <a:xfrm>
            <a:off x="8650080" y="1947600"/>
            <a:ext cx="255960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430" b="0" u="none" strike="noStrike">
                <a:solidFill>
                  <a:srgbClr val="374151"/>
                </a:solidFill>
                <a:effectLst/>
                <a:uFillTx/>
                <a:latin typeface="Aptos"/>
              </a:rPr>
              <a:t>ligne</a:t>
            </a:r>
            <a:endParaRPr lang="fr-FR" sz="1430" b="0" u="none" strike="noStrike">
              <a:solidFill>
                <a:srgbClr val="000000"/>
              </a:solidFill>
              <a:effectLst/>
              <a:uFillTx/>
              <a:latin typeface="Arial"/>
            </a:endParaRPr>
          </a:p>
        </p:txBody>
      </p:sp>
      <p:sp>
        <p:nvSpPr>
          <p:cNvPr id="165" name="Shape 9"/>
          <p:cNvSpPr/>
          <p:nvPr/>
        </p:nvSpPr>
        <p:spPr>
          <a:xfrm>
            <a:off x="8485560" y="232272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166" name="Text 10"/>
          <p:cNvSpPr/>
          <p:nvPr/>
        </p:nvSpPr>
        <p:spPr>
          <a:xfrm>
            <a:off x="8650080" y="2249280"/>
            <a:ext cx="255960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430" b="0" u="none" strike="noStrike">
                <a:solidFill>
                  <a:srgbClr val="374151"/>
                </a:solidFill>
                <a:effectLst/>
                <a:uFillTx/>
                <a:latin typeface="Aptos"/>
              </a:rPr>
              <a:t>station</a:t>
            </a:r>
            <a:endParaRPr lang="fr-FR" sz="1430" b="0" u="none" strike="noStrike">
              <a:solidFill>
                <a:srgbClr val="000000"/>
              </a:solidFill>
              <a:effectLst/>
              <a:uFillTx/>
              <a:latin typeface="Arial"/>
            </a:endParaRPr>
          </a:p>
        </p:txBody>
      </p:sp>
      <p:sp>
        <p:nvSpPr>
          <p:cNvPr id="167" name="Shape 11"/>
          <p:cNvSpPr/>
          <p:nvPr/>
        </p:nvSpPr>
        <p:spPr>
          <a:xfrm>
            <a:off x="8485560" y="262440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168" name="Text 12"/>
          <p:cNvSpPr/>
          <p:nvPr/>
        </p:nvSpPr>
        <p:spPr>
          <a:xfrm>
            <a:off x="8650080" y="2551320"/>
            <a:ext cx="255960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430" b="0" u="none" strike="noStrike">
                <a:solidFill>
                  <a:srgbClr val="374151"/>
                </a:solidFill>
                <a:effectLst/>
                <a:uFillTx/>
                <a:latin typeface="Aptos"/>
              </a:rPr>
              <a:t>trajet</a:t>
            </a:r>
            <a:endParaRPr lang="fr-FR" sz="1430" b="0" u="none" strike="noStrike">
              <a:solidFill>
                <a:srgbClr val="000000"/>
              </a:solidFill>
              <a:effectLst/>
              <a:uFillTx/>
              <a:latin typeface="Arial"/>
            </a:endParaRPr>
          </a:p>
        </p:txBody>
      </p:sp>
      <p:sp>
        <p:nvSpPr>
          <p:cNvPr id="169" name="Shape 13"/>
          <p:cNvSpPr/>
          <p:nvPr/>
        </p:nvSpPr>
        <p:spPr>
          <a:xfrm>
            <a:off x="8485560" y="292608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170" name="Text 14"/>
          <p:cNvSpPr/>
          <p:nvPr/>
        </p:nvSpPr>
        <p:spPr>
          <a:xfrm>
            <a:off x="8650080" y="2853000"/>
            <a:ext cx="255960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430" b="0" u="none" strike="noStrike">
                <a:solidFill>
                  <a:srgbClr val="374151"/>
                </a:solidFill>
                <a:effectLst/>
                <a:uFillTx/>
                <a:latin typeface="Aptos"/>
              </a:rPr>
              <a:t>passage</a:t>
            </a:r>
            <a:endParaRPr lang="fr-FR" sz="1430" b="0" u="none" strike="noStrike">
              <a:solidFill>
                <a:srgbClr val="000000"/>
              </a:solidFill>
              <a:effectLst/>
              <a:uFillTx/>
              <a:latin typeface="Arial"/>
            </a:endParaRPr>
          </a:p>
        </p:txBody>
      </p:sp>
      <p:sp>
        <p:nvSpPr>
          <p:cNvPr id="171" name="Shape 15"/>
          <p:cNvSpPr/>
          <p:nvPr/>
        </p:nvSpPr>
        <p:spPr>
          <a:xfrm>
            <a:off x="8485560" y="322776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172" name="Text 16"/>
          <p:cNvSpPr/>
          <p:nvPr/>
        </p:nvSpPr>
        <p:spPr>
          <a:xfrm>
            <a:off x="8650080" y="3154680"/>
            <a:ext cx="255960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430" b="0" u="none" strike="noStrike">
                <a:solidFill>
                  <a:srgbClr val="374151"/>
                </a:solidFill>
                <a:effectLst/>
                <a:uFillTx/>
                <a:latin typeface="Aptos"/>
              </a:rPr>
              <a:t>dessert (association)</a:t>
            </a:r>
            <a:endParaRPr lang="fr-FR" sz="1430" b="0" u="none" strike="noStrike">
              <a:solidFill>
                <a:srgbClr val="000000"/>
              </a:solidFill>
              <a:effectLst/>
              <a:uFillTx/>
              <a:latin typeface="Arial"/>
            </a:endParaRPr>
          </a:p>
        </p:txBody>
      </p:sp>
      <p:sp>
        <p:nvSpPr>
          <p:cNvPr id="173" name="Shape 17"/>
          <p:cNvSpPr/>
          <p:nvPr/>
        </p:nvSpPr>
        <p:spPr>
          <a:xfrm>
            <a:off x="8229600" y="3428640"/>
            <a:ext cx="3291120" cy="3051000"/>
          </a:xfrm>
          <a:prstGeom prst="roundRect">
            <a:avLst>
              <a:gd name="adj" fmla="val 2807"/>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174" name="Text 18"/>
          <p:cNvSpPr/>
          <p:nvPr/>
        </p:nvSpPr>
        <p:spPr>
          <a:xfrm>
            <a:off x="8413560" y="3653640"/>
            <a:ext cx="219384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800" b="1" u="none" strike="noStrike">
                <a:solidFill>
                  <a:srgbClr val="111827"/>
                </a:solidFill>
                <a:effectLst/>
                <a:uFillTx/>
                <a:latin typeface="Aptos"/>
              </a:rPr>
              <a:t>Idée de modélisation</a:t>
            </a:r>
            <a:endParaRPr lang="fr-FR" sz="1800" b="0" u="none" strike="noStrike">
              <a:solidFill>
                <a:srgbClr val="000000"/>
              </a:solidFill>
              <a:effectLst/>
              <a:uFillTx/>
              <a:latin typeface="Arial"/>
            </a:endParaRPr>
          </a:p>
        </p:txBody>
      </p:sp>
      <p:sp>
        <p:nvSpPr>
          <p:cNvPr id="175" name="Text 19"/>
          <p:cNvSpPr/>
          <p:nvPr/>
        </p:nvSpPr>
        <p:spPr>
          <a:xfrm>
            <a:off x="8629560" y="4820040"/>
            <a:ext cx="2705760" cy="1370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spcBef>
                <a:spcPts val="1191"/>
              </a:spcBef>
              <a:spcAft>
                <a:spcPts val="992"/>
              </a:spcAft>
              <a:tabLst>
                <a:tab algn="l" pos="0"/>
              </a:tabLst>
            </a:pPr>
            <a:r>
              <a:rPr lang="en-US" sz="1450" b="0" u="none" strike="noStrike">
                <a:solidFill>
                  <a:srgbClr val="374151"/>
                </a:solidFill>
                <a:effectLst/>
                <a:uFillTx/>
                <a:latin typeface="Aptos"/>
              </a:rPr>
              <a:t>Chaque trajet appartient à une ligne </a:t>
            </a:r>
            <a:endParaRPr lang="fr-FR" sz="1450" b="0" u="none" strike="noStrike">
              <a:solidFill>
                <a:srgbClr val="000000"/>
              </a:solidFill>
              <a:effectLst/>
              <a:uFillTx/>
              <a:latin typeface="Arial"/>
            </a:endParaRPr>
          </a:p>
          <a:p>
            <a:pPr defTabSz="914400">
              <a:lnSpc>
                <a:spcPct val="100000"/>
              </a:lnSpc>
              <a:spcBef>
                <a:spcPts val="1191"/>
              </a:spcBef>
              <a:spcAft>
                <a:spcPts val="992"/>
              </a:spcAft>
              <a:tabLst>
                <a:tab algn="l" pos="0"/>
              </a:tabLst>
            </a:pPr>
            <a:r>
              <a:rPr lang="en-US" sz="1450" b="0" u="none" strike="noStrike">
                <a:solidFill>
                  <a:srgbClr val="374151"/>
                </a:solidFill>
                <a:effectLst/>
                <a:uFillTx/>
                <a:latin typeface="Aptos"/>
              </a:rPr>
              <a:t>Chaque passage relie un trajet à une station, avec un ordre et une heure </a:t>
            </a:r>
            <a:endParaRPr lang="fr-FR" sz="1450" b="0" u="none" strike="noStrike">
              <a:solidFill>
                <a:srgbClr val="000000"/>
              </a:solidFill>
              <a:effectLst/>
              <a:uFillTx/>
              <a:latin typeface="Arial"/>
            </a:endParaRPr>
          </a:p>
          <a:p>
            <a:pPr defTabSz="914400">
              <a:lnSpc>
                <a:spcPct val="100000"/>
              </a:lnSpc>
              <a:spcBef>
                <a:spcPts val="1191"/>
              </a:spcBef>
              <a:spcAft>
                <a:spcPts val="992"/>
              </a:spcAft>
              <a:tabLst>
                <a:tab algn="l" pos="0"/>
              </a:tabLst>
            </a:pPr>
            <a:r>
              <a:rPr lang="en-US" sz="1450" b="0" u="none" strike="noStrike">
                <a:solidFill>
                  <a:srgbClr val="374151"/>
                </a:solidFill>
                <a:effectLst/>
                <a:uFillTx/>
                <a:latin typeface="Aptos"/>
              </a:rPr>
              <a:t>La table dessert relie les lignes aux stations desservies</a:t>
            </a:r>
            <a:endParaRPr lang="fr-FR" sz="1450" b="0" u="none" strike="noStrike">
              <a:solidFill>
                <a:srgbClr val="000000"/>
              </a:solidFill>
              <a:effectLst/>
              <a:uFillTx/>
              <a:latin typeface="Arial"/>
            </a:endParaRPr>
          </a:p>
          <a:p>
            <a:pPr defTabSz="914400">
              <a:lnSpc>
                <a:spcPct val="100000"/>
              </a:lnSpc>
              <a:spcBef>
                <a:spcPts val="1191"/>
              </a:spcBef>
              <a:spcAft>
                <a:spcPts val="992"/>
              </a:spcAft>
              <a:tabLst>
                <a:tab algn="l" pos="0"/>
              </a:tabLst>
            </a:pPr>
            <a:endParaRPr lang="fr-FR" sz="1450" b="0" u="none" strike="noStrike">
              <a:solidFill>
                <a:srgbClr val="000000"/>
              </a:solidFill>
              <a:effectLst/>
              <a:uFillTx/>
              <a:latin typeface="Arial"/>
            </a:endParaRPr>
          </a:p>
        </p:txBody>
      </p:sp>
      <p:sp>
        <p:nvSpPr>
          <p:cNvPr id="176" name="Text 20"/>
          <p:cNvSpPr/>
          <p:nvPr/>
        </p:nvSpPr>
        <p:spPr>
          <a:xfrm>
            <a:off x="548640" y="6519600"/>
            <a:ext cx="3839760" cy="1364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800" b="0" u="none" strike="noStrike">
                <a:solidFill>
                  <a:srgbClr val="94a3b8"/>
                </a:solidFill>
                <a:effectLst/>
                <a:uFillTx/>
                <a:latin typeface="Aptos"/>
              </a:rPr>
              <a:t>SAE 2.04 - Exploitation d'une base de données</a:t>
            </a:r>
            <a:endParaRPr lang="fr-FR" sz="800" b="0" u="none" strike="noStrike">
              <a:solidFill>
                <a:srgbClr val="000000"/>
              </a:solidFill>
              <a:effectLst/>
              <a:uFillTx/>
              <a:latin typeface="Arial"/>
            </a:endParaRPr>
          </a:p>
        </p:txBody>
      </p:sp>
      <p:sp>
        <p:nvSpPr>
          <p:cNvPr id="177" name="Text 21"/>
          <p:cNvSpPr/>
          <p:nvPr/>
        </p:nvSpPr>
        <p:spPr>
          <a:xfrm>
            <a:off x="10424160" y="6519600"/>
            <a:ext cx="1188000" cy="13644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lang="en-US" sz="800" b="0" u="none" strike="noStrike">
                <a:solidFill>
                  <a:srgbClr val="94a3b8"/>
                </a:solidFill>
                <a:effectLst/>
                <a:uFillTx/>
                <a:latin typeface="Aptos"/>
              </a:rPr>
              <a:t>Métro parisien</a:t>
            </a:r>
            <a:endParaRPr lang="fr-FR" sz="800" b="0" u="none" strike="noStrike">
              <a:solidFill>
                <a:srgbClr val="000000"/>
              </a:solidFill>
              <a:effectLst/>
              <a:uFillTx/>
              <a:latin typeface="Arial"/>
            </a:endParaRPr>
          </a:p>
        </p:txBody>
      </p:sp>
      <p:sp>
        <p:nvSpPr>
          <p:cNvPr id="178" name="Shape 34"/>
          <p:cNvSpPr/>
          <p:nvPr/>
        </p:nvSpPr>
        <p:spPr>
          <a:xfrm>
            <a:off x="8485920" y="418104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179" name="Shape 50"/>
          <p:cNvSpPr/>
          <p:nvPr/>
        </p:nvSpPr>
        <p:spPr>
          <a:xfrm>
            <a:off x="8485920" y="490104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180" name="Shape 52"/>
          <p:cNvSpPr/>
          <p:nvPr/>
        </p:nvSpPr>
        <p:spPr>
          <a:xfrm>
            <a:off x="8485920" y="583704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c"/>
        </a:solidFill>
      </p:bgPr>
    </p:bg>
    <p:spTree>
      <p:nvGrpSpPr>
        <p:cNvPr id="1" name=""/>
        <p:cNvGrpSpPr/>
        <p:nvPr/>
      </p:nvGrpSpPr>
      <p:grpSpPr>
        <a:xfrm>
          <a:off x="0" y="0"/>
          <a:ext cx="0" cy="0"/>
          <a:chOff x="0" y="0"/>
          <a:chExt cx="0" cy="0"/>
        </a:xfrm>
      </p:grpSpPr>
      <p:sp>
        <p:nvSpPr>
          <p:cNvPr id="181" name="Shape 0"/>
          <p:cNvSpPr/>
          <p:nvPr/>
        </p:nvSpPr>
        <p:spPr>
          <a:xfrm>
            <a:off x="0" y="0"/>
            <a:ext cx="12191040" cy="163800"/>
          </a:xfrm>
          <a:prstGeom prst="rect">
            <a:avLst/>
          </a:prstGeom>
          <a:solidFill>
            <a:srgbClr val="1d4ed8"/>
          </a:solidFill>
          <a:ln w="12700">
            <a:solidFill>
              <a:srgbClr val="1d4ed8"/>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182" name="Text 1"/>
          <p:cNvSpPr/>
          <p:nvPr/>
        </p:nvSpPr>
        <p:spPr>
          <a:xfrm>
            <a:off x="548640" y="347400"/>
            <a:ext cx="8046000" cy="4107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2600" b="1" u="none" strike="noStrike">
                <a:solidFill>
                  <a:srgbClr val="111827"/>
                </a:solidFill>
                <a:effectLst/>
                <a:uFillTx/>
                <a:latin typeface="Aptos Display"/>
                <a:ea typeface="Aptos Display"/>
              </a:rPr>
              <a:t>Structure des tables</a:t>
            </a:r>
            <a:endParaRPr lang="fr-FR" sz="2600" b="0" u="none" strike="noStrike">
              <a:solidFill>
                <a:srgbClr val="000000"/>
              </a:solidFill>
              <a:effectLst/>
              <a:uFillTx/>
              <a:latin typeface="Arial"/>
            </a:endParaRPr>
          </a:p>
        </p:txBody>
      </p:sp>
      <p:sp>
        <p:nvSpPr>
          <p:cNvPr id="183" name="Text 2"/>
          <p:cNvSpPr/>
          <p:nvPr/>
        </p:nvSpPr>
        <p:spPr>
          <a:xfrm>
            <a:off x="548640" y="768240"/>
            <a:ext cx="7863120" cy="255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050" b="0" u="none" strike="noStrike">
                <a:solidFill>
                  <a:srgbClr val="64748b"/>
                </a:solidFill>
                <a:effectLst/>
                <a:uFillTx/>
                <a:latin typeface="Aptos"/>
                <a:ea typeface="Aptos"/>
              </a:rPr>
              <a:t>Chaque table a une responsabilité claire et évite de mélanger des informations de nature différente.</a:t>
            </a:r>
            <a:endParaRPr lang="fr-FR" sz="1050" b="0" u="none" strike="noStrike">
              <a:solidFill>
                <a:srgbClr val="000000"/>
              </a:solidFill>
              <a:effectLst/>
              <a:uFillTx/>
              <a:latin typeface="Arial"/>
            </a:endParaRPr>
          </a:p>
        </p:txBody>
      </p:sp>
      <p:sp>
        <p:nvSpPr>
          <p:cNvPr id="184" name="Shape 3"/>
          <p:cNvSpPr/>
          <p:nvPr/>
        </p:nvSpPr>
        <p:spPr>
          <a:xfrm>
            <a:off x="548640" y="1051560"/>
            <a:ext cx="11064240" cy="360"/>
          </a:xfrm>
          <a:prstGeom prst="line">
            <a:avLst/>
          </a:prstGeom>
          <a:ln w="12700">
            <a:solidFill>
              <a:srgbClr val="cbd5e1"/>
            </a:solidFill>
            <a:round/>
          </a:ln>
        </p:spPr>
        <p:style>
          <a:lnRef idx="0"/>
          <a:fillRef idx="0"/>
          <a:effectRef idx="0"/>
          <a:fontRef idx="minor"/>
        </p:style>
        <p:txBody>
          <a:bodyPr lIns="90000" rIns="90000" tIns="-44640" bIns="-44640" anchor="t" anchorCtr="1">
            <a:noAutofit/>
          </a:bodyPr>
          <a:p>
            <a:endParaRPr lang="fr-FR" sz="1800" b="0" u="none" strike="noStrike">
              <a:solidFill>
                <a:srgbClr val="000000"/>
              </a:solidFill>
              <a:effectLst/>
              <a:uFillTx/>
              <a:latin typeface="Arial"/>
            </a:endParaRPr>
          </a:p>
        </p:txBody>
      </p:sp>
      <p:sp>
        <p:nvSpPr>
          <p:cNvPr id="185" name="Shape 4"/>
          <p:cNvSpPr/>
          <p:nvPr/>
        </p:nvSpPr>
        <p:spPr>
          <a:xfrm>
            <a:off x="640080" y="1417320"/>
            <a:ext cx="2157120" cy="2056680"/>
          </a:xfrm>
          <a:prstGeom prst="roundRect">
            <a:avLst>
              <a:gd name="adj" fmla="val 3556"/>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186" name="Shape 5"/>
          <p:cNvSpPr/>
          <p:nvPr/>
        </p:nvSpPr>
        <p:spPr>
          <a:xfrm>
            <a:off x="640080" y="1417320"/>
            <a:ext cx="2157120" cy="145440"/>
          </a:xfrm>
          <a:prstGeom prst="rect">
            <a:avLst/>
          </a:prstGeom>
          <a:solidFill>
            <a:srgbClr val="ffbe00"/>
          </a:solidFill>
          <a:ln w="12700">
            <a:solidFill>
              <a:srgbClr val="ffbe00"/>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187" name="Text 6"/>
          <p:cNvSpPr/>
          <p:nvPr/>
        </p:nvSpPr>
        <p:spPr>
          <a:xfrm>
            <a:off x="804600" y="1673280"/>
            <a:ext cx="1828080" cy="2188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800" b="1" u="none" strike="noStrike">
                <a:solidFill>
                  <a:srgbClr val="111827"/>
                </a:solidFill>
                <a:effectLst/>
                <a:uFillTx/>
                <a:latin typeface="Aptos"/>
              </a:rPr>
              <a:t>ligne</a:t>
            </a:r>
            <a:endParaRPr lang="fr-FR" sz="1800" b="0" u="none" strike="noStrike">
              <a:solidFill>
                <a:srgbClr val="000000"/>
              </a:solidFill>
              <a:effectLst/>
              <a:uFillTx/>
              <a:latin typeface="Arial"/>
            </a:endParaRPr>
          </a:p>
        </p:txBody>
      </p:sp>
      <p:sp>
        <p:nvSpPr>
          <p:cNvPr id="188" name="Shape 7"/>
          <p:cNvSpPr/>
          <p:nvPr/>
        </p:nvSpPr>
        <p:spPr>
          <a:xfrm>
            <a:off x="804600" y="2148840"/>
            <a:ext cx="90720" cy="90720"/>
          </a:xfrm>
          <a:prstGeom prst="ellipse">
            <a:avLst/>
          </a:prstGeom>
          <a:solidFill>
            <a:srgbClr val="ffbe00"/>
          </a:solidFill>
          <a:ln w="12700">
            <a:solidFill>
              <a:srgbClr val="ffbe00"/>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000000"/>
              </a:solidFill>
              <a:effectLst/>
              <a:uFillTx/>
              <a:latin typeface="Arial"/>
            </a:endParaRPr>
          </a:p>
        </p:txBody>
      </p:sp>
      <p:sp>
        <p:nvSpPr>
          <p:cNvPr id="189" name="Text 8"/>
          <p:cNvSpPr/>
          <p:nvPr/>
        </p:nvSpPr>
        <p:spPr>
          <a:xfrm>
            <a:off x="969120" y="2075760"/>
            <a:ext cx="182808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ligne_id</a:t>
            </a:r>
            <a:endParaRPr lang="fr-FR" sz="1320" b="0" u="none" strike="noStrike">
              <a:solidFill>
                <a:srgbClr val="000000"/>
              </a:solidFill>
              <a:effectLst/>
              <a:uFillTx/>
              <a:latin typeface="Arial"/>
            </a:endParaRPr>
          </a:p>
        </p:txBody>
      </p:sp>
      <p:sp>
        <p:nvSpPr>
          <p:cNvPr id="190" name="Shape 9"/>
          <p:cNvSpPr/>
          <p:nvPr/>
        </p:nvSpPr>
        <p:spPr>
          <a:xfrm>
            <a:off x="804600" y="2414160"/>
            <a:ext cx="90720" cy="90720"/>
          </a:xfrm>
          <a:prstGeom prst="ellipse">
            <a:avLst/>
          </a:prstGeom>
          <a:solidFill>
            <a:srgbClr val="ffbe00"/>
          </a:solidFill>
          <a:ln w="12700">
            <a:solidFill>
              <a:srgbClr val="ffbe00"/>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000000"/>
              </a:solidFill>
              <a:effectLst/>
              <a:uFillTx/>
              <a:latin typeface="Arial"/>
            </a:endParaRPr>
          </a:p>
        </p:txBody>
      </p:sp>
      <p:sp>
        <p:nvSpPr>
          <p:cNvPr id="191" name="Text 10"/>
          <p:cNvSpPr/>
          <p:nvPr/>
        </p:nvSpPr>
        <p:spPr>
          <a:xfrm>
            <a:off x="969120" y="2340720"/>
            <a:ext cx="182808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numero_ligne</a:t>
            </a:r>
            <a:endParaRPr lang="fr-FR" sz="1320" b="0" u="none" strike="noStrike">
              <a:solidFill>
                <a:srgbClr val="000000"/>
              </a:solidFill>
              <a:effectLst/>
              <a:uFillTx/>
              <a:latin typeface="Arial"/>
            </a:endParaRPr>
          </a:p>
        </p:txBody>
      </p:sp>
      <p:sp>
        <p:nvSpPr>
          <p:cNvPr id="192" name="Shape 11"/>
          <p:cNvSpPr/>
          <p:nvPr/>
        </p:nvSpPr>
        <p:spPr>
          <a:xfrm>
            <a:off x="804600" y="2679120"/>
            <a:ext cx="90720" cy="90720"/>
          </a:xfrm>
          <a:prstGeom prst="ellipse">
            <a:avLst/>
          </a:prstGeom>
          <a:solidFill>
            <a:srgbClr val="ffbe00"/>
          </a:solidFill>
          <a:ln w="12700">
            <a:solidFill>
              <a:srgbClr val="ffbe00"/>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000000"/>
              </a:solidFill>
              <a:effectLst/>
              <a:uFillTx/>
              <a:latin typeface="Arial"/>
            </a:endParaRPr>
          </a:p>
        </p:txBody>
      </p:sp>
      <p:sp>
        <p:nvSpPr>
          <p:cNvPr id="193" name="Text 12"/>
          <p:cNvSpPr/>
          <p:nvPr/>
        </p:nvSpPr>
        <p:spPr>
          <a:xfrm>
            <a:off x="969120" y="2606040"/>
            <a:ext cx="182808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nom_ligne</a:t>
            </a:r>
            <a:endParaRPr lang="fr-FR" sz="1320" b="0" u="none" strike="noStrike">
              <a:solidFill>
                <a:srgbClr val="000000"/>
              </a:solidFill>
              <a:effectLst/>
              <a:uFillTx/>
              <a:latin typeface="Arial"/>
            </a:endParaRPr>
          </a:p>
        </p:txBody>
      </p:sp>
      <p:sp>
        <p:nvSpPr>
          <p:cNvPr id="194" name="Shape 13"/>
          <p:cNvSpPr/>
          <p:nvPr/>
        </p:nvSpPr>
        <p:spPr>
          <a:xfrm>
            <a:off x="804600" y="2944440"/>
            <a:ext cx="90720" cy="90720"/>
          </a:xfrm>
          <a:prstGeom prst="ellipse">
            <a:avLst/>
          </a:prstGeom>
          <a:solidFill>
            <a:srgbClr val="ffbe00"/>
          </a:solidFill>
          <a:ln w="12700">
            <a:solidFill>
              <a:srgbClr val="ffbe00"/>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000000"/>
              </a:solidFill>
              <a:effectLst/>
              <a:uFillTx/>
              <a:latin typeface="Arial"/>
            </a:endParaRPr>
          </a:p>
        </p:txBody>
      </p:sp>
      <p:sp>
        <p:nvSpPr>
          <p:cNvPr id="195" name="Text 14"/>
          <p:cNvSpPr/>
          <p:nvPr/>
        </p:nvSpPr>
        <p:spPr>
          <a:xfrm>
            <a:off x="969120" y="2871360"/>
            <a:ext cx="182808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couleur_hex</a:t>
            </a:r>
            <a:endParaRPr lang="fr-FR" sz="1320" b="0" u="none" strike="noStrike">
              <a:solidFill>
                <a:srgbClr val="000000"/>
              </a:solidFill>
              <a:effectLst/>
              <a:uFillTx/>
              <a:latin typeface="Arial"/>
            </a:endParaRPr>
          </a:p>
        </p:txBody>
      </p:sp>
      <p:sp>
        <p:nvSpPr>
          <p:cNvPr id="196" name="Shape 15"/>
          <p:cNvSpPr/>
          <p:nvPr/>
        </p:nvSpPr>
        <p:spPr>
          <a:xfrm>
            <a:off x="2999160" y="1417320"/>
            <a:ext cx="2157120" cy="2056680"/>
          </a:xfrm>
          <a:prstGeom prst="roundRect">
            <a:avLst>
              <a:gd name="adj" fmla="val 3556"/>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197" name="Shape 16"/>
          <p:cNvSpPr/>
          <p:nvPr/>
        </p:nvSpPr>
        <p:spPr>
          <a:xfrm>
            <a:off x="2999160" y="1417320"/>
            <a:ext cx="2157120" cy="145440"/>
          </a:xfrm>
          <a:prstGeom prst="rect">
            <a:avLst/>
          </a:prstGeom>
          <a:solidFill>
            <a:srgbClr val="003ca6"/>
          </a:solidFill>
          <a:ln w="12700">
            <a:solidFill>
              <a:srgbClr val="003ca6"/>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198" name="Text 17"/>
          <p:cNvSpPr/>
          <p:nvPr/>
        </p:nvSpPr>
        <p:spPr>
          <a:xfrm>
            <a:off x="3163680" y="1673280"/>
            <a:ext cx="1828080" cy="2188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800" b="1" u="none" strike="noStrike">
                <a:solidFill>
                  <a:srgbClr val="111827"/>
                </a:solidFill>
                <a:effectLst/>
                <a:uFillTx/>
                <a:latin typeface="Aptos"/>
              </a:rPr>
              <a:t>station</a:t>
            </a:r>
            <a:endParaRPr lang="fr-FR" sz="1800" b="0" u="none" strike="noStrike">
              <a:solidFill>
                <a:srgbClr val="000000"/>
              </a:solidFill>
              <a:effectLst/>
              <a:uFillTx/>
              <a:latin typeface="Arial"/>
            </a:endParaRPr>
          </a:p>
        </p:txBody>
      </p:sp>
      <p:sp>
        <p:nvSpPr>
          <p:cNvPr id="199" name="Shape 18"/>
          <p:cNvSpPr/>
          <p:nvPr/>
        </p:nvSpPr>
        <p:spPr>
          <a:xfrm>
            <a:off x="3163680" y="2148840"/>
            <a:ext cx="90720" cy="90720"/>
          </a:xfrm>
          <a:prstGeom prst="ellipse">
            <a:avLst/>
          </a:prstGeom>
          <a:solidFill>
            <a:srgbClr val="003ca6"/>
          </a:solidFill>
          <a:ln w="12700">
            <a:solidFill>
              <a:srgbClr val="003ca6"/>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200" name="Text 19"/>
          <p:cNvSpPr/>
          <p:nvPr/>
        </p:nvSpPr>
        <p:spPr>
          <a:xfrm>
            <a:off x="3328560" y="2075760"/>
            <a:ext cx="182808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station_id</a:t>
            </a:r>
            <a:endParaRPr lang="fr-FR" sz="1320" b="0" u="none" strike="noStrike">
              <a:solidFill>
                <a:srgbClr val="000000"/>
              </a:solidFill>
              <a:effectLst/>
              <a:uFillTx/>
              <a:latin typeface="Arial"/>
            </a:endParaRPr>
          </a:p>
        </p:txBody>
      </p:sp>
      <p:sp>
        <p:nvSpPr>
          <p:cNvPr id="201" name="Shape 20"/>
          <p:cNvSpPr/>
          <p:nvPr/>
        </p:nvSpPr>
        <p:spPr>
          <a:xfrm>
            <a:off x="3163680" y="2414160"/>
            <a:ext cx="90720" cy="90720"/>
          </a:xfrm>
          <a:prstGeom prst="ellipse">
            <a:avLst/>
          </a:prstGeom>
          <a:solidFill>
            <a:srgbClr val="003ca6"/>
          </a:solidFill>
          <a:ln w="12700">
            <a:solidFill>
              <a:srgbClr val="003ca6"/>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202" name="Text 21"/>
          <p:cNvSpPr/>
          <p:nvPr/>
        </p:nvSpPr>
        <p:spPr>
          <a:xfrm>
            <a:off x="3328560" y="2340720"/>
            <a:ext cx="182808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nom_station</a:t>
            </a:r>
            <a:endParaRPr lang="fr-FR" sz="1320" b="0" u="none" strike="noStrike">
              <a:solidFill>
                <a:srgbClr val="000000"/>
              </a:solidFill>
              <a:effectLst/>
              <a:uFillTx/>
              <a:latin typeface="Arial"/>
            </a:endParaRPr>
          </a:p>
        </p:txBody>
      </p:sp>
      <p:sp>
        <p:nvSpPr>
          <p:cNvPr id="203" name="Shape 22"/>
          <p:cNvSpPr/>
          <p:nvPr/>
        </p:nvSpPr>
        <p:spPr>
          <a:xfrm>
            <a:off x="3163680" y="2679120"/>
            <a:ext cx="90720" cy="90720"/>
          </a:xfrm>
          <a:prstGeom prst="ellipse">
            <a:avLst/>
          </a:prstGeom>
          <a:solidFill>
            <a:srgbClr val="003ca6"/>
          </a:solidFill>
          <a:ln w="12700">
            <a:solidFill>
              <a:srgbClr val="003ca6"/>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204" name="Text 23"/>
          <p:cNvSpPr/>
          <p:nvPr/>
        </p:nvSpPr>
        <p:spPr>
          <a:xfrm>
            <a:off x="3328560" y="2606040"/>
            <a:ext cx="182808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ville</a:t>
            </a:r>
            <a:endParaRPr lang="fr-FR" sz="1320" b="0" u="none" strike="noStrike">
              <a:solidFill>
                <a:srgbClr val="000000"/>
              </a:solidFill>
              <a:effectLst/>
              <a:uFillTx/>
              <a:latin typeface="Arial"/>
            </a:endParaRPr>
          </a:p>
        </p:txBody>
      </p:sp>
      <p:sp>
        <p:nvSpPr>
          <p:cNvPr id="205" name="Shape 24"/>
          <p:cNvSpPr/>
          <p:nvPr/>
        </p:nvSpPr>
        <p:spPr>
          <a:xfrm>
            <a:off x="3163680" y="2944440"/>
            <a:ext cx="90720" cy="90720"/>
          </a:xfrm>
          <a:prstGeom prst="ellipse">
            <a:avLst/>
          </a:prstGeom>
          <a:solidFill>
            <a:srgbClr val="003ca6"/>
          </a:solidFill>
          <a:ln w="12700">
            <a:solidFill>
              <a:srgbClr val="003ca6"/>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206" name="Text 25"/>
          <p:cNvSpPr/>
          <p:nvPr/>
        </p:nvSpPr>
        <p:spPr>
          <a:xfrm>
            <a:off x="3328560" y="2871360"/>
            <a:ext cx="182808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accessibilite_pmr</a:t>
            </a:r>
            <a:endParaRPr lang="fr-FR" sz="1320" b="0" u="none" strike="noStrike">
              <a:solidFill>
                <a:srgbClr val="000000"/>
              </a:solidFill>
              <a:effectLst/>
              <a:uFillTx/>
              <a:latin typeface="Arial"/>
            </a:endParaRPr>
          </a:p>
        </p:txBody>
      </p:sp>
      <p:sp>
        <p:nvSpPr>
          <p:cNvPr id="207" name="Shape 26"/>
          <p:cNvSpPr/>
          <p:nvPr/>
        </p:nvSpPr>
        <p:spPr>
          <a:xfrm>
            <a:off x="5358240" y="1417320"/>
            <a:ext cx="2157120" cy="2056680"/>
          </a:xfrm>
          <a:prstGeom prst="roundRect">
            <a:avLst>
              <a:gd name="adj" fmla="val 3556"/>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208" name="Shape 27"/>
          <p:cNvSpPr/>
          <p:nvPr/>
        </p:nvSpPr>
        <p:spPr>
          <a:xfrm>
            <a:off x="5358240" y="1417320"/>
            <a:ext cx="2157120" cy="145440"/>
          </a:xfrm>
          <a:prstGeom prst="rect">
            <a:avLst/>
          </a:prstGeom>
          <a:solidFill>
            <a:srgbClr val="cf009e"/>
          </a:solidFill>
          <a:ln w="12700">
            <a:solidFill>
              <a:srgbClr val="cf009e"/>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209" name="Text 28"/>
          <p:cNvSpPr/>
          <p:nvPr/>
        </p:nvSpPr>
        <p:spPr>
          <a:xfrm>
            <a:off x="5523120" y="1673280"/>
            <a:ext cx="1828080" cy="2188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800" b="1" u="none" strike="noStrike">
                <a:solidFill>
                  <a:srgbClr val="111827"/>
                </a:solidFill>
                <a:effectLst/>
                <a:uFillTx/>
                <a:latin typeface="Aptos"/>
              </a:rPr>
              <a:t>trajet</a:t>
            </a:r>
            <a:endParaRPr lang="fr-FR" sz="1800" b="0" u="none" strike="noStrike">
              <a:solidFill>
                <a:srgbClr val="000000"/>
              </a:solidFill>
              <a:effectLst/>
              <a:uFillTx/>
              <a:latin typeface="Arial"/>
            </a:endParaRPr>
          </a:p>
        </p:txBody>
      </p:sp>
      <p:sp>
        <p:nvSpPr>
          <p:cNvPr id="210" name="Shape 29"/>
          <p:cNvSpPr/>
          <p:nvPr/>
        </p:nvSpPr>
        <p:spPr>
          <a:xfrm>
            <a:off x="5523120" y="2148840"/>
            <a:ext cx="90720" cy="90720"/>
          </a:xfrm>
          <a:prstGeom prst="ellipse">
            <a:avLst/>
          </a:prstGeom>
          <a:solidFill>
            <a:srgbClr val="cf009e"/>
          </a:solidFill>
          <a:ln w="12700">
            <a:solidFill>
              <a:srgbClr val="cf009e"/>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211" name="Text 30"/>
          <p:cNvSpPr/>
          <p:nvPr/>
        </p:nvSpPr>
        <p:spPr>
          <a:xfrm>
            <a:off x="5687640" y="2075760"/>
            <a:ext cx="182808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trajet_id</a:t>
            </a:r>
            <a:endParaRPr lang="fr-FR" sz="1320" b="0" u="none" strike="noStrike">
              <a:solidFill>
                <a:srgbClr val="000000"/>
              </a:solidFill>
              <a:effectLst/>
              <a:uFillTx/>
              <a:latin typeface="Arial"/>
            </a:endParaRPr>
          </a:p>
        </p:txBody>
      </p:sp>
      <p:sp>
        <p:nvSpPr>
          <p:cNvPr id="212" name="Shape 31"/>
          <p:cNvSpPr/>
          <p:nvPr/>
        </p:nvSpPr>
        <p:spPr>
          <a:xfrm>
            <a:off x="5523120" y="2414160"/>
            <a:ext cx="90720" cy="90720"/>
          </a:xfrm>
          <a:prstGeom prst="ellipse">
            <a:avLst/>
          </a:prstGeom>
          <a:solidFill>
            <a:srgbClr val="cf009e"/>
          </a:solidFill>
          <a:ln w="12700">
            <a:solidFill>
              <a:srgbClr val="cf009e"/>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213" name="Text 32"/>
          <p:cNvSpPr/>
          <p:nvPr/>
        </p:nvSpPr>
        <p:spPr>
          <a:xfrm>
            <a:off x="5687640" y="2340720"/>
            <a:ext cx="182808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ligne_id</a:t>
            </a:r>
            <a:endParaRPr lang="fr-FR" sz="1320" b="0" u="none" strike="noStrike">
              <a:solidFill>
                <a:srgbClr val="000000"/>
              </a:solidFill>
              <a:effectLst/>
              <a:uFillTx/>
              <a:latin typeface="Arial"/>
            </a:endParaRPr>
          </a:p>
        </p:txBody>
      </p:sp>
      <p:sp>
        <p:nvSpPr>
          <p:cNvPr id="214" name="Shape 33"/>
          <p:cNvSpPr/>
          <p:nvPr/>
        </p:nvSpPr>
        <p:spPr>
          <a:xfrm>
            <a:off x="5523120" y="2679120"/>
            <a:ext cx="90720" cy="90720"/>
          </a:xfrm>
          <a:prstGeom prst="ellipse">
            <a:avLst/>
          </a:prstGeom>
          <a:solidFill>
            <a:srgbClr val="cf009e"/>
          </a:solidFill>
          <a:ln w="12700">
            <a:solidFill>
              <a:srgbClr val="cf009e"/>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215" name="Text 34"/>
          <p:cNvSpPr/>
          <p:nvPr/>
        </p:nvSpPr>
        <p:spPr>
          <a:xfrm>
            <a:off x="5687640" y="2606040"/>
            <a:ext cx="182808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heure_depart</a:t>
            </a:r>
            <a:endParaRPr lang="fr-FR" sz="1320" b="0" u="none" strike="noStrike">
              <a:solidFill>
                <a:srgbClr val="000000"/>
              </a:solidFill>
              <a:effectLst/>
              <a:uFillTx/>
              <a:latin typeface="Arial"/>
            </a:endParaRPr>
          </a:p>
        </p:txBody>
      </p:sp>
      <p:sp>
        <p:nvSpPr>
          <p:cNvPr id="216" name="Shape 35"/>
          <p:cNvSpPr/>
          <p:nvPr/>
        </p:nvSpPr>
        <p:spPr>
          <a:xfrm>
            <a:off x="5523120" y="2944440"/>
            <a:ext cx="90720" cy="90720"/>
          </a:xfrm>
          <a:prstGeom prst="ellipse">
            <a:avLst/>
          </a:prstGeom>
          <a:solidFill>
            <a:srgbClr val="cf009e"/>
          </a:solidFill>
          <a:ln w="12700">
            <a:solidFill>
              <a:srgbClr val="cf009e"/>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217" name="Text 36"/>
          <p:cNvSpPr/>
          <p:nvPr/>
        </p:nvSpPr>
        <p:spPr>
          <a:xfrm>
            <a:off x="5687640" y="2871360"/>
            <a:ext cx="182808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heure_arrivee</a:t>
            </a:r>
            <a:endParaRPr lang="fr-FR" sz="1320" b="0" u="none" strike="noStrike">
              <a:solidFill>
                <a:srgbClr val="000000"/>
              </a:solidFill>
              <a:effectLst/>
              <a:uFillTx/>
              <a:latin typeface="Arial"/>
            </a:endParaRPr>
          </a:p>
        </p:txBody>
      </p:sp>
      <p:sp>
        <p:nvSpPr>
          <p:cNvPr id="218" name="Shape 37"/>
          <p:cNvSpPr/>
          <p:nvPr/>
        </p:nvSpPr>
        <p:spPr>
          <a:xfrm>
            <a:off x="7717680" y="1417320"/>
            <a:ext cx="2157120" cy="2056680"/>
          </a:xfrm>
          <a:prstGeom prst="roundRect">
            <a:avLst>
              <a:gd name="adj" fmla="val 3556"/>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219" name="Shape 38"/>
          <p:cNvSpPr/>
          <p:nvPr/>
        </p:nvSpPr>
        <p:spPr>
          <a:xfrm>
            <a:off x="7717680" y="1417320"/>
            <a:ext cx="2157120" cy="145440"/>
          </a:xfrm>
          <a:prstGeom prst="rect">
            <a:avLst/>
          </a:prstGeom>
          <a:solidFill>
            <a:srgbClr val="10b981"/>
          </a:solidFill>
          <a:ln w="12700">
            <a:solidFill>
              <a:srgbClr val="10b981"/>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220" name="Text 39"/>
          <p:cNvSpPr/>
          <p:nvPr/>
        </p:nvSpPr>
        <p:spPr>
          <a:xfrm>
            <a:off x="7882200" y="1673280"/>
            <a:ext cx="1828080" cy="2188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800" b="1" u="none" strike="noStrike">
                <a:solidFill>
                  <a:srgbClr val="111827"/>
                </a:solidFill>
                <a:effectLst/>
                <a:uFillTx/>
                <a:latin typeface="Aptos"/>
              </a:rPr>
              <a:t>passage</a:t>
            </a:r>
            <a:endParaRPr lang="fr-FR" sz="1800" b="0" u="none" strike="noStrike">
              <a:solidFill>
                <a:srgbClr val="000000"/>
              </a:solidFill>
              <a:effectLst/>
              <a:uFillTx/>
              <a:latin typeface="Arial"/>
            </a:endParaRPr>
          </a:p>
        </p:txBody>
      </p:sp>
      <p:sp>
        <p:nvSpPr>
          <p:cNvPr id="221" name="Shape 40"/>
          <p:cNvSpPr/>
          <p:nvPr/>
        </p:nvSpPr>
        <p:spPr>
          <a:xfrm>
            <a:off x="7882200" y="2148840"/>
            <a:ext cx="90720" cy="90720"/>
          </a:xfrm>
          <a:prstGeom prst="ellipse">
            <a:avLst/>
          </a:prstGeom>
          <a:solidFill>
            <a:srgbClr val="10b981"/>
          </a:solidFill>
          <a:ln w="12700">
            <a:solidFill>
              <a:srgbClr val="10b981"/>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000000"/>
              </a:solidFill>
              <a:effectLst/>
              <a:uFillTx/>
              <a:latin typeface="Arial"/>
            </a:endParaRPr>
          </a:p>
        </p:txBody>
      </p:sp>
      <p:sp>
        <p:nvSpPr>
          <p:cNvPr id="222" name="Text 41"/>
          <p:cNvSpPr/>
          <p:nvPr/>
        </p:nvSpPr>
        <p:spPr>
          <a:xfrm>
            <a:off x="8046720" y="2075760"/>
            <a:ext cx="182808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passage_id</a:t>
            </a:r>
            <a:endParaRPr lang="fr-FR" sz="1320" b="0" u="none" strike="noStrike">
              <a:solidFill>
                <a:srgbClr val="000000"/>
              </a:solidFill>
              <a:effectLst/>
              <a:uFillTx/>
              <a:latin typeface="Arial"/>
            </a:endParaRPr>
          </a:p>
        </p:txBody>
      </p:sp>
      <p:sp>
        <p:nvSpPr>
          <p:cNvPr id="223" name="Shape 42"/>
          <p:cNvSpPr/>
          <p:nvPr/>
        </p:nvSpPr>
        <p:spPr>
          <a:xfrm>
            <a:off x="7882200" y="2414160"/>
            <a:ext cx="90720" cy="90720"/>
          </a:xfrm>
          <a:prstGeom prst="ellipse">
            <a:avLst/>
          </a:prstGeom>
          <a:solidFill>
            <a:srgbClr val="10b981"/>
          </a:solidFill>
          <a:ln w="12700">
            <a:solidFill>
              <a:srgbClr val="10b981"/>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000000"/>
              </a:solidFill>
              <a:effectLst/>
              <a:uFillTx/>
              <a:latin typeface="Arial"/>
            </a:endParaRPr>
          </a:p>
        </p:txBody>
      </p:sp>
      <p:sp>
        <p:nvSpPr>
          <p:cNvPr id="224" name="Text 43"/>
          <p:cNvSpPr/>
          <p:nvPr/>
        </p:nvSpPr>
        <p:spPr>
          <a:xfrm>
            <a:off x="8046720" y="2340720"/>
            <a:ext cx="182808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trajet_id</a:t>
            </a:r>
            <a:endParaRPr lang="fr-FR" sz="1320" b="0" u="none" strike="noStrike">
              <a:solidFill>
                <a:srgbClr val="000000"/>
              </a:solidFill>
              <a:effectLst/>
              <a:uFillTx/>
              <a:latin typeface="Arial"/>
            </a:endParaRPr>
          </a:p>
        </p:txBody>
      </p:sp>
      <p:sp>
        <p:nvSpPr>
          <p:cNvPr id="225" name="Shape 44"/>
          <p:cNvSpPr/>
          <p:nvPr/>
        </p:nvSpPr>
        <p:spPr>
          <a:xfrm>
            <a:off x="7882200" y="2679120"/>
            <a:ext cx="90720" cy="90720"/>
          </a:xfrm>
          <a:prstGeom prst="ellipse">
            <a:avLst/>
          </a:prstGeom>
          <a:solidFill>
            <a:srgbClr val="10b981"/>
          </a:solidFill>
          <a:ln w="12700">
            <a:solidFill>
              <a:srgbClr val="10b981"/>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000000"/>
              </a:solidFill>
              <a:effectLst/>
              <a:uFillTx/>
              <a:latin typeface="Arial"/>
            </a:endParaRPr>
          </a:p>
        </p:txBody>
      </p:sp>
      <p:sp>
        <p:nvSpPr>
          <p:cNvPr id="226" name="Text 45"/>
          <p:cNvSpPr/>
          <p:nvPr/>
        </p:nvSpPr>
        <p:spPr>
          <a:xfrm>
            <a:off x="8046720" y="2606040"/>
            <a:ext cx="182808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station_id</a:t>
            </a:r>
            <a:endParaRPr lang="fr-FR" sz="1320" b="0" u="none" strike="noStrike">
              <a:solidFill>
                <a:srgbClr val="000000"/>
              </a:solidFill>
              <a:effectLst/>
              <a:uFillTx/>
              <a:latin typeface="Arial"/>
            </a:endParaRPr>
          </a:p>
        </p:txBody>
      </p:sp>
      <p:sp>
        <p:nvSpPr>
          <p:cNvPr id="227" name="Shape 46"/>
          <p:cNvSpPr/>
          <p:nvPr/>
        </p:nvSpPr>
        <p:spPr>
          <a:xfrm>
            <a:off x="7882200" y="2944440"/>
            <a:ext cx="90720" cy="90720"/>
          </a:xfrm>
          <a:prstGeom prst="ellipse">
            <a:avLst/>
          </a:prstGeom>
          <a:solidFill>
            <a:srgbClr val="10b981"/>
          </a:solidFill>
          <a:ln w="12700">
            <a:solidFill>
              <a:srgbClr val="10b981"/>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000000"/>
              </a:solidFill>
              <a:effectLst/>
              <a:uFillTx/>
              <a:latin typeface="Arial"/>
            </a:endParaRPr>
          </a:p>
        </p:txBody>
      </p:sp>
      <p:sp>
        <p:nvSpPr>
          <p:cNvPr id="228" name="Text 47"/>
          <p:cNvSpPr/>
          <p:nvPr/>
        </p:nvSpPr>
        <p:spPr>
          <a:xfrm>
            <a:off x="8046720" y="2871360"/>
            <a:ext cx="182808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320" b="0" u="none" strike="noStrike">
                <a:solidFill>
                  <a:srgbClr val="374151"/>
                </a:solidFill>
                <a:effectLst/>
                <a:uFillTx/>
                <a:latin typeface="Aptos"/>
              </a:rPr>
              <a:t>ordre_station</a:t>
            </a:r>
            <a:endParaRPr lang="fr-FR" sz="1320" b="0" u="none" strike="noStrike">
              <a:solidFill>
                <a:srgbClr val="000000"/>
              </a:solidFill>
              <a:effectLst/>
              <a:uFillTx/>
              <a:latin typeface="Arial"/>
            </a:endParaRPr>
          </a:p>
        </p:txBody>
      </p:sp>
      <p:sp>
        <p:nvSpPr>
          <p:cNvPr id="229" name="Shape 48"/>
          <p:cNvSpPr/>
          <p:nvPr/>
        </p:nvSpPr>
        <p:spPr>
          <a:xfrm>
            <a:off x="10076760" y="1417320"/>
            <a:ext cx="1480680" cy="2056680"/>
          </a:xfrm>
          <a:prstGeom prst="roundRect">
            <a:avLst>
              <a:gd name="adj" fmla="val 4938"/>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230" name="Shape 49"/>
          <p:cNvSpPr/>
          <p:nvPr/>
        </p:nvSpPr>
        <p:spPr>
          <a:xfrm>
            <a:off x="10076760" y="1417320"/>
            <a:ext cx="1480680" cy="145440"/>
          </a:xfrm>
          <a:prstGeom prst="rect">
            <a:avLst/>
          </a:prstGeom>
          <a:solidFill>
            <a:srgbClr val="8b5cf6"/>
          </a:solidFill>
          <a:ln w="12700">
            <a:solidFill>
              <a:srgbClr val="8b5cf6"/>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231" name="Text 50"/>
          <p:cNvSpPr/>
          <p:nvPr/>
        </p:nvSpPr>
        <p:spPr>
          <a:xfrm>
            <a:off x="10241280" y="1673280"/>
            <a:ext cx="1151280" cy="2188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800" b="1" u="none" strike="noStrike">
                <a:solidFill>
                  <a:srgbClr val="111827"/>
                </a:solidFill>
                <a:effectLst/>
                <a:uFillTx/>
                <a:latin typeface="Aptos"/>
              </a:rPr>
              <a:t>dessert</a:t>
            </a:r>
            <a:endParaRPr lang="fr-FR" sz="1800" b="0" u="none" strike="noStrike">
              <a:solidFill>
                <a:srgbClr val="000000"/>
              </a:solidFill>
              <a:effectLst/>
              <a:uFillTx/>
              <a:latin typeface="Arial"/>
            </a:endParaRPr>
          </a:p>
        </p:txBody>
      </p:sp>
      <p:sp>
        <p:nvSpPr>
          <p:cNvPr id="232" name="Shape 51"/>
          <p:cNvSpPr/>
          <p:nvPr/>
        </p:nvSpPr>
        <p:spPr>
          <a:xfrm>
            <a:off x="10241280" y="2148840"/>
            <a:ext cx="90720" cy="90720"/>
          </a:xfrm>
          <a:prstGeom prst="ellipse">
            <a:avLst/>
          </a:prstGeom>
          <a:solidFill>
            <a:srgbClr val="8b5cf6"/>
          </a:solidFill>
          <a:ln w="12700">
            <a:solidFill>
              <a:srgbClr val="8b5cf6"/>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233" name="Text 52"/>
          <p:cNvSpPr/>
          <p:nvPr/>
        </p:nvSpPr>
        <p:spPr>
          <a:xfrm>
            <a:off x="10405800" y="2075760"/>
            <a:ext cx="115128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150" b="0" u="none" strike="noStrike">
                <a:solidFill>
                  <a:srgbClr val="374151"/>
                </a:solidFill>
                <a:effectLst/>
                <a:uFillTx/>
                <a:latin typeface="Aptos"/>
              </a:rPr>
              <a:t>ligne_id</a:t>
            </a:r>
            <a:endParaRPr lang="fr-FR" sz="1150" b="0" u="none" strike="noStrike">
              <a:solidFill>
                <a:srgbClr val="000000"/>
              </a:solidFill>
              <a:effectLst/>
              <a:uFillTx/>
              <a:latin typeface="Arial"/>
            </a:endParaRPr>
          </a:p>
        </p:txBody>
      </p:sp>
      <p:sp>
        <p:nvSpPr>
          <p:cNvPr id="234" name="Shape 53"/>
          <p:cNvSpPr/>
          <p:nvPr/>
        </p:nvSpPr>
        <p:spPr>
          <a:xfrm>
            <a:off x="10241280" y="2414160"/>
            <a:ext cx="90720" cy="90720"/>
          </a:xfrm>
          <a:prstGeom prst="ellipse">
            <a:avLst/>
          </a:prstGeom>
          <a:solidFill>
            <a:srgbClr val="8b5cf6"/>
          </a:solidFill>
          <a:ln w="12700">
            <a:solidFill>
              <a:srgbClr val="8b5cf6"/>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235" name="Text 54"/>
          <p:cNvSpPr/>
          <p:nvPr/>
        </p:nvSpPr>
        <p:spPr>
          <a:xfrm>
            <a:off x="10405800" y="2340720"/>
            <a:ext cx="115128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150" b="0" u="none" strike="noStrike">
                <a:solidFill>
                  <a:srgbClr val="374151"/>
                </a:solidFill>
                <a:effectLst/>
                <a:uFillTx/>
                <a:latin typeface="Aptos"/>
              </a:rPr>
              <a:t>station_id</a:t>
            </a:r>
            <a:endParaRPr lang="fr-FR" sz="1150" b="0" u="none" strike="noStrike">
              <a:solidFill>
                <a:srgbClr val="000000"/>
              </a:solidFill>
              <a:effectLst/>
              <a:uFillTx/>
              <a:latin typeface="Arial"/>
            </a:endParaRPr>
          </a:p>
        </p:txBody>
      </p:sp>
      <p:sp>
        <p:nvSpPr>
          <p:cNvPr id="236" name="Shape 55"/>
          <p:cNvSpPr/>
          <p:nvPr/>
        </p:nvSpPr>
        <p:spPr>
          <a:xfrm>
            <a:off x="822960" y="3977640"/>
            <a:ext cx="5439960" cy="1873800"/>
          </a:xfrm>
          <a:prstGeom prst="roundRect">
            <a:avLst>
              <a:gd name="adj" fmla="val 3902"/>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237" name="Text 56"/>
          <p:cNvSpPr/>
          <p:nvPr/>
        </p:nvSpPr>
        <p:spPr>
          <a:xfrm>
            <a:off x="1078920" y="4179960"/>
            <a:ext cx="329112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800" b="1" u="none" strike="noStrike">
                <a:solidFill>
                  <a:srgbClr val="111827"/>
                </a:solidFill>
                <a:effectLst/>
                <a:uFillTx/>
                <a:latin typeface="Aptos"/>
              </a:rPr>
              <a:t>Contraintes mises en avant dans le script</a:t>
            </a:r>
            <a:endParaRPr lang="fr-FR" sz="1800" b="0" u="none" strike="noStrike">
              <a:solidFill>
                <a:srgbClr val="000000"/>
              </a:solidFill>
              <a:effectLst/>
              <a:uFillTx/>
              <a:latin typeface="Arial"/>
            </a:endParaRPr>
          </a:p>
        </p:txBody>
      </p:sp>
      <p:sp>
        <p:nvSpPr>
          <p:cNvPr id="238" name="Shape 57"/>
          <p:cNvSpPr/>
          <p:nvPr/>
        </p:nvSpPr>
        <p:spPr>
          <a:xfrm>
            <a:off x="1078920" y="466344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239" name="Shape 59"/>
          <p:cNvSpPr/>
          <p:nvPr/>
        </p:nvSpPr>
        <p:spPr>
          <a:xfrm>
            <a:off x="1078920" y="496512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240" name="Text 60"/>
          <p:cNvSpPr/>
          <p:nvPr/>
        </p:nvSpPr>
        <p:spPr>
          <a:xfrm>
            <a:off x="1243440" y="4892040"/>
            <a:ext cx="452556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420" b="0" u="none" strike="noStrike">
                <a:solidFill>
                  <a:srgbClr val="374151"/>
                </a:solidFill>
                <a:effectLst/>
                <a:uFillTx/>
                <a:latin typeface="Aptos"/>
              </a:rPr>
              <a:t>Clés étrangères pour relier les entités</a:t>
            </a:r>
            <a:endParaRPr lang="fr-FR" sz="1420" b="0" u="none" strike="noStrike">
              <a:solidFill>
                <a:srgbClr val="000000"/>
              </a:solidFill>
              <a:effectLst/>
              <a:uFillTx/>
              <a:latin typeface="Arial"/>
            </a:endParaRPr>
          </a:p>
        </p:txBody>
      </p:sp>
      <p:sp>
        <p:nvSpPr>
          <p:cNvPr id="241" name="Shape 61"/>
          <p:cNvSpPr/>
          <p:nvPr/>
        </p:nvSpPr>
        <p:spPr>
          <a:xfrm>
            <a:off x="1078920" y="526680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242" name="Text 62"/>
          <p:cNvSpPr/>
          <p:nvPr/>
        </p:nvSpPr>
        <p:spPr>
          <a:xfrm>
            <a:off x="1243440" y="5193720"/>
            <a:ext cx="452556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420" b="0" u="none" strike="noStrike">
                <a:solidFill>
                  <a:srgbClr val="374151"/>
                </a:solidFill>
                <a:effectLst/>
                <a:uFillTx/>
                <a:latin typeface="Aptos"/>
              </a:rPr>
              <a:t>Contraintes CHECK et UNIQUE selon les besoins</a:t>
            </a:r>
            <a:endParaRPr lang="fr-FR" sz="1420" b="0" u="none" strike="noStrike">
              <a:solidFill>
                <a:srgbClr val="000000"/>
              </a:solidFill>
              <a:effectLst/>
              <a:uFillTx/>
              <a:latin typeface="Arial"/>
            </a:endParaRPr>
          </a:p>
        </p:txBody>
      </p:sp>
      <p:sp>
        <p:nvSpPr>
          <p:cNvPr id="243" name="Shape 63"/>
          <p:cNvSpPr/>
          <p:nvPr/>
        </p:nvSpPr>
        <p:spPr>
          <a:xfrm>
            <a:off x="1078920" y="556884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244" name="Text 64"/>
          <p:cNvSpPr/>
          <p:nvPr/>
        </p:nvSpPr>
        <p:spPr>
          <a:xfrm>
            <a:off x="1243440" y="5495400"/>
            <a:ext cx="452556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420" b="0" u="none" strike="noStrike">
                <a:solidFill>
                  <a:srgbClr val="374151"/>
                </a:solidFill>
                <a:effectLst/>
                <a:uFillTx/>
                <a:latin typeface="Aptos"/>
              </a:rPr>
              <a:t>Ordre de passage propre à un trajet</a:t>
            </a:r>
            <a:endParaRPr lang="fr-FR" sz="1420" b="0" u="none" strike="noStrike">
              <a:solidFill>
                <a:srgbClr val="000000"/>
              </a:solidFill>
              <a:effectLst/>
              <a:uFillTx/>
              <a:latin typeface="Arial"/>
            </a:endParaRPr>
          </a:p>
        </p:txBody>
      </p:sp>
      <p:sp>
        <p:nvSpPr>
          <p:cNvPr id="245" name="Shape 65"/>
          <p:cNvSpPr/>
          <p:nvPr/>
        </p:nvSpPr>
        <p:spPr>
          <a:xfrm>
            <a:off x="6473880" y="3977640"/>
            <a:ext cx="4891320" cy="1873800"/>
          </a:xfrm>
          <a:prstGeom prst="roundRect">
            <a:avLst>
              <a:gd name="adj" fmla="val 3902"/>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246" name="Text 66"/>
          <p:cNvSpPr/>
          <p:nvPr/>
        </p:nvSpPr>
        <p:spPr>
          <a:xfrm>
            <a:off x="6748200" y="4251960"/>
            <a:ext cx="265104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800" b="1" u="none" strike="noStrike">
                <a:solidFill>
                  <a:srgbClr val="111827"/>
                </a:solidFill>
                <a:effectLst/>
                <a:uFillTx/>
                <a:latin typeface="Aptos"/>
              </a:rPr>
              <a:t>Pourquoi cette séparation ?</a:t>
            </a:r>
            <a:endParaRPr lang="fr-FR" sz="1800" b="0" u="none" strike="noStrike">
              <a:solidFill>
                <a:srgbClr val="000000"/>
              </a:solidFill>
              <a:effectLst/>
              <a:uFillTx/>
              <a:latin typeface="Arial"/>
            </a:endParaRPr>
          </a:p>
        </p:txBody>
      </p:sp>
      <p:sp>
        <p:nvSpPr>
          <p:cNvPr id="247" name="Text 67"/>
          <p:cNvSpPr/>
          <p:nvPr/>
        </p:nvSpPr>
        <p:spPr>
          <a:xfrm>
            <a:off x="6748200" y="5085720"/>
            <a:ext cx="4251240" cy="6850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spcBef>
                <a:spcPts val="1191"/>
              </a:spcBef>
              <a:spcAft>
                <a:spcPts val="992"/>
              </a:spcAft>
              <a:tabLst>
                <a:tab algn="l" pos="0"/>
              </a:tabLst>
            </a:pPr>
            <a:endParaRPr lang="fr-FR" sz="1800" b="0" u="none" strike="noStrike">
              <a:solidFill>
                <a:srgbClr val="000000"/>
              </a:solidFill>
              <a:effectLst/>
              <a:uFillTx/>
              <a:latin typeface="Arial"/>
            </a:endParaRPr>
          </a:p>
        </p:txBody>
      </p:sp>
      <p:sp>
        <p:nvSpPr>
          <p:cNvPr id="248" name="Text 68"/>
          <p:cNvSpPr/>
          <p:nvPr/>
        </p:nvSpPr>
        <p:spPr>
          <a:xfrm>
            <a:off x="548640" y="6519600"/>
            <a:ext cx="3839760" cy="1364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800" b="0" u="none" strike="noStrike">
                <a:solidFill>
                  <a:srgbClr val="94a3b8"/>
                </a:solidFill>
                <a:effectLst/>
                <a:uFillTx/>
                <a:latin typeface="Aptos"/>
              </a:rPr>
              <a:t>SAE 2.04 - Exploitation d'une base de données</a:t>
            </a:r>
            <a:endParaRPr lang="fr-FR" sz="800" b="0" u="none" strike="noStrike">
              <a:solidFill>
                <a:srgbClr val="000000"/>
              </a:solidFill>
              <a:effectLst/>
              <a:uFillTx/>
              <a:latin typeface="Arial"/>
            </a:endParaRPr>
          </a:p>
        </p:txBody>
      </p:sp>
      <p:sp>
        <p:nvSpPr>
          <p:cNvPr id="249" name="Text 69"/>
          <p:cNvSpPr/>
          <p:nvPr/>
        </p:nvSpPr>
        <p:spPr>
          <a:xfrm>
            <a:off x="10424160" y="6519600"/>
            <a:ext cx="1188000" cy="13644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lang="en-US" sz="800" b="0" u="none" strike="noStrike">
                <a:solidFill>
                  <a:srgbClr val="94a3b8"/>
                </a:solidFill>
                <a:effectLst/>
                <a:uFillTx/>
                <a:latin typeface="Aptos"/>
              </a:rPr>
              <a:t>Métro parisien</a:t>
            </a:r>
            <a:endParaRPr lang="fr-FR" sz="800" b="0" u="none" strike="noStrike">
              <a:solidFill>
                <a:srgbClr val="000000"/>
              </a:solidFill>
              <a:effectLst/>
              <a:uFillTx/>
              <a:latin typeface="Arial"/>
            </a:endParaRPr>
          </a:p>
        </p:txBody>
      </p:sp>
      <p:sp>
        <p:nvSpPr>
          <p:cNvPr id="250" name="Shape 54"/>
          <p:cNvSpPr/>
          <p:nvPr/>
        </p:nvSpPr>
        <p:spPr>
          <a:xfrm>
            <a:off x="6695280" y="477180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251" name="Text 4"/>
          <p:cNvSpPr/>
          <p:nvPr/>
        </p:nvSpPr>
        <p:spPr>
          <a:xfrm>
            <a:off x="1243440" y="4590360"/>
            <a:ext cx="452556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420" b="0" u="none" strike="noStrike">
                <a:solidFill>
                  <a:srgbClr val="374151"/>
                </a:solidFill>
                <a:effectLst/>
                <a:uFillTx/>
                <a:latin typeface="Aptos"/>
              </a:rPr>
              <a:t>Clés primaires sur chaque table</a:t>
            </a:r>
            <a:endParaRPr lang="fr-FR" sz="1420" b="0" u="none" strike="noStrike">
              <a:solidFill>
                <a:srgbClr val="000000"/>
              </a:solidFill>
              <a:effectLst/>
              <a:uFillTx/>
              <a:latin typeface="Arial"/>
            </a:endParaRPr>
          </a:p>
        </p:txBody>
      </p:sp>
      <p:sp>
        <p:nvSpPr>
          <p:cNvPr id="252" name="Text 35"/>
          <p:cNvSpPr/>
          <p:nvPr/>
        </p:nvSpPr>
        <p:spPr>
          <a:xfrm>
            <a:off x="6823440" y="4698360"/>
            <a:ext cx="452556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spcBef>
                <a:spcPts val="1191"/>
              </a:spcBef>
              <a:spcAft>
                <a:spcPts val="992"/>
              </a:spcAft>
              <a:tabLst>
                <a:tab algn="l" pos="0"/>
              </a:tabLst>
            </a:pPr>
            <a:r>
              <a:rPr lang="en-US" sz="1420" b="0" u="none" strike="noStrike">
                <a:solidFill>
                  <a:srgbClr val="374151"/>
                </a:solidFill>
                <a:effectLst/>
                <a:uFillTx/>
                <a:latin typeface="Aptos"/>
              </a:rPr>
              <a:t>Evite la duplication des données</a:t>
            </a:r>
            <a:endParaRPr lang="fr-FR" sz="1420" b="0" u="none" strike="noStrike">
              <a:solidFill>
                <a:srgbClr val="000000"/>
              </a:solidFill>
              <a:effectLst/>
              <a:uFillTx/>
              <a:latin typeface="Arial"/>
            </a:endParaRPr>
          </a:p>
        </p:txBody>
      </p:sp>
      <p:sp>
        <p:nvSpPr>
          <p:cNvPr id="253" name="Shape 56"/>
          <p:cNvSpPr/>
          <p:nvPr/>
        </p:nvSpPr>
        <p:spPr>
          <a:xfrm>
            <a:off x="6695640" y="509616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254" name="Shape 58"/>
          <p:cNvSpPr/>
          <p:nvPr/>
        </p:nvSpPr>
        <p:spPr>
          <a:xfrm>
            <a:off x="6695640" y="542016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255" name="Text 49"/>
          <p:cNvSpPr/>
          <p:nvPr/>
        </p:nvSpPr>
        <p:spPr>
          <a:xfrm>
            <a:off x="6823440" y="5022360"/>
            <a:ext cx="452556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spcBef>
                <a:spcPts val="1191"/>
              </a:spcBef>
              <a:spcAft>
                <a:spcPts val="992"/>
              </a:spcAft>
              <a:tabLst>
                <a:tab algn="l" pos="0"/>
              </a:tabLst>
            </a:pPr>
            <a:r>
              <a:rPr lang="en-US" sz="1500" b="0" u="none" strike="noStrike">
                <a:solidFill>
                  <a:srgbClr val="374151"/>
                </a:solidFill>
                <a:effectLst/>
                <a:uFillTx/>
                <a:latin typeface="Aptos"/>
              </a:rPr>
              <a:t>Facilite les jointures SQL</a:t>
            </a:r>
            <a:endParaRPr lang="fr-FR" sz="1500" b="0" u="none" strike="noStrike">
              <a:solidFill>
                <a:srgbClr val="000000"/>
              </a:solidFill>
              <a:effectLst/>
              <a:uFillTx/>
              <a:latin typeface="Arial"/>
            </a:endParaRPr>
          </a:p>
        </p:txBody>
      </p:sp>
      <p:sp>
        <p:nvSpPr>
          <p:cNvPr id="256" name="Text 51"/>
          <p:cNvSpPr/>
          <p:nvPr/>
        </p:nvSpPr>
        <p:spPr>
          <a:xfrm>
            <a:off x="6823440" y="4698360"/>
            <a:ext cx="452556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spcBef>
                <a:spcPts val="1191"/>
              </a:spcBef>
              <a:spcAft>
                <a:spcPts val="992"/>
              </a:spcAft>
              <a:tabLst>
                <a:tab algn="l" pos="0"/>
              </a:tabLst>
            </a:pPr>
            <a:r>
              <a:rPr lang="en-US" sz="1420" b="0" u="none" strike="noStrike">
                <a:solidFill>
                  <a:srgbClr val="374151"/>
                </a:solidFill>
                <a:effectLst/>
                <a:uFillTx/>
                <a:latin typeface="Aptos"/>
              </a:rPr>
              <a:t>Evite la duplication des données</a:t>
            </a:r>
            <a:endParaRPr lang="fr-FR" sz="1420" b="0" u="none" strike="noStrike">
              <a:solidFill>
                <a:srgbClr val="000000"/>
              </a:solidFill>
              <a:effectLst/>
              <a:uFillTx/>
              <a:latin typeface="Arial"/>
            </a:endParaRPr>
          </a:p>
        </p:txBody>
      </p:sp>
      <p:sp>
        <p:nvSpPr>
          <p:cNvPr id="257" name="Text 53"/>
          <p:cNvSpPr/>
          <p:nvPr/>
        </p:nvSpPr>
        <p:spPr>
          <a:xfrm>
            <a:off x="6823440" y="4698360"/>
            <a:ext cx="452556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spcBef>
                <a:spcPts val="1191"/>
              </a:spcBef>
              <a:spcAft>
                <a:spcPts val="992"/>
              </a:spcAft>
              <a:tabLst>
                <a:tab algn="l" pos="0"/>
              </a:tabLst>
            </a:pPr>
            <a:r>
              <a:rPr lang="en-US" sz="1420" b="0" u="none" strike="noStrike">
                <a:solidFill>
                  <a:srgbClr val="374151"/>
                </a:solidFill>
                <a:effectLst/>
                <a:uFillTx/>
                <a:latin typeface="Aptos"/>
              </a:rPr>
              <a:t>Evite la duplication des données</a:t>
            </a:r>
            <a:endParaRPr lang="fr-FR" sz="1420" b="0" u="none" strike="noStrike">
              <a:solidFill>
                <a:srgbClr val="000000"/>
              </a:solidFill>
              <a:effectLst/>
              <a:uFillTx/>
              <a:latin typeface="Arial"/>
            </a:endParaRPr>
          </a:p>
        </p:txBody>
      </p:sp>
      <p:sp>
        <p:nvSpPr>
          <p:cNvPr id="258" name="Text 55"/>
          <p:cNvSpPr/>
          <p:nvPr/>
        </p:nvSpPr>
        <p:spPr>
          <a:xfrm>
            <a:off x="6823440" y="5454360"/>
            <a:ext cx="452556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spcBef>
                <a:spcPts val="1191"/>
              </a:spcBef>
              <a:spcAft>
                <a:spcPts val="992"/>
              </a:spcAft>
              <a:tabLst>
                <a:tab algn="l" pos="0"/>
              </a:tabLst>
            </a:pPr>
            <a:r>
              <a:rPr lang="en-US" sz="1400" b="0" u="none" strike="noStrike">
                <a:solidFill>
                  <a:srgbClr val="374151"/>
                </a:solidFill>
                <a:effectLst/>
                <a:uFillTx/>
                <a:latin typeface="Aptos"/>
              </a:rPr>
              <a:t>Rend la base plus lisible et plus simple à faire évoluer</a:t>
            </a:r>
            <a:endParaRPr lang="fr-FR"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c"/>
        </a:solidFill>
      </p:bgPr>
    </p:bg>
    <p:spTree>
      <p:nvGrpSpPr>
        <p:cNvPr id="1" name=""/>
        <p:cNvGrpSpPr/>
        <p:nvPr/>
      </p:nvGrpSpPr>
      <p:grpSpPr>
        <a:xfrm>
          <a:off x="0" y="0"/>
          <a:ext cx="0" cy="0"/>
          <a:chOff x="0" y="0"/>
          <a:chExt cx="0" cy="0"/>
        </a:xfrm>
      </p:grpSpPr>
      <p:sp>
        <p:nvSpPr>
          <p:cNvPr id="259" name="Shape 0"/>
          <p:cNvSpPr/>
          <p:nvPr/>
        </p:nvSpPr>
        <p:spPr>
          <a:xfrm>
            <a:off x="0" y="0"/>
            <a:ext cx="12191040" cy="163800"/>
          </a:xfrm>
          <a:prstGeom prst="rect">
            <a:avLst/>
          </a:prstGeom>
          <a:solidFill>
            <a:srgbClr val="1d4ed8"/>
          </a:solidFill>
          <a:ln w="12700">
            <a:solidFill>
              <a:srgbClr val="1d4ed8"/>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260" name="Text 1"/>
          <p:cNvSpPr/>
          <p:nvPr/>
        </p:nvSpPr>
        <p:spPr>
          <a:xfrm>
            <a:off x="548640" y="347400"/>
            <a:ext cx="8046000" cy="4107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2600" b="1" u="none" strike="noStrike">
                <a:solidFill>
                  <a:srgbClr val="111827"/>
                </a:solidFill>
                <a:effectLst/>
                <a:uFillTx/>
                <a:latin typeface="Aptos Display"/>
                <a:ea typeface="Aptos Display"/>
              </a:rPr>
              <a:t>Jeu de données et génération</a:t>
            </a:r>
            <a:endParaRPr lang="fr-FR" sz="2600" b="0" u="none" strike="noStrike">
              <a:solidFill>
                <a:srgbClr val="000000"/>
              </a:solidFill>
              <a:effectLst/>
              <a:uFillTx/>
              <a:latin typeface="Arial"/>
            </a:endParaRPr>
          </a:p>
        </p:txBody>
      </p:sp>
      <p:sp>
        <p:nvSpPr>
          <p:cNvPr id="261" name="Text 2"/>
          <p:cNvSpPr/>
          <p:nvPr/>
        </p:nvSpPr>
        <p:spPr>
          <a:xfrm>
            <a:off x="548640" y="768240"/>
            <a:ext cx="7863120" cy="255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050" b="0" u="none" strike="noStrike">
                <a:solidFill>
                  <a:srgbClr val="64748b"/>
                </a:solidFill>
                <a:effectLst/>
                <a:uFillTx/>
                <a:latin typeface="Aptos"/>
                <a:ea typeface="Aptos"/>
              </a:rPr>
              <a:t>Les données ont été préparées à partir de sources tabulaires puis transformées en inserts SQL.</a:t>
            </a:r>
            <a:endParaRPr lang="fr-FR" sz="1050" b="0" u="none" strike="noStrike">
              <a:solidFill>
                <a:srgbClr val="000000"/>
              </a:solidFill>
              <a:effectLst/>
              <a:uFillTx/>
              <a:latin typeface="Arial"/>
            </a:endParaRPr>
          </a:p>
        </p:txBody>
      </p:sp>
      <p:sp>
        <p:nvSpPr>
          <p:cNvPr id="262" name="Shape 3"/>
          <p:cNvSpPr/>
          <p:nvPr/>
        </p:nvSpPr>
        <p:spPr>
          <a:xfrm>
            <a:off x="548640" y="1051560"/>
            <a:ext cx="11064240" cy="360"/>
          </a:xfrm>
          <a:prstGeom prst="line">
            <a:avLst/>
          </a:prstGeom>
          <a:ln w="12700">
            <a:solidFill>
              <a:srgbClr val="cbd5e1"/>
            </a:solidFill>
            <a:round/>
          </a:ln>
        </p:spPr>
        <p:style>
          <a:lnRef idx="0"/>
          <a:fillRef idx="0"/>
          <a:effectRef idx="0"/>
          <a:fontRef idx="minor"/>
        </p:style>
        <p:txBody>
          <a:bodyPr lIns="90000" rIns="90000" tIns="-44640" bIns="-44640" anchor="t" anchorCtr="1">
            <a:noAutofit/>
          </a:bodyPr>
          <a:p>
            <a:endParaRPr lang="fr-FR" sz="1800" b="0" u="none" strike="noStrike">
              <a:solidFill>
                <a:srgbClr val="000000"/>
              </a:solidFill>
              <a:effectLst/>
              <a:uFillTx/>
              <a:latin typeface="Arial"/>
            </a:endParaRPr>
          </a:p>
        </p:txBody>
      </p:sp>
      <p:sp>
        <p:nvSpPr>
          <p:cNvPr id="263" name="Shape 4"/>
          <p:cNvSpPr/>
          <p:nvPr/>
        </p:nvSpPr>
        <p:spPr>
          <a:xfrm>
            <a:off x="642960" y="1828800"/>
            <a:ext cx="1599480" cy="1416600"/>
          </a:xfrm>
          <a:prstGeom prst="roundRect">
            <a:avLst>
              <a:gd name="adj" fmla="val 5161"/>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264" name="Shape 5"/>
          <p:cNvSpPr/>
          <p:nvPr/>
        </p:nvSpPr>
        <p:spPr>
          <a:xfrm>
            <a:off x="1182960" y="1974960"/>
            <a:ext cx="456480" cy="456480"/>
          </a:xfrm>
          <a:prstGeom prst="ellipse">
            <a:avLst/>
          </a:prstGeom>
          <a:solidFill>
            <a:srgbClr val="1d4ed8"/>
          </a:solidFill>
          <a:ln w="12700">
            <a:solidFill>
              <a:srgbClr val="1d4ed8"/>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265" name="Text 6"/>
          <p:cNvSpPr/>
          <p:nvPr/>
        </p:nvSpPr>
        <p:spPr>
          <a:xfrm>
            <a:off x="698400" y="2532960"/>
            <a:ext cx="1416600" cy="2005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600" b="1" u="none" strike="noStrike">
                <a:solidFill>
                  <a:srgbClr val="111827"/>
                </a:solidFill>
                <a:effectLst/>
                <a:uFillTx/>
                <a:latin typeface="Aptos"/>
              </a:rPr>
              <a:t>CSV</a:t>
            </a:r>
            <a:endParaRPr lang="fr-FR" sz="1600" b="0" u="none" strike="noStrike">
              <a:solidFill>
                <a:srgbClr val="000000"/>
              </a:solidFill>
              <a:effectLst/>
              <a:uFillTx/>
              <a:latin typeface="Arial"/>
            </a:endParaRPr>
          </a:p>
        </p:txBody>
      </p:sp>
      <p:sp>
        <p:nvSpPr>
          <p:cNvPr id="266" name="Text 7"/>
          <p:cNvSpPr/>
          <p:nvPr/>
        </p:nvSpPr>
        <p:spPr>
          <a:xfrm>
            <a:off x="716760" y="2788920"/>
            <a:ext cx="1370880" cy="36504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220" b="0" u="none" strike="noStrike">
                <a:solidFill>
                  <a:srgbClr val="475569"/>
                </a:solidFill>
                <a:effectLst/>
                <a:uFillTx/>
                <a:latin typeface="Aptos"/>
              </a:rPr>
              <a:t>Stations et</a:t>
            </a:r>
            <a:endParaRPr lang="fr-FR" sz="1220" b="0" u="none" strike="noStrike">
              <a:solidFill>
                <a:srgbClr val="000000"/>
              </a:solidFill>
              <a:effectLst/>
              <a:uFillTx/>
              <a:latin typeface="Arial"/>
            </a:endParaRPr>
          </a:p>
          <a:p>
            <a:pPr algn="ctr" defTabSz="914400">
              <a:lnSpc>
                <a:spcPct val="100000"/>
              </a:lnSpc>
              <a:tabLst>
                <a:tab algn="l" pos="0"/>
              </a:tabLst>
            </a:pPr>
            <a:r>
              <a:rPr lang="en-US" sz="1220" b="0" u="none" strike="noStrike">
                <a:solidFill>
                  <a:srgbClr val="475569"/>
                </a:solidFill>
                <a:effectLst/>
                <a:uFillTx/>
                <a:latin typeface="Aptos"/>
              </a:rPr>
              <a:t>références</a:t>
            </a:r>
            <a:endParaRPr lang="fr-FR" sz="1220" b="0" u="none" strike="noStrike">
              <a:solidFill>
                <a:srgbClr val="000000"/>
              </a:solidFill>
              <a:effectLst/>
              <a:uFillTx/>
              <a:latin typeface="Arial"/>
            </a:endParaRPr>
          </a:p>
        </p:txBody>
      </p:sp>
      <p:sp>
        <p:nvSpPr>
          <p:cNvPr id="267" name="Shape 8"/>
          <p:cNvSpPr/>
          <p:nvPr/>
        </p:nvSpPr>
        <p:spPr>
          <a:xfrm>
            <a:off x="2344320" y="2313360"/>
            <a:ext cx="593640" cy="401760"/>
          </a:xfrm>
          <a:prstGeom prst="chevron">
            <a:avLst>
              <a:gd name="adj" fmla="val 50000"/>
            </a:avLst>
          </a:prstGeom>
          <a:solidFill>
            <a:srgbClr val="cbd5e1"/>
          </a:solidFill>
          <a:ln w="12700">
            <a:solidFill>
              <a:srgbClr val="cbd5e1"/>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268" name="Shape 9"/>
          <p:cNvSpPr/>
          <p:nvPr/>
        </p:nvSpPr>
        <p:spPr>
          <a:xfrm>
            <a:off x="3017520" y="1828800"/>
            <a:ext cx="1599480" cy="1416600"/>
          </a:xfrm>
          <a:prstGeom prst="roundRect">
            <a:avLst>
              <a:gd name="adj" fmla="val 5161"/>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269" name="Shape 10"/>
          <p:cNvSpPr/>
          <p:nvPr/>
        </p:nvSpPr>
        <p:spPr>
          <a:xfrm>
            <a:off x="3593520" y="1974960"/>
            <a:ext cx="456480" cy="456480"/>
          </a:xfrm>
          <a:prstGeom prst="ellipse">
            <a:avLst/>
          </a:prstGeom>
          <a:solidFill>
            <a:srgbClr val="8b5cf6"/>
          </a:solidFill>
          <a:ln w="12700">
            <a:solidFill>
              <a:srgbClr val="8b5cf6"/>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270" name="Text 11"/>
          <p:cNvSpPr/>
          <p:nvPr/>
        </p:nvSpPr>
        <p:spPr>
          <a:xfrm>
            <a:off x="3108960" y="2532960"/>
            <a:ext cx="1416600" cy="2005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600" b="1" u="none" strike="noStrike">
                <a:solidFill>
                  <a:srgbClr val="111827"/>
                </a:solidFill>
                <a:effectLst/>
                <a:uFillTx/>
                <a:latin typeface="Aptos"/>
              </a:rPr>
              <a:t>Python</a:t>
            </a:r>
            <a:endParaRPr lang="fr-FR" sz="1600" b="0" u="none" strike="noStrike">
              <a:solidFill>
                <a:srgbClr val="000000"/>
              </a:solidFill>
              <a:effectLst/>
              <a:uFillTx/>
              <a:latin typeface="Arial"/>
            </a:endParaRPr>
          </a:p>
        </p:txBody>
      </p:sp>
      <p:sp>
        <p:nvSpPr>
          <p:cNvPr id="271" name="Text 12"/>
          <p:cNvSpPr/>
          <p:nvPr/>
        </p:nvSpPr>
        <p:spPr>
          <a:xfrm>
            <a:off x="3127320" y="2788920"/>
            <a:ext cx="1370880" cy="36504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220" b="0" u="none" strike="noStrike">
                <a:solidFill>
                  <a:srgbClr val="475569"/>
                </a:solidFill>
                <a:effectLst/>
                <a:uFillTx/>
                <a:latin typeface="Aptos"/>
              </a:rPr>
              <a:t>Nettoyage et</a:t>
            </a:r>
            <a:endParaRPr lang="fr-FR" sz="1220" b="0" u="none" strike="noStrike">
              <a:solidFill>
                <a:srgbClr val="000000"/>
              </a:solidFill>
              <a:effectLst/>
              <a:uFillTx/>
              <a:latin typeface="Arial"/>
            </a:endParaRPr>
          </a:p>
          <a:p>
            <a:pPr algn="ctr" defTabSz="914400">
              <a:lnSpc>
                <a:spcPct val="100000"/>
              </a:lnSpc>
              <a:tabLst>
                <a:tab algn="l" pos="0"/>
              </a:tabLst>
            </a:pPr>
            <a:r>
              <a:rPr lang="en-US" sz="1220" b="0" u="none" strike="noStrike">
                <a:solidFill>
                  <a:srgbClr val="475569"/>
                </a:solidFill>
                <a:effectLst/>
                <a:uFillTx/>
                <a:latin typeface="Aptos"/>
              </a:rPr>
              <a:t>transformation</a:t>
            </a:r>
            <a:endParaRPr lang="fr-FR" sz="1220" b="0" u="none" strike="noStrike">
              <a:solidFill>
                <a:srgbClr val="000000"/>
              </a:solidFill>
              <a:effectLst/>
              <a:uFillTx/>
              <a:latin typeface="Arial"/>
            </a:endParaRPr>
          </a:p>
        </p:txBody>
      </p:sp>
      <p:sp>
        <p:nvSpPr>
          <p:cNvPr id="272" name="Shape 13"/>
          <p:cNvSpPr/>
          <p:nvPr/>
        </p:nvSpPr>
        <p:spPr>
          <a:xfrm>
            <a:off x="4718880" y="2313360"/>
            <a:ext cx="593640" cy="401760"/>
          </a:xfrm>
          <a:prstGeom prst="chevron">
            <a:avLst>
              <a:gd name="adj" fmla="val 50000"/>
            </a:avLst>
          </a:prstGeom>
          <a:solidFill>
            <a:srgbClr val="cbd5e1"/>
          </a:solidFill>
          <a:ln w="12700">
            <a:solidFill>
              <a:srgbClr val="cbd5e1"/>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273" name="Shape 14"/>
          <p:cNvSpPr/>
          <p:nvPr/>
        </p:nvSpPr>
        <p:spPr>
          <a:xfrm>
            <a:off x="5356080" y="1828800"/>
            <a:ext cx="1599480" cy="1416600"/>
          </a:xfrm>
          <a:prstGeom prst="roundRect">
            <a:avLst>
              <a:gd name="adj" fmla="val 5161"/>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274" name="Shape 15"/>
          <p:cNvSpPr/>
          <p:nvPr/>
        </p:nvSpPr>
        <p:spPr>
          <a:xfrm>
            <a:off x="5932080" y="1974960"/>
            <a:ext cx="456480" cy="456480"/>
          </a:xfrm>
          <a:prstGeom prst="ellipse">
            <a:avLst/>
          </a:prstGeom>
          <a:solidFill>
            <a:srgbClr val="10b981"/>
          </a:solidFill>
          <a:ln w="12700">
            <a:solidFill>
              <a:srgbClr val="10b981"/>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275" name="Text 16"/>
          <p:cNvSpPr/>
          <p:nvPr/>
        </p:nvSpPr>
        <p:spPr>
          <a:xfrm>
            <a:off x="5447520" y="2496960"/>
            <a:ext cx="1416600" cy="2005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600" b="1" u="none" strike="noStrike">
                <a:solidFill>
                  <a:srgbClr val="111827"/>
                </a:solidFill>
                <a:effectLst/>
                <a:uFillTx/>
                <a:latin typeface="Aptos"/>
              </a:rPr>
              <a:t>SQL</a:t>
            </a:r>
            <a:endParaRPr lang="fr-FR" sz="1600" b="0" u="none" strike="noStrike">
              <a:solidFill>
                <a:srgbClr val="000000"/>
              </a:solidFill>
              <a:effectLst/>
              <a:uFillTx/>
              <a:latin typeface="Arial"/>
            </a:endParaRPr>
          </a:p>
        </p:txBody>
      </p:sp>
      <p:sp>
        <p:nvSpPr>
          <p:cNvPr id="276" name="Text 17"/>
          <p:cNvSpPr/>
          <p:nvPr/>
        </p:nvSpPr>
        <p:spPr>
          <a:xfrm>
            <a:off x="5465880" y="2788920"/>
            <a:ext cx="1370880" cy="36504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220" b="0" u="none" strike="noStrike">
                <a:solidFill>
                  <a:srgbClr val="475569"/>
                </a:solidFill>
                <a:effectLst/>
                <a:uFillTx/>
                <a:latin typeface="Aptos"/>
              </a:rPr>
              <a:t>INSERT INTO</a:t>
            </a:r>
            <a:endParaRPr lang="fr-FR" sz="1220" b="0" u="none" strike="noStrike">
              <a:solidFill>
                <a:srgbClr val="000000"/>
              </a:solidFill>
              <a:effectLst/>
              <a:uFillTx/>
              <a:latin typeface="Arial"/>
            </a:endParaRPr>
          </a:p>
          <a:p>
            <a:pPr algn="ctr" defTabSz="914400">
              <a:lnSpc>
                <a:spcPct val="100000"/>
              </a:lnSpc>
              <a:tabLst>
                <a:tab algn="l" pos="0"/>
              </a:tabLst>
            </a:pPr>
            <a:r>
              <a:rPr lang="en-US" sz="1220" b="0" u="none" strike="noStrike">
                <a:solidFill>
                  <a:srgbClr val="475569"/>
                </a:solidFill>
                <a:effectLst/>
                <a:uFillTx/>
                <a:latin typeface="Aptos"/>
              </a:rPr>
              <a:t>ligne/station/dessert</a:t>
            </a:r>
            <a:endParaRPr lang="fr-FR" sz="1220" b="0" u="none" strike="noStrike">
              <a:solidFill>
                <a:srgbClr val="000000"/>
              </a:solidFill>
              <a:effectLst/>
              <a:uFillTx/>
              <a:latin typeface="Arial"/>
            </a:endParaRPr>
          </a:p>
        </p:txBody>
      </p:sp>
      <p:sp>
        <p:nvSpPr>
          <p:cNvPr id="277" name="Shape 18"/>
          <p:cNvSpPr/>
          <p:nvPr/>
        </p:nvSpPr>
        <p:spPr>
          <a:xfrm>
            <a:off x="7057440" y="2313360"/>
            <a:ext cx="593640" cy="401760"/>
          </a:xfrm>
          <a:prstGeom prst="chevron">
            <a:avLst>
              <a:gd name="adj" fmla="val 50000"/>
            </a:avLst>
          </a:prstGeom>
          <a:solidFill>
            <a:srgbClr val="cbd5e1"/>
          </a:solidFill>
          <a:ln w="12700">
            <a:solidFill>
              <a:srgbClr val="cbd5e1"/>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278" name="Shape 19"/>
          <p:cNvSpPr/>
          <p:nvPr/>
        </p:nvSpPr>
        <p:spPr>
          <a:xfrm>
            <a:off x="7730640" y="1828800"/>
            <a:ext cx="1599480" cy="1416600"/>
          </a:xfrm>
          <a:prstGeom prst="roundRect">
            <a:avLst>
              <a:gd name="adj" fmla="val 5161"/>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279" name="Shape 20"/>
          <p:cNvSpPr/>
          <p:nvPr/>
        </p:nvSpPr>
        <p:spPr>
          <a:xfrm>
            <a:off x="8306640" y="1974960"/>
            <a:ext cx="456480" cy="456480"/>
          </a:xfrm>
          <a:prstGeom prst="ellipse">
            <a:avLst/>
          </a:prstGeom>
          <a:solidFill>
            <a:srgbClr val="f59e0b"/>
          </a:solidFill>
          <a:ln w="12700">
            <a:solidFill>
              <a:srgbClr val="f59e0b"/>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280" name="Text 21"/>
          <p:cNvSpPr/>
          <p:nvPr/>
        </p:nvSpPr>
        <p:spPr>
          <a:xfrm>
            <a:off x="7786080" y="2532960"/>
            <a:ext cx="1544040" cy="2005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600" b="1" u="none" strike="noStrike">
                <a:solidFill>
                  <a:srgbClr val="111827"/>
                </a:solidFill>
                <a:effectLst/>
                <a:uFillTx/>
                <a:latin typeface="Aptos"/>
              </a:rPr>
              <a:t>PostgreSQL</a:t>
            </a:r>
            <a:endParaRPr lang="fr-FR" sz="1600" b="0" u="none" strike="noStrike">
              <a:solidFill>
                <a:srgbClr val="000000"/>
              </a:solidFill>
              <a:effectLst/>
              <a:uFillTx/>
              <a:latin typeface="Arial"/>
            </a:endParaRPr>
          </a:p>
        </p:txBody>
      </p:sp>
      <p:sp>
        <p:nvSpPr>
          <p:cNvPr id="281" name="Text 22"/>
          <p:cNvSpPr/>
          <p:nvPr/>
        </p:nvSpPr>
        <p:spPr>
          <a:xfrm>
            <a:off x="7876440" y="2824920"/>
            <a:ext cx="1370880" cy="36504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220" b="0" u="none" strike="noStrike">
                <a:solidFill>
                  <a:srgbClr val="475569"/>
                </a:solidFill>
                <a:effectLst/>
                <a:uFillTx/>
                <a:latin typeface="Aptos"/>
              </a:rPr>
              <a:t>Schéma +</a:t>
            </a:r>
            <a:endParaRPr lang="fr-FR" sz="1220" b="0" u="none" strike="noStrike">
              <a:solidFill>
                <a:srgbClr val="000000"/>
              </a:solidFill>
              <a:effectLst/>
              <a:uFillTx/>
              <a:latin typeface="Arial"/>
            </a:endParaRPr>
          </a:p>
          <a:p>
            <a:pPr algn="ctr" defTabSz="914400">
              <a:lnSpc>
                <a:spcPct val="100000"/>
              </a:lnSpc>
              <a:tabLst>
                <a:tab algn="l" pos="0"/>
              </a:tabLst>
            </a:pPr>
            <a:r>
              <a:rPr lang="en-US" sz="1220" b="0" u="none" strike="noStrike">
                <a:solidFill>
                  <a:srgbClr val="475569"/>
                </a:solidFill>
                <a:effectLst/>
                <a:uFillTx/>
                <a:latin typeface="Aptos"/>
              </a:rPr>
              <a:t>chargement</a:t>
            </a:r>
            <a:endParaRPr lang="fr-FR" sz="1220" b="0" u="none" strike="noStrike">
              <a:solidFill>
                <a:srgbClr val="000000"/>
              </a:solidFill>
              <a:effectLst/>
              <a:uFillTx/>
              <a:latin typeface="Arial"/>
            </a:endParaRPr>
          </a:p>
        </p:txBody>
      </p:sp>
      <p:sp>
        <p:nvSpPr>
          <p:cNvPr id="282" name="Shape 23"/>
          <p:cNvSpPr/>
          <p:nvPr/>
        </p:nvSpPr>
        <p:spPr>
          <a:xfrm>
            <a:off x="1051560" y="4114800"/>
            <a:ext cx="3016800" cy="1416600"/>
          </a:xfrm>
          <a:prstGeom prst="roundRect">
            <a:avLst>
              <a:gd name="adj" fmla="val 5161"/>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283" name="Text 24"/>
          <p:cNvSpPr/>
          <p:nvPr/>
        </p:nvSpPr>
        <p:spPr>
          <a:xfrm>
            <a:off x="1234440" y="4316040"/>
            <a:ext cx="913680" cy="4107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2800" b="1" u="none" strike="noStrike">
                <a:solidFill>
                  <a:srgbClr val="ffbe00"/>
                </a:solidFill>
                <a:effectLst/>
                <a:uFillTx/>
                <a:latin typeface="Aptos"/>
              </a:rPr>
              <a:t>16</a:t>
            </a:r>
            <a:endParaRPr lang="fr-FR" sz="2800" b="0" u="none" strike="noStrike">
              <a:solidFill>
                <a:srgbClr val="000000"/>
              </a:solidFill>
              <a:effectLst/>
              <a:uFillTx/>
              <a:latin typeface="Arial"/>
            </a:endParaRPr>
          </a:p>
        </p:txBody>
      </p:sp>
      <p:sp>
        <p:nvSpPr>
          <p:cNvPr id="284" name="Text 25"/>
          <p:cNvSpPr/>
          <p:nvPr/>
        </p:nvSpPr>
        <p:spPr>
          <a:xfrm>
            <a:off x="1984320" y="4434840"/>
            <a:ext cx="1075320" cy="1821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500" b="1" u="none" strike="noStrike">
                <a:solidFill>
                  <a:srgbClr val="111827"/>
                </a:solidFill>
                <a:effectLst/>
                <a:uFillTx/>
                <a:latin typeface="Aptos"/>
              </a:rPr>
              <a:t>lignes</a:t>
            </a:r>
            <a:endParaRPr lang="fr-FR" sz="1500" b="0" u="none" strike="noStrike">
              <a:solidFill>
                <a:srgbClr val="000000"/>
              </a:solidFill>
              <a:effectLst/>
              <a:uFillTx/>
              <a:latin typeface="Arial"/>
            </a:endParaRPr>
          </a:p>
        </p:txBody>
      </p:sp>
      <p:sp>
        <p:nvSpPr>
          <p:cNvPr id="285" name="Text 26"/>
          <p:cNvSpPr/>
          <p:nvPr/>
        </p:nvSpPr>
        <p:spPr>
          <a:xfrm>
            <a:off x="1234440" y="4800600"/>
            <a:ext cx="2513880" cy="3193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280" b="0" u="none" strike="noStrike">
                <a:solidFill>
                  <a:srgbClr val="475569"/>
                </a:solidFill>
                <a:effectLst/>
                <a:uFillTx/>
                <a:latin typeface="Aptos"/>
              </a:rPr>
              <a:t>Jeu d'insertion : lignes de métro</a:t>
            </a:r>
            <a:endParaRPr lang="fr-FR" sz="1280" b="0" u="none" strike="noStrike">
              <a:solidFill>
                <a:srgbClr val="000000"/>
              </a:solidFill>
              <a:effectLst/>
              <a:uFillTx/>
              <a:latin typeface="Arial"/>
            </a:endParaRPr>
          </a:p>
        </p:txBody>
      </p:sp>
      <p:sp>
        <p:nvSpPr>
          <p:cNvPr id="286" name="Shape 27"/>
          <p:cNvSpPr/>
          <p:nvPr/>
        </p:nvSpPr>
        <p:spPr>
          <a:xfrm>
            <a:off x="4663440" y="4114800"/>
            <a:ext cx="3016800" cy="1416600"/>
          </a:xfrm>
          <a:prstGeom prst="roundRect">
            <a:avLst>
              <a:gd name="adj" fmla="val 5161"/>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287" name="Text 28"/>
          <p:cNvSpPr/>
          <p:nvPr/>
        </p:nvSpPr>
        <p:spPr>
          <a:xfrm>
            <a:off x="4846320" y="4316040"/>
            <a:ext cx="1273320" cy="4107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2800" b="1" u="none" strike="noStrike">
                <a:solidFill>
                  <a:srgbClr val="003ca6"/>
                </a:solidFill>
                <a:effectLst/>
                <a:uFillTx/>
                <a:latin typeface="Aptos"/>
              </a:rPr>
              <a:t>321</a:t>
            </a:r>
            <a:endParaRPr lang="fr-FR" sz="2800" b="0" u="none" strike="noStrike">
              <a:solidFill>
                <a:srgbClr val="000000"/>
              </a:solidFill>
              <a:effectLst/>
              <a:uFillTx/>
              <a:latin typeface="Arial"/>
            </a:endParaRPr>
          </a:p>
        </p:txBody>
      </p:sp>
      <p:sp>
        <p:nvSpPr>
          <p:cNvPr id="288" name="Text 29"/>
          <p:cNvSpPr/>
          <p:nvPr/>
        </p:nvSpPr>
        <p:spPr>
          <a:xfrm>
            <a:off x="5704200" y="4434840"/>
            <a:ext cx="1243440" cy="1821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500" b="1" u="none" strike="noStrike">
                <a:solidFill>
                  <a:srgbClr val="111827"/>
                </a:solidFill>
                <a:effectLst/>
                <a:uFillTx/>
                <a:latin typeface="Aptos"/>
              </a:rPr>
              <a:t>stations</a:t>
            </a:r>
            <a:endParaRPr lang="fr-FR" sz="1500" b="0" u="none" strike="noStrike">
              <a:solidFill>
                <a:srgbClr val="000000"/>
              </a:solidFill>
              <a:effectLst/>
              <a:uFillTx/>
              <a:latin typeface="Arial"/>
            </a:endParaRPr>
          </a:p>
        </p:txBody>
      </p:sp>
      <p:sp>
        <p:nvSpPr>
          <p:cNvPr id="289" name="Text 30"/>
          <p:cNvSpPr/>
          <p:nvPr/>
        </p:nvSpPr>
        <p:spPr>
          <a:xfrm>
            <a:off x="4846320" y="4800600"/>
            <a:ext cx="2513880" cy="3193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280" b="0" u="none" strike="noStrike">
                <a:solidFill>
                  <a:srgbClr val="475569"/>
                </a:solidFill>
                <a:effectLst/>
                <a:uFillTx/>
                <a:latin typeface="Aptos"/>
              </a:rPr>
              <a:t>Stations insérées dans le script</a:t>
            </a:r>
            <a:endParaRPr lang="fr-FR" sz="1280" b="0" u="none" strike="noStrike">
              <a:solidFill>
                <a:srgbClr val="000000"/>
              </a:solidFill>
              <a:effectLst/>
              <a:uFillTx/>
              <a:latin typeface="Arial"/>
            </a:endParaRPr>
          </a:p>
        </p:txBody>
      </p:sp>
      <p:sp>
        <p:nvSpPr>
          <p:cNvPr id="290" name="Shape 31"/>
          <p:cNvSpPr/>
          <p:nvPr/>
        </p:nvSpPr>
        <p:spPr>
          <a:xfrm>
            <a:off x="8275320" y="4114800"/>
            <a:ext cx="3016800" cy="1416600"/>
          </a:xfrm>
          <a:prstGeom prst="roundRect">
            <a:avLst>
              <a:gd name="adj" fmla="val 5161"/>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291" name="Text 32"/>
          <p:cNvSpPr/>
          <p:nvPr/>
        </p:nvSpPr>
        <p:spPr>
          <a:xfrm>
            <a:off x="8458200" y="4316040"/>
            <a:ext cx="1441440" cy="4107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2800" b="1" u="none" strike="noStrike">
                <a:solidFill>
                  <a:srgbClr val="10b981"/>
                </a:solidFill>
                <a:effectLst/>
                <a:uFillTx/>
                <a:latin typeface="Aptos"/>
              </a:rPr>
              <a:t>405</a:t>
            </a:r>
            <a:endParaRPr lang="fr-FR" sz="2800" b="0" u="none" strike="noStrike">
              <a:solidFill>
                <a:srgbClr val="000000"/>
              </a:solidFill>
              <a:effectLst/>
              <a:uFillTx/>
              <a:latin typeface="Arial"/>
            </a:endParaRPr>
          </a:p>
        </p:txBody>
      </p:sp>
      <p:sp>
        <p:nvSpPr>
          <p:cNvPr id="292" name="Text 33"/>
          <p:cNvSpPr/>
          <p:nvPr/>
        </p:nvSpPr>
        <p:spPr>
          <a:xfrm>
            <a:off x="9244080" y="4434840"/>
            <a:ext cx="1231560" cy="1821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500" b="1" u="none" strike="noStrike">
                <a:solidFill>
                  <a:srgbClr val="111827"/>
                </a:solidFill>
                <a:effectLst/>
                <a:uFillTx/>
                <a:latin typeface="Aptos"/>
              </a:rPr>
              <a:t>dessertes</a:t>
            </a:r>
            <a:endParaRPr lang="fr-FR" sz="1500" b="0" u="none" strike="noStrike">
              <a:solidFill>
                <a:srgbClr val="000000"/>
              </a:solidFill>
              <a:effectLst/>
              <a:uFillTx/>
              <a:latin typeface="Arial"/>
            </a:endParaRPr>
          </a:p>
        </p:txBody>
      </p:sp>
      <p:sp>
        <p:nvSpPr>
          <p:cNvPr id="293" name="Text 34"/>
          <p:cNvSpPr/>
          <p:nvPr/>
        </p:nvSpPr>
        <p:spPr>
          <a:xfrm>
            <a:off x="8458200" y="4800600"/>
            <a:ext cx="2513880" cy="3193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280" b="0" u="none" strike="noStrike">
                <a:solidFill>
                  <a:srgbClr val="475569"/>
                </a:solidFill>
                <a:effectLst/>
                <a:uFillTx/>
                <a:latin typeface="Aptos"/>
              </a:rPr>
              <a:t>Liens ligne / station exploités</a:t>
            </a:r>
            <a:endParaRPr lang="fr-FR" sz="1280" b="0" u="none" strike="noStrike">
              <a:solidFill>
                <a:srgbClr val="000000"/>
              </a:solidFill>
              <a:effectLst/>
              <a:uFillTx/>
              <a:latin typeface="Arial"/>
            </a:endParaRPr>
          </a:p>
        </p:txBody>
      </p:sp>
      <p:sp>
        <p:nvSpPr>
          <p:cNvPr id="294" name="Text 38"/>
          <p:cNvSpPr/>
          <p:nvPr/>
        </p:nvSpPr>
        <p:spPr>
          <a:xfrm>
            <a:off x="548640" y="6519600"/>
            <a:ext cx="3839760" cy="1364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800" b="0" u="none" strike="noStrike">
                <a:solidFill>
                  <a:srgbClr val="94a3b8"/>
                </a:solidFill>
                <a:effectLst/>
                <a:uFillTx/>
                <a:latin typeface="Aptos"/>
              </a:rPr>
              <a:t>SAE 2.04 - Exploitation d'une base de données</a:t>
            </a:r>
            <a:endParaRPr lang="fr-FR" sz="800" b="0" u="none" strike="noStrike">
              <a:solidFill>
                <a:srgbClr val="000000"/>
              </a:solidFill>
              <a:effectLst/>
              <a:uFillTx/>
              <a:latin typeface="Arial"/>
            </a:endParaRPr>
          </a:p>
        </p:txBody>
      </p:sp>
      <p:sp>
        <p:nvSpPr>
          <p:cNvPr id="295" name="Text 39"/>
          <p:cNvSpPr/>
          <p:nvPr/>
        </p:nvSpPr>
        <p:spPr>
          <a:xfrm>
            <a:off x="10424160" y="6519600"/>
            <a:ext cx="1188000" cy="13644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lang="en-US" sz="800" b="0" u="none" strike="noStrike">
                <a:solidFill>
                  <a:srgbClr val="94a3b8"/>
                </a:solidFill>
                <a:effectLst/>
                <a:uFillTx/>
                <a:latin typeface="Aptos"/>
              </a:rPr>
              <a:t>Métro parisien</a:t>
            </a:r>
            <a:endParaRPr lang="fr-FR"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c"/>
        </a:solidFill>
      </p:bgPr>
    </p:bg>
    <p:spTree>
      <p:nvGrpSpPr>
        <p:cNvPr id="1" name=""/>
        <p:cNvGrpSpPr/>
        <p:nvPr/>
      </p:nvGrpSpPr>
      <p:grpSpPr>
        <a:xfrm>
          <a:off x="0" y="0"/>
          <a:ext cx="0" cy="0"/>
          <a:chOff x="0" y="0"/>
          <a:chExt cx="0" cy="0"/>
        </a:xfrm>
      </p:grpSpPr>
      <p:sp>
        <p:nvSpPr>
          <p:cNvPr id="296" name="Shape 0"/>
          <p:cNvSpPr/>
          <p:nvPr/>
        </p:nvSpPr>
        <p:spPr>
          <a:xfrm>
            <a:off x="0" y="0"/>
            <a:ext cx="12191040" cy="163800"/>
          </a:xfrm>
          <a:prstGeom prst="rect">
            <a:avLst/>
          </a:prstGeom>
          <a:solidFill>
            <a:srgbClr val="1d4ed8"/>
          </a:solidFill>
          <a:ln w="12700">
            <a:solidFill>
              <a:srgbClr val="1d4ed8"/>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297" name="Text 1"/>
          <p:cNvSpPr/>
          <p:nvPr/>
        </p:nvSpPr>
        <p:spPr>
          <a:xfrm>
            <a:off x="548640" y="347400"/>
            <a:ext cx="8046000" cy="4107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2600" b="1" u="none" strike="noStrike">
                <a:solidFill>
                  <a:srgbClr val="111827"/>
                </a:solidFill>
                <a:effectLst/>
                <a:uFillTx/>
                <a:latin typeface="Aptos Display"/>
                <a:ea typeface="Aptos Display"/>
              </a:rPr>
              <a:t>Organisation du travail avec GitHub</a:t>
            </a:r>
            <a:endParaRPr lang="fr-FR" sz="2600" b="0" u="none" strike="noStrike">
              <a:solidFill>
                <a:srgbClr val="000000"/>
              </a:solidFill>
              <a:effectLst/>
              <a:uFillTx/>
              <a:latin typeface="Arial"/>
            </a:endParaRPr>
          </a:p>
        </p:txBody>
      </p:sp>
      <p:sp>
        <p:nvSpPr>
          <p:cNvPr id="298" name="Text 2"/>
          <p:cNvSpPr/>
          <p:nvPr/>
        </p:nvSpPr>
        <p:spPr>
          <a:xfrm>
            <a:off x="548640" y="768240"/>
            <a:ext cx="7863120" cy="255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050" b="0" u="none" strike="noStrike">
                <a:solidFill>
                  <a:srgbClr val="64748b"/>
                </a:solidFill>
                <a:effectLst/>
                <a:uFillTx/>
                <a:latin typeface="Aptos"/>
                <a:ea typeface="Aptos"/>
              </a:rPr>
              <a:t>Le dépôt sert de point central pour les scripts, le schéma, les données et le script vidéo.</a:t>
            </a:r>
            <a:endParaRPr lang="fr-FR" sz="1050" b="0" u="none" strike="noStrike">
              <a:solidFill>
                <a:srgbClr val="000000"/>
              </a:solidFill>
              <a:effectLst/>
              <a:uFillTx/>
              <a:latin typeface="Arial"/>
            </a:endParaRPr>
          </a:p>
        </p:txBody>
      </p:sp>
      <p:sp>
        <p:nvSpPr>
          <p:cNvPr id="299" name="Shape 3"/>
          <p:cNvSpPr/>
          <p:nvPr/>
        </p:nvSpPr>
        <p:spPr>
          <a:xfrm>
            <a:off x="548640" y="1051560"/>
            <a:ext cx="11064240" cy="360"/>
          </a:xfrm>
          <a:prstGeom prst="line">
            <a:avLst/>
          </a:prstGeom>
          <a:ln w="12700">
            <a:solidFill>
              <a:srgbClr val="cbd5e1"/>
            </a:solidFill>
            <a:round/>
          </a:ln>
        </p:spPr>
        <p:style>
          <a:lnRef idx="0"/>
          <a:fillRef idx="0"/>
          <a:effectRef idx="0"/>
          <a:fontRef idx="minor"/>
        </p:style>
        <p:txBody>
          <a:bodyPr lIns="90000" rIns="90000" tIns="-44640" bIns="-44640" anchor="t" anchorCtr="1">
            <a:noAutofit/>
          </a:bodyPr>
          <a:p>
            <a:endParaRPr lang="fr-FR" sz="1800" b="0" u="none" strike="noStrike">
              <a:solidFill>
                <a:srgbClr val="000000"/>
              </a:solidFill>
              <a:effectLst/>
              <a:uFillTx/>
              <a:latin typeface="Arial"/>
            </a:endParaRPr>
          </a:p>
        </p:txBody>
      </p:sp>
      <p:sp>
        <p:nvSpPr>
          <p:cNvPr id="300" name="Shape 4"/>
          <p:cNvSpPr/>
          <p:nvPr/>
        </p:nvSpPr>
        <p:spPr>
          <a:xfrm>
            <a:off x="685800" y="1417320"/>
            <a:ext cx="6582960" cy="4525560"/>
          </a:xfrm>
          <a:prstGeom prst="roundRect">
            <a:avLst>
              <a:gd name="adj" fmla="val 1616"/>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301" name="Shape 5"/>
          <p:cNvSpPr/>
          <p:nvPr/>
        </p:nvSpPr>
        <p:spPr>
          <a:xfrm>
            <a:off x="914400" y="1719000"/>
            <a:ext cx="6125760" cy="3912840"/>
          </a:xfrm>
          <a:prstGeom prst="roundRect">
            <a:avLst>
              <a:gd name="adj" fmla="val 701"/>
            </a:avLst>
          </a:prstGeom>
          <a:solidFill>
            <a:srgbClr val="f8fafc"/>
          </a:solidFill>
          <a:ln w="12700">
            <a:solidFill>
              <a:srgbClr val="cbd5e1"/>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302" name="Shape 6"/>
          <p:cNvSpPr/>
          <p:nvPr/>
        </p:nvSpPr>
        <p:spPr>
          <a:xfrm>
            <a:off x="914400" y="1719000"/>
            <a:ext cx="6125760" cy="383400"/>
          </a:xfrm>
          <a:prstGeom prst="rect">
            <a:avLst/>
          </a:prstGeom>
          <a:solidFill>
            <a:srgbClr val="e2e8f0"/>
          </a:solidFill>
          <a:ln w="12700">
            <a:solidFill>
              <a:srgbClr val="e2e8f0"/>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303" name="Shape 7"/>
          <p:cNvSpPr/>
          <p:nvPr/>
        </p:nvSpPr>
        <p:spPr>
          <a:xfrm>
            <a:off x="1078920" y="1856160"/>
            <a:ext cx="72360" cy="72360"/>
          </a:xfrm>
          <a:prstGeom prst="ellipse">
            <a:avLst/>
          </a:prstGeom>
          <a:solidFill>
            <a:srgbClr val="ef4444"/>
          </a:solidFill>
          <a:ln w="12700">
            <a:solidFill>
              <a:srgbClr val="ef4444"/>
            </a:solidFill>
            <a:round/>
          </a:ln>
        </p:spPr>
        <p:style>
          <a:lnRef idx="0"/>
          <a:fillRef idx="0"/>
          <a:effectRef idx="0"/>
          <a:fontRef idx="minor"/>
        </p:style>
        <p:txBody>
          <a:bodyPr lIns="90000" rIns="90000" tIns="6840" bIns="6840" anchor="t">
            <a:noAutofit/>
          </a:bodyPr>
          <a:p>
            <a:pPr>
              <a:lnSpc>
                <a:spcPct val="100000"/>
              </a:lnSpc>
            </a:pPr>
            <a:endParaRPr lang="fr-FR" sz="1800" b="0" u="none" strike="noStrike">
              <a:solidFill>
                <a:srgbClr val="ffffff"/>
              </a:solidFill>
              <a:effectLst/>
              <a:uFillTx/>
              <a:latin typeface="Arial"/>
            </a:endParaRPr>
          </a:p>
        </p:txBody>
      </p:sp>
      <p:sp>
        <p:nvSpPr>
          <p:cNvPr id="304" name="Shape 8"/>
          <p:cNvSpPr/>
          <p:nvPr/>
        </p:nvSpPr>
        <p:spPr>
          <a:xfrm>
            <a:off x="1243440" y="1856160"/>
            <a:ext cx="72360" cy="72360"/>
          </a:xfrm>
          <a:prstGeom prst="ellipse">
            <a:avLst/>
          </a:prstGeom>
          <a:solidFill>
            <a:srgbClr val="f59e0b"/>
          </a:solidFill>
          <a:ln w="12700">
            <a:solidFill>
              <a:srgbClr val="f59e0b"/>
            </a:solidFill>
            <a:round/>
          </a:ln>
        </p:spPr>
        <p:style>
          <a:lnRef idx="0"/>
          <a:fillRef idx="0"/>
          <a:effectRef idx="0"/>
          <a:fontRef idx="minor"/>
        </p:style>
        <p:txBody>
          <a:bodyPr lIns="90000" rIns="90000" tIns="6840" bIns="6840" anchor="t">
            <a:noAutofit/>
          </a:bodyPr>
          <a:p>
            <a:pPr>
              <a:lnSpc>
                <a:spcPct val="100000"/>
              </a:lnSpc>
            </a:pPr>
            <a:endParaRPr lang="fr-FR" sz="1800" b="0" u="none" strike="noStrike">
              <a:solidFill>
                <a:srgbClr val="000000"/>
              </a:solidFill>
              <a:effectLst/>
              <a:uFillTx/>
              <a:latin typeface="Arial"/>
            </a:endParaRPr>
          </a:p>
        </p:txBody>
      </p:sp>
      <p:sp>
        <p:nvSpPr>
          <p:cNvPr id="305" name="Shape 9"/>
          <p:cNvSpPr/>
          <p:nvPr/>
        </p:nvSpPr>
        <p:spPr>
          <a:xfrm>
            <a:off x="1408320" y="1856160"/>
            <a:ext cx="72360" cy="72360"/>
          </a:xfrm>
          <a:prstGeom prst="ellipse">
            <a:avLst/>
          </a:prstGeom>
          <a:solidFill>
            <a:srgbClr val="10b981"/>
          </a:solidFill>
          <a:ln w="12700">
            <a:solidFill>
              <a:srgbClr val="10b981"/>
            </a:solidFill>
            <a:round/>
          </a:ln>
        </p:spPr>
        <p:style>
          <a:lnRef idx="0"/>
          <a:fillRef idx="0"/>
          <a:effectRef idx="0"/>
          <a:fontRef idx="minor"/>
        </p:style>
        <p:txBody>
          <a:bodyPr lIns="90000" rIns="90000" tIns="6840" bIns="6840" anchor="t">
            <a:noAutofit/>
          </a:bodyPr>
          <a:p>
            <a:pPr>
              <a:lnSpc>
                <a:spcPct val="100000"/>
              </a:lnSpc>
            </a:pPr>
            <a:endParaRPr lang="fr-FR" sz="1800" b="0" u="none" strike="noStrike">
              <a:solidFill>
                <a:srgbClr val="000000"/>
              </a:solidFill>
              <a:effectLst/>
              <a:uFillTx/>
              <a:latin typeface="Arial"/>
            </a:endParaRPr>
          </a:p>
        </p:txBody>
      </p:sp>
      <p:sp>
        <p:nvSpPr>
          <p:cNvPr id="306" name="Text 10"/>
          <p:cNvSpPr/>
          <p:nvPr/>
        </p:nvSpPr>
        <p:spPr>
          <a:xfrm>
            <a:off x="1572840" y="1810440"/>
            <a:ext cx="4982760" cy="1090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950" b="0" u="none" strike="noStrike">
                <a:solidFill>
                  <a:srgbClr val="475569"/>
                </a:solidFill>
                <a:effectLst/>
                <a:uFillTx/>
                <a:latin typeface="Aptos"/>
              </a:rPr>
              <a:t>github.com/Ktur93/BUT1-SAE-Base-de-Donnees-Metro-Parisien</a:t>
            </a:r>
            <a:endParaRPr lang="fr-FR" sz="950" b="0" u="none" strike="noStrike">
              <a:solidFill>
                <a:srgbClr val="000000"/>
              </a:solidFill>
              <a:effectLst/>
              <a:uFillTx/>
              <a:latin typeface="Arial"/>
            </a:endParaRPr>
          </a:p>
        </p:txBody>
      </p:sp>
      <p:sp>
        <p:nvSpPr>
          <p:cNvPr id="307" name="Text 11"/>
          <p:cNvSpPr/>
          <p:nvPr/>
        </p:nvSpPr>
        <p:spPr>
          <a:xfrm>
            <a:off x="1188720" y="2295720"/>
            <a:ext cx="5119920" cy="255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900" b="1" u="none" strike="noStrike">
                <a:solidFill>
                  <a:srgbClr val="111827"/>
                </a:solidFill>
                <a:effectLst/>
                <a:uFillTx/>
                <a:latin typeface="Aptos"/>
              </a:rPr>
              <a:t>Ktur93 / BUT1-SAE-Base-de-Donnees-Metro-Parisien</a:t>
            </a:r>
            <a:endParaRPr lang="fr-FR" sz="1900" b="0" u="none" strike="noStrike">
              <a:solidFill>
                <a:srgbClr val="000000"/>
              </a:solidFill>
              <a:effectLst/>
              <a:uFillTx/>
              <a:latin typeface="Arial"/>
            </a:endParaRPr>
          </a:p>
        </p:txBody>
      </p:sp>
      <p:sp>
        <p:nvSpPr>
          <p:cNvPr id="308" name="Text 12"/>
          <p:cNvSpPr/>
          <p:nvPr/>
        </p:nvSpPr>
        <p:spPr>
          <a:xfrm>
            <a:off x="1207080" y="2759760"/>
            <a:ext cx="2392560" cy="1638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150" b="0" u="none" strike="noStrike">
                <a:solidFill>
                  <a:srgbClr val="64748b"/>
                </a:solidFill>
                <a:effectLst/>
                <a:uFillTx/>
                <a:latin typeface="Aptos"/>
              </a:rPr>
              <a:t>Public - main - 11 commits</a:t>
            </a:r>
            <a:endParaRPr lang="fr-FR" sz="1150" b="0" u="none" strike="noStrike">
              <a:solidFill>
                <a:srgbClr val="000000"/>
              </a:solidFill>
              <a:effectLst/>
              <a:uFillTx/>
              <a:latin typeface="Arial"/>
            </a:endParaRPr>
          </a:p>
        </p:txBody>
      </p:sp>
      <p:sp>
        <p:nvSpPr>
          <p:cNvPr id="309" name="Shape 13"/>
          <p:cNvSpPr/>
          <p:nvPr/>
        </p:nvSpPr>
        <p:spPr>
          <a:xfrm>
            <a:off x="1170360" y="3035880"/>
            <a:ext cx="5558760" cy="255240"/>
          </a:xfrm>
          <a:prstGeom prst="rect">
            <a:avLst/>
          </a:prstGeom>
          <a:solidFill>
            <a:srgbClr val="ffffff"/>
          </a:solidFill>
          <a:ln w="12700">
            <a:solidFill>
              <a:srgbClr val="f1f5f9"/>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310" name="Text 14"/>
          <p:cNvSpPr/>
          <p:nvPr/>
        </p:nvSpPr>
        <p:spPr>
          <a:xfrm>
            <a:off x="1325880" y="3090600"/>
            <a:ext cx="2468160" cy="1090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170" b="0" u="none" strike="noStrike">
                <a:solidFill>
                  <a:srgbClr val="374151"/>
                </a:solidFill>
                <a:effectLst/>
                <a:uFillTx/>
                <a:latin typeface="Aptos"/>
              </a:rPr>
              <a:t>README.md</a:t>
            </a:r>
            <a:endParaRPr lang="fr-FR" sz="1170" b="0" u="none" strike="noStrike">
              <a:solidFill>
                <a:srgbClr val="000000"/>
              </a:solidFill>
              <a:effectLst/>
              <a:uFillTx/>
              <a:latin typeface="Arial"/>
            </a:endParaRPr>
          </a:p>
        </p:txBody>
      </p:sp>
      <p:sp>
        <p:nvSpPr>
          <p:cNvPr id="311" name="Text 15"/>
          <p:cNvSpPr/>
          <p:nvPr/>
        </p:nvSpPr>
        <p:spPr>
          <a:xfrm>
            <a:off x="5220000" y="3090600"/>
            <a:ext cx="1317240" cy="1090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lang="en-US" sz="1050" b="0" u="none" strike="noStrike">
                <a:solidFill>
                  <a:srgbClr val="64748b"/>
                </a:solidFill>
                <a:effectLst/>
                <a:uFillTx/>
                <a:latin typeface="Aptos"/>
              </a:rPr>
              <a:t>SQL / données</a:t>
            </a:r>
            <a:endParaRPr lang="fr-FR" sz="1050" b="0" u="none" strike="noStrike">
              <a:solidFill>
                <a:srgbClr val="000000"/>
              </a:solidFill>
              <a:effectLst/>
              <a:uFillTx/>
              <a:latin typeface="Arial"/>
            </a:endParaRPr>
          </a:p>
        </p:txBody>
      </p:sp>
      <p:sp>
        <p:nvSpPr>
          <p:cNvPr id="312" name="Shape 16"/>
          <p:cNvSpPr/>
          <p:nvPr/>
        </p:nvSpPr>
        <p:spPr>
          <a:xfrm>
            <a:off x="1170360" y="3401640"/>
            <a:ext cx="5558760" cy="255240"/>
          </a:xfrm>
          <a:prstGeom prst="rect">
            <a:avLst/>
          </a:prstGeom>
          <a:solidFill>
            <a:srgbClr val="f8fafc"/>
          </a:solidFill>
          <a:ln w="12700">
            <a:solidFill>
              <a:srgbClr val="f1f5f9"/>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313" name="Text 17"/>
          <p:cNvSpPr/>
          <p:nvPr/>
        </p:nvSpPr>
        <p:spPr>
          <a:xfrm>
            <a:off x="1325880" y="3456360"/>
            <a:ext cx="2468160" cy="1090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170" b="0" u="none" strike="noStrike">
                <a:solidFill>
                  <a:srgbClr val="374151"/>
                </a:solidFill>
                <a:effectLst/>
                <a:uFillTx/>
                <a:latin typeface="Aptos"/>
              </a:rPr>
              <a:t>metro_parisien.sql</a:t>
            </a:r>
            <a:endParaRPr lang="fr-FR" sz="1170" b="0" u="none" strike="noStrike">
              <a:solidFill>
                <a:srgbClr val="000000"/>
              </a:solidFill>
              <a:effectLst/>
              <a:uFillTx/>
              <a:latin typeface="Arial"/>
            </a:endParaRPr>
          </a:p>
        </p:txBody>
      </p:sp>
      <p:sp>
        <p:nvSpPr>
          <p:cNvPr id="314" name="Text 18"/>
          <p:cNvSpPr/>
          <p:nvPr/>
        </p:nvSpPr>
        <p:spPr>
          <a:xfrm>
            <a:off x="5220000" y="3456360"/>
            <a:ext cx="1317240" cy="1090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lang="en-US" sz="1050" b="0" u="none" strike="noStrike">
                <a:solidFill>
                  <a:srgbClr val="64748b"/>
                </a:solidFill>
                <a:effectLst/>
                <a:uFillTx/>
                <a:latin typeface="Aptos"/>
              </a:rPr>
              <a:t>SQL / données</a:t>
            </a:r>
            <a:endParaRPr lang="fr-FR" sz="1050" b="0" u="none" strike="noStrike">
              <a:solidFill>
                <a:srgbClr val="000000"/>
              </a:solidFill>
              <a:effectLst/>
              <a:uFillTx/>
              <a:latin typeface="Arial"/>
            </a:endParaRPr>
          </a:p>
        </p:txBody>
      </p:sp>
      <p:sp>
        <p:nvSpPr>
          <p:cNvPr id="315" name="Shape 19"/>
          <p:cNvSpPr/>
          <p:nvPr/>
        </p:nvSpPr>
        <p:spPr>
          <a:xfrm>
            <a:off x="1170360" y="3767400"/>
            <a:ext cx="5558760" cy="255240"/>
          </a:xfrm>
          <a:prstGeom prst="rect">
            <a:avLst/>
          </a:prstGeom>
          <a:solidFill>
            <a:srgbClr val="ffffff"/>
          </a:solidFill>
          <a:ln w="12700">
            <a:solidFill>
              <a:srgbClr val="f1f5f9"/>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316" name="Text 20"/>
          <p:cNvSpPr/>
          <p:nvPr/>
        </p:nvSpPr>
        <p:spPr>
          <a:xfrm>
            <a:off x="1325880" y="3822120"/>
            <a:ext cx="2468160" cy="1090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170" b="0" u="none" strike="noStrike">
                <a:solidFill>
                  <a:srgbClr val="374151"/>
                </a:solidFill>
                <a:effectLst/>
                <a:uFillTx/>
                <a:latin typeface="Aptos"/>
              </a:rPr>
              <a:t>inserts_metro_idf_final.sql</a:t>
            </a:r>
            <a:endParaRPr lang="fr-FR" sz="1170" b="0" u="none" strike="noStrike">
              <a:solidFill>
                <a:srgbClr val="000000"/>
              </a:solidFill>
              <a:effectLst/>
              <a:uFillTx/>
              <a:latin typeface="Arial"/>
            </a:endParaRPr>
          </a:p>
        </p:txBody>
      </p:sp>
      <p:sp>
        <p:nvSpPr>
          <p:cNvPr id="317" name="Text 21"/>
          <p:cNvSpPr/>
          <p:nvPr/>
        </p:nvSpPr>
        <p:spPr>
          <a:xfrm>
            <a:off x="5220000" y="3822120"/>
            <a:ext cx="1317240" cy="1090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lang="en-US" sz="1050" b="0" u="none" strike="noStrike">
                <a:solidFill>
                  <a:srgbClr val="64748b"/>
                </a:solidFill>
                <a:effectLst/>
                <a:uFillTx/>
                <a:latin typeface="Aptos"/>
              </a:rPr>
              <a:t>SQL / données</a:t>
            </a:r>
            <a:endParaRPr lang="fr-FR" sz="1050" b="0" u="none" strike="noStrike">
              <a:solidFill>
                <a:srgbClr val="000000"/>
              </a:solidFill>
              <a:effectLst/>
              <a:uFillTx/>
              <a:latin typeface="Arial"/>
            </a:endParaRPr>
          </a:p>
        </p:txBody>
      </p:sp>
      <p:sp>
        <p:nvSpPr>
          <p:cNvPr id="318" name="Shape 22"/>
          <p:cNvSpPr/>
          <p:nvPr/>
        </p:nvSpPr>
        <p:spPr>
          <a:xfrm>
            <a:off x="1170360" y="4133160"/>
            <a:ext cx="5558760" cy="255240"/>
          </a:xfrm>
          <a:prstGeom prst="rect">
            <a:avLst/>
          </a:prstGeom>
          <a:solidFill>
            <a:srgbClr val="f8fafc"/>
          </a:solidFill>
          <a:ln w="12700">
            <a:solidFill>
              <a:srgbClr val="f1f5f9"/>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319" name="Text 23"/>
          <p:cNvSpPr/>
          <p:nvPr/>
        </p:nvSpPr>
        <p:spPr>
          <a:xfrm>
            <a:off x="1325880" y="4187880"/>
            <a:ext cx="2468160" cy="1090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170" b="0" u="none" strike="noStrike">
                <a:solidFill>
                  <a:srgbClr val="374151"/>
                </a:solidFill>
                <a:effectLst/>
                <a:uFillTx/>
                <a:latin typeface="Aptos"/>
              </a:rPr>
              <a:t>schemaMetro.png</a:t>
            </a:r>
            <a:endParaRPr lang="fr-FR" sz="1170" b="0" u="none" strike="noStrike">
              <a:solidFill>
                <a:srgbClr val="000000"/>
              </a:solidFill>
              <a:effectLst/>
              <a:uFillTx/>
              <a:latin typeface="Arial"/>
            </a:endParaRPr>
          </a:p>
        </p:txBody>
      </p:sp>
      <p:sp>
        <p:nvSpPr>
          <p:cNvPr id="320" name="Text 24"/>
          <p:cNvSpPr/>
          <p:nvPr/>
        </p:nvSpPr>
        <p:spPr>
          <a:xfrm>
            <a:off x="5669280" y="4187880"/>
            <a:ext cx="867960" cy="1090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lang="en-US" sz="1050" b="0" u="none" strike="noStrike">
                <a:solidFill>
                  <a:srgbClr val="64748b"/>
                </a:solidFill>
                <a:effectLst/>
                <a:uFillTx/>
                <a:latin typeface="Aptos"/>
              </a:rPr>
              <a:t>visuel</a:t>
            </a:r>
            <a:endParaRPr lang="fr-FR" sz="1050" b="0" u="none" strike="noStrike">
              <a:solidFill>
                <a:srgbClr val="000000"/>
              </a:solidFill>
              <a:effectLst/>
              <a:uFillTx/>
              <a:latin typeface="Arial"/>
            </a:endParaRPr>
          </a:p>
        </p:txBody>
      </p:sp>
      <p:sp>
        <p:nvSpPr>
          <p:cNvPr id="321" name="Shape 25"/>
          <p:cNvSpPr/>
          <p:nvPr/>
        </p:nvSpPr>
        <p:spPr>
          <a:xfrm>
            <a:off x="1170360" y="4498920"/>
            <a:ext cx="5558760" cy="255240"/>
          </a:xfrm>
          <a:prstGeom prst="rect">
            <a:avLst/>
          </a:prstGeom>
          <a:solidFill>
            <a:srgbClr val="ffffff"/>
          </a:solidFill>
          <a:ln w="12700">
            <a:solidFill>
              <a:srgbClr val="f1f5f9"/>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322" name="Text 26"/>
          <p:cNvSpPr/>
          <p:nvPr/>
        </p:nvSpPr>
        <p:spPr>
          <a:xfrm>
            <a:off x="1325880" y="4553640"/>
            <a:ext cx="2468160" cy="1090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170" b="0" u="none" strike="noStrike">
                <a:solidFill>
                  <a:srgbClr val="374151"/>
                </a:solidFill>
                <a:effectLst/>
                <a:uFillTx/>
                <a:latin typeface="Aptos"/>
              </a:rPr>
              <a:t>script.py</a:t>
            </a:r>
            <a:endParaRPr lang="fr-FR" sz="1170" b="0" u="none" strike="noStrike">
              <a:solidFill>
                <a:srgbClr val="000000"/>
              </a:solidFill>
              <a:effectLst/>
              <a:uFillTx/>
              <a:latin typeface="Arial"/>
            </a:endParaRPr>
          </a:p>
        </p:txBody>
      </p:sp>
      <p:sp>
        <p:nvSpPr>
          <p:cNvPr id="323" name="Text 27"/>
          <p:cNvSpPr/>
          <p:nvPr/>
        </p:nvSpPr>
        <p:spPr>
          <a:xfrm>
            <a:off x="5220000" y="4553640"/>
            <a:ext cx="1317240" cy="1090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lang="en-US" sz="1050" b="0" u="none" strike="noStrike">
                <a:solidFill>
                  <a:srgbClr val="64748b"/>
                </a:solidFill>
                <a:effectLst/>
                <a:uFillTx/>
                <a:latin typeface="Aptos"/>
              </a:rPr>
              <a:t>automatisation</a:t>
            </a:r>
            <a:endParaRPr lang="fr-FR" sz="1050" b="0" u="none" strike="noStrike">
              <a:solidFill>
                <a:srgbClr val="000000"/>
              </a:solidFill>
              <a:effectLst/>
              <a:uFillTx/>
              <a:latin typeface="Arial"/>
            </a:endParaRPr>
          </a:p>
        </p:txBody>
      </p:sp>
      <p:sp>
        <p:nvSpPr>
          <p:cNvPr id="324" name="Shape 28"/>
          <p:cNvSpPr/>
          <p:nvPr/>
        </p:nvSpPr>
        <p:spPr>
          <a:xfrm>
            <a:off x="1170360" y="4864680"/>
            <a:ext cx="5558760" cy="255240"/>
          </a:xfrm>
          <a:prstGeom prst="rect">
            <a:avLst/>
          </a:prstGeom>
          <a:solidFill>
            <a:srgbClr val="f8fafc"/>
          </a:solidFill>
          <a:ln w="12700">
            <a:solidFill>
              <a:srgbClr val="f1f5f9"/>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325" name="Text 29"/>
          <p:cNvSpPr/>
          <p:nvPr/>
        </p:nvSpPr>
        <p:spPr>
          <a:xfrm>
            <a:off x="1325880" y="4919400"/>
            <a:ext cx="2468160" cy="1090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170" b="0" u="none" strike="noStrike">
                <a:solidFill>
                  <a:srgbClr val="374151"/>
                </a:solidFill>
                <a:effectLst/>
                <a:uFillTx/>
                <a:latin typeface="Aptos"/>
              </a:rPr>
              <a:t>scriptVideo.md</a:t>
            </a:r>
            <a:endParaRPr lang="fr-FR" sz="1170" b="0" u="none" strike="noStrike">
              <a:solidFill>
                <a:srgbClr val="000000"/>
              </a:solidFill>
              <a:effectLst/>
              <a:uFillTx/>
              <a:latin typeface="Arial"/>
            </a:endParaRPr>
          </a:p>
        </p:txBody>
      </p:sp>
      <p:sp>
        <p:nvSpPr>
          <p:cNvPr id="326" name="Text 30"/>
          <p:cNvSpPr/>
          <p:nvPr/>
        </p:nvSpPr>
        <p:spPr>
          <a:xfrm>
            <a:off x="5669280" y="4919400"/>
            <a:ext cx="867960" cy="1090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lang="en-US" sz="1050" b="0" u="none" strike="noStrike">
                <a:solidFill>
                  <a:srgbClr val="64748b"/>
                </a:solidFill>
                <a:effectLst/>
                <a:uFillTx/>
                <a:latin typeface="Aptos"/>
              </a:rPr>
              <a:t>oral</a:t>
            </a:r>
            <a:endParaRPr lang="fr-FR" sz="1050" b="0" u="none" strike="noStrike">
              <a:solidFill>
                <a:srgbClr val="000000"/>
              </a:solidFill>
              <a:effectLst/>
              <a:uFillTx/>
              <a:latin typeface="Arial"/>
            </a:endParaRPr>
          </a:p>
        </p:txBody>
      </p:sp>
      <p:sp>
        <p:nvSpPr>
          <p:cNvPr id="327" name="Shape 31"/>
          <p:cNvSpPr/>
          <p:nvPr/>
        </p:nvSpPr>
        <p:spPr>
          <a:xfrm>
            <a:off x="7543800" y="1417320"/>
            <a:ext cx="3976920" cy="4525560"/>
          </a:xfrm>
          <a:prstGeom prst="roundRect">
            <a:avLst>
              <a:gd name="adj" fmla="val 1839"/>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328" name="Text 32"/>
          <p:cNvSpPr/>
          <p:nvPr/>
        </p:nvSpPr>
        <p:spPr>
          <a:xfrm>
            <a:off x="7845480" y="1737360"/>
            <a:ext cx="331416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900" b="1" u="none" strike="noStrike">
                <a:solidFill>
                  <a:srgbClr val="111827"/>
                </a:solidFill>
                <a:effectLst/>
                <a:uFillTx/>
                <a:latin typeface="Aptos"/>
              </a:rPr>
              <a:t>Ce que GitHub apporte</a:t>
            </a:r>
            <a:endParaRPr lang="fr-FR" sz="1900" b="0" u="none" strike="noStrike">
              <a:solidFill>
                <a:srgbClr val="000000"/>
              </a:solidFill>
              <a:effectLst/>
              <a:uFillTx/>
              <a:latin typeface="Arial"/>
            </a:endParaRPr>
          </a:p>
        </p:txBody>
      </p:sp>
      <p:sp>
        <p:nvSpPr>
          <p:cNvPr id="329" name="Shape 33"/>
          <p:cNvSpPr/>
          <p:nvPr/>
        </p:nvSpPr>
        <p:spPr>
          <a:xfrm>
            <a:off x="7845480" y="232128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330" name="Text 34"/>
          <p:cNvSpPr/>
          <p:nvPr/>
        </p:nvSpPr>
        <p:spPr>
          <a:xfrm>
            <a:off x="8010000" y="2248200"/>
            <a:ext cx="315396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460" b="0" u="none" strike="noStrike">
                <a:solidFill>
                  <a:srgbClr val="374151"/>
                </a:solidFill>
                <a:effectLst/>
                <a:uFillTx/>
                <a:latin typeface="Aptos"/>
              </a:rPr>
              <a:t>Centralisation des fichiers</a:t>
            </a:r>
            <a:endParaRPr lang="fr-FR" sz="1460" b="0" u="none" strike="noStrike">
              <a:solidFill>
                <a:srgbClr val="000000"/>
              </a:solidFill>
              <a:effectLst/>
              <a:uFillTx/>
              <a:latin typeface="Arial"/>
            </a:endParaRPr>
          </a:p>
        </p:txBody>
      </p:sp>
      <p:sp>
        <p:nvSpPr>
          <p:cNvPr id="331" name="Shape 35"/>
          <p:cNvSpPr/>
          <p:nvPr/>
        </p:nvSpPr>
        <p:spPr>
          <a:xfrm>
            <a:off x="7845480" y="263340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332" name="Text 36"/>
          <p:cNvSpPr/>
          <p:nvPr/>
        </p:nvSpPr>
        <p:spPr>
          <a:xfrm>
            <a:off x="8010000" y="2560320"/>
            <a:ext cx="315396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460" b="0" u="none" strike="noStrike">
                <a:solidFill>
                  <a:srgbClr val="374151"/>
                </a:solidFill>
                <a:effectLst/>
                <a:uFillTx/>
                <a:latin typeface="Aptos"/>
              </a:rPr>
              <a:t>Historique des modifications</a:t>
            </a:r>
            <a:endParaRPr lang="fr-FR" sz="1460" b="0" u="none" strike="noStrike">
              <a:solidFill>
                <a:srgbClr val="000000"/>
              </a:solidFill>
              <a:effectLst/>
              <a:uFillTx/>
              <a:latin typeface="Arial"/>
            </a:endParaRPr>
          </a:p>
        </p:txBody>
      </p:sp>
      <p:sp>
        <p:nvSpPr>
          <p:cNvPr id="333" name="Shape 37"/>
          <p:cNvSpPr/>
          <p:nvPr/>
        </p:nvSpPr>
        <p:spPr>
          <a:xfrm>
            <a:off x="7845480" y="301752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334" name="Text 38"/>
          <p:cNvSpPr/>
          <p:nvPr/>
        </p:nvSpPr>
        <p:spPr>
          <a:xfrm>
            <a:off x="8010000" y="2944440"/>
            <a:ext cx="315396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460" b="0" u="none" strike="noStrike">
                <a:solidFill>
                  <a:srgbClr val="374151"/>
                </a:solidFill>
                <a:effectLst/>
                <a:uFillTx/>
                <a:latin typeface="Aptos"/>
              </a:rPr>
              <a:t>Travail simultané sans échanges par mail</a:t>
            </a:r>
            <a:endParaRPr lang="fr-FR" sz="1460" b="0" u="none" strike="noStrike">
              <a:solidFill>
                <a:srgbClr val="000000"/>
              </a:solidFill>
              <a:effectLst/>
              <a:uFillTx/>
              <a:latin typeface="Arial"/>
            </a:endParaRPr>
          </a:p>
        </p:txBody>
      </p:sp>
      <p:sp>
        <p:nvSpPr>
          <p:cNvPr id="335" name="Shape 39"/>
          <p:cNvSpPr/>
          <p:nvPr/>
        </p:nvSpPr>
        <p:spPr>
          <a:xfrm>
            <a:off x="7845480" y="340164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336" name="Text 40"/>
          <p:cNvSpPr/>
          <p:nvPr/>
        </p:nvSpPr>
        <p:spPr>
          <a:xfrm>
            <a:off x="8010000" y="3328560"/>
            <a:ext cx="315396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460" b="0" u="none" strike="noStrike">
                <a:solidFill>
                  <a:srgbClr val="374151"/>
                </a:solidFill>
                <a:effectLst/>
                <a:uFillTx/>
                <a:latin typeface="Aptos"/>
              </a:rPr>
              <a:t>Versionning des scripts SQL</a:t>
            </a:r>
            <a:endParaRPr lang="fr-FR" sz="1460" b="0" u="none" strike="noStrike">
              <a:solidFill>
                <a:srgbClr val="000000"/>
              </a:solidFill>
              <a:effectLst/>
              <a:uFillTx/>
              <a:latin typeface="Arial"/>
            </a:endParaRPr>
          </a:p>
        </p:txBody>
      </p:sp>
      <p:sp>
        <p:nvSpPr>
          <p:cNvPr id="337" name="Shape 41"/>
          <p:cNvSpPr/>
          <p:nvPr/>
        </p:nvSpPr>
        <p:spPr>
          <a:xfrm>
            <a:off x="7845480" y="378576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338" name="Text 42"/>
          <p:cNvSpPr/>
          <p:nvPr/>
        </p:nvSpPr>
        <p:spPr>
          <a:xfrm>
            <a:off x="8010000" y="3712320"/>
            <a:ext cx="315396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460" b="0" u="none" strike="noStrike">
                <a:solidFill>
                  <a:srgbClr val="374151"/>
                </a:solidFill>
                <a:effectLst/>
                <a:uFillTx/>
                <a:latin typeface="Aptos"/>
              </a:rPr>
              <a:t>Support clair pour la répartition des tâches</a:t>
            </a:r>
            <a:endParaRPr lang="fr-FR" sz="1460" b="0" u="none" strike="noStrike">
              <a:solidFill>
                <a:srgbClr val="000000"/>
              </a:solidFill>
              <a:effectLst/>
              <a:uFillTx/>
              <a:latin typeface="Arial"/>
            </a:endParaRPr>
          </a:p>
        </p:txBody>
      </p:sp>
      <p:sp>
        <p:nvSpPr>
          <p:cNvPr id="339" name="Shape 43"/>
          <p:cNvSpPr/>
          <p:nvPr/>
        </p:nvSpPr>
        <p:spPr>
          <a:xfrm>
            <a:off x="7818120" y="4526280"/>
            <a:ext cx="3245400" cy="913680"/>
          </a:xfrm>
          <a:prstGeom prst="roundRect">
            <a:avLst>
              <a:gd name="adj" fmla="val 4000"/>
            </a:avLst>
          </a:prstGeom>
          <a:solidFill>
            <a:srgbClr val="eef2ff"/>
          </a:solidFill>
          <a:ln w="12700">
            <a:solidFill>
              <a:srgbClr val="c7d2fe"/>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340" name="Text 44"/>
          <p:cNvSpPr/>
          <p:nvPr/>
        </p:nvSpPr>
        <p:spPr>
          <a:xfrm>
            <a:off x="8092440" y="4782240"/>
            <a:ext cx="2696760" cy="3193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320" b="0" u="none" strike="noStrike">
                <a:solidFill>
                  <a:srgbClr val="3730a3"/>
                </a:solidFill>
                <a:effectLst/>
                <a:uFillTx/>
                <a:latin typeface="Aptos"/>
              </a:rPr>
              <a:t>Le dépôt contient le schéma, les scripts de création, les données et le texte de présentation.</a:t>
            </a:r>
            <a:endParaRPr lang="fr-FR" sz="1320" b="0" u="none" strike="noStrike">
              <a:solidFill>
                <a:srgbClr val="000000"/>
              </a:solidFill>
              <a:effectLst/>
              <a:uFillTx/>
              <a:latin typeface="Arial"/>
            </a:endParaRPr>
          </a:p>
        </p:txBody>
      </p:sp>
      <p:sp>
        <p:nvSpPr>
          <p:cNvPr id="341" name="Text 45"/>
          <p:cNvSpPr/>
          <p:nvPr/>
        </p:nvSpPr>
        <p:spPr>
          <a:xfrm>
            <a:off x="548640" y="6519600"/>
            <a:ext cx="3839760" cy="1364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800" b="0" u="none" strike="noStrike">
                <a:solidFill>
                  <a:srgbClr val="94a3b8"/>
                </a:solidFill>
                <a:effectLst/>
                <a:uFillTx/>
                <a:latin typeface="Aptos"/>
              </a:rPr>
              <a:t>SAE 2.04 - Exploitation d'une base de données</a:t>
            </a:r>
            <a:endParaRPr lang="fr-FR" sz="800" b="0" u="none" strike="noStrike">
              <a:solidFill>
                <a:srgbClr val="000000"/>
              </a:solidFill>
              <a:effectLst/>
              <a:uFillTx/>
              <a:latin typeface="Arial"/>
            </a:endParaRPr>
          </a:p>
        </p:txBody>
      </p:sp>
      <p:sp>
        <p:nvSpPr>
          <p:cNvPr id="342" name="Text 46"/>
          <p:cNvSpPr/>
          <p:nvPr/>
        </p:nvSpPr>
        <p:spPr>
          <a:xfrm>
            <a:off x="10424160" y="6519600"/>
            <a:ext cx="1188000" cy="13644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lang="en-US" sz="800" b="0" u="none" strike="noStrike">
                <a:solidFill>
                  <a:srgbClr val="94a3b8"/>
                </a:solidFill>
                <a:effectLst/>
                <a:uFillTx/>
                <a:latin typeface="Aptos"/>
              </a:rPr>
              <a:t>Métro parisien</a:t>
            </a:r>
            <a:endParaRPr lang="fr-FR"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c"/>
        </a:solidFill>
      </p:bgPr>
    </p:bg>
    <p:spTree>
      <p:nvGrpSpPr>
        <p:cNvPr id="1" name=""/>
        <p:cNvGrpSpPr/>
        <p:nvPr/>
      </p:nvGrpSpPr>
      <p:grpSpPr>
        <a:xfrm>
          <a:off x="0" y="0"/>
          <a:ext cx="0" cy="0"/>
          <a:chOff x="0" y="0"/>
          <a:chExt cx="0" cy="0"/>
        </a:xfrm>
      </p:grpSpPr>
      <p:sp>
        <p:nvSpPr>
          <p:cNvPr id="343" name="Shape 0"/>
          <p:cNvSpPr/>
          <p:nvPr/>
        </p:nvSpPr>
        <p:spPr>
          <a:xfrm>
            <a:off x="0" y="0"/>
            <a:ext cx="12191040" cy="163800"/>
          </a:xfrm>
          <a:prstGeom prst="rect">
            <a:avLst/>
          </a:prstGeom>
          <a:solidFill>
            <a:srgbClr val="1d4ed8"/>
          </a:solidFill>
          <a:ln w="12700">
            <a:solidFill>
              <a:srgbClr val="1d4ed8"/>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344" name="Text 1"/>
          <p:cNvSpPr/>
          <p:nvPr/>
        </p:nvSpPr>
        <p:spPr>
          <a:xfrm>
            <a:off x="548640" y="347400"/>
            <a:ext cx="8046000" cy="4107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2600" b="1" u="none" strike="noStrike">
                <a:solidFill>
                  <a:srgbClr val="111827"/>
                </a:solidFill>
                <a:effectLst/>
                <a:uFillTx/>
                <a:latin typeface="Aptos Display"/>
                <a:ea typeface="Aptos Display"/>
              </a:rPr>
              <a:t>Extrait du script SQL</a:t>
            </a:r>
            <a:endParaRPr lang="fr-FR" sz="2600" b="0" u="none" strike="noStrike">
              <a:solidFill>
                <a:srgbClr val="000000"/>
              </a:solidFill>
              <a:effectLst/>
              <a:uFillTx/>
              <a:latin typeface="Arial"/>
            </a:endParaRPr>
          </a:p>
        </p:txBody>
      </p:sp>
      <p:sp>
        <p:nvSpPr>
          <p:cNvPr id="345" name="Text 2"/>
          <p:cNvSpPr/>
          <p:nvPr/>
        </p:nvSpPr>
        <p:spPr>
          <a:xfrm>
            <a:off x="548640" y="768240"/>
            <a:ext cx="7863120" cy="255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050" b="0" u="none" strike="noStrike">
                <a:solidFill>
                  <a:srgbClr val="64748b"/>
                </a:solidFill>
                <a:effectLst/>
                <a:uFillTx/>
                <a:latin typeface="Aptos"/>
                <a:ea typeface="Aptos"/>
              </a:rPr>
              <a:t>Le projet combine un script de création du modèle et un script d'insertion des données.</a:t>
            </a:r>
            <a:endParaRPr lang="fr-FR" sz="1050" b="0" u="none" strike="noStrike">
              <a:solidFill>
                <a:srgbClr val="000000"/>
              </a:solidFill>
              <a:effectLst/>
              <a:uFillTx/>
              <a:latin typeface="Arial"/>
            </a:endParaRPr>
          </a:p>
        </p:txBody>
      </p:sp>
      <p:sp>
        <p:nvSpPr>
          <p:cNvPr id="346" name="Shape 3"/>
          <p:cNvSpPr/>
          <p:nvPr/>
        </p:nvSpPr>
        <p:spPr>
          <a:xfrm>
            <a:off x="548640" y="1051560"/>
            <a:ext cx="11064240" cy="360"/>
          </a:xfrm>
          <a:prstGeom prst="line">
            <a:avLst/>
          </a:prstGeom>
          <a:ln w="12700">
            <a:solidFill>
              <a:srgbClr val="cbd5e1"/>
            </a:solidFill>
            <a:round/>
          </a:ln>
        </p:spPr>
        <p:style>
          <a:lnRef idx="0"/>
          <a:fillRef idx="0"/>
          <a:effectRef idx="0"/>
          <a:fontRef idx="minor"/>
        </p:style>
        <p:txBody>
          <a:bodyPr lIns="90000" rIns="90000" tIns="-44640" bIns="-44640" anchor="t" anchorCtr="1">
            <a:noAutofit/>
          </a:bodyPr>
          <a:p>
            <a:endParaRPr lang="fr-FR" sz="1800" b="0" u="none" strike="noStrike">
              <a:solidFill>
                <a:srgbClr val="000000"/>
              </a:solidFill>
              <a:effectLst/>
              <a:uFillTx/>
              <a:latin typeface="Arial"/>
            </a:endParaRPr>
          </a:p>
        </p:txBody>
      </p:sp>
      <p:sp>
        <p:nvSpPr>
          <p:cNvPr id="347" name="Shape 4"/>
          <p:cNvSpPr/>
          <p:nvPr/>
        </p:nvSpPr>
        <p:spPr>
          <a:xfrm>
            <a:off x="658440" y="1389960"/>
            <a:ext cx="5439960" cy="5028480"/>
          </a:xfrm>
          <a:prstGeom prst="roundRect">
            <a:avLst>
              <a:gd name="adj" fmla="val 1455"/>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348" name="Shape 5"/>
          <p:cNvSpPr/>
          <p:nvPr/>
        </p:nvSpPr>
        <p:spPr>
          <a:xfrm>
            <a:off x="6355080" y="1389960"/>
            <a:ext cx="5165640" cy="5028480"/>
          </a:xfrm>
          <a:prstGeom prst="roundRect">
            <a:avLst>
              <a:gd name="adj" fmla="val 1455"/>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349" name="Text 6"/>
          <p:cNvSpPr/>
          <p:nvPr/>
        </p:nvSpPr>
        <p:spPr>
          <a:xfrm>
            <a:off x="914400" y="1664280"/>
            <a:ext cx="2193840" cy="2005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800" b="1" u="none" strike="noStrike">
                <a:solidFill>
                  <a:srgbClr val="111827"/>
                </a:solidFill>
                <a:effectLst/>
                <a:uFillTx/>
                <a:latin typeface="Aptos"/>
              </a:rPr>
              <a:t>Création du schéma</a:t>
            </a:r>
            <a:endParaRPr lang="fr-FR" sz="1800" b="0" u="none" strike="noStrike">
              <a:solidFill>
                <a:srgbClr val="000000"/>
              </a:solidFill>
              <a:effectLst/>
              <a:uFillTx/>
              <a:latin typeface="Arial"/>
            </a:endParaRPr>
          </a:p>
        </p:txBody>
      </p:sp>
      <p:sp>
        <p:nvSpPr>
          <p:cNvPr id="350" name="Text 7"/>
          <p:cNvSpPr/>
          <p:nvPr/>
        </p:nvSpPr>
        <p:spPr>
          <a:xfrm>
            <a:off x="6602040" y="1664280"/>
            <a:ext cx="2193840" cy="2005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800" b="1" u="none" strike="noStrike">
                <a:solidFill>
                  <a:srgbClr val="111827"/>
                </a:solidFill>
                <a:effectLst/>
                <a:uFillTx/>
                <a:latin typeface="Aptos"/>
              </a:rPr>
              <a:t>Insertion des données</a:t>
            </a:r>
            <a:endParaRPr lang="fr-FR" sz="1800" b="0" u="none" strike="noStrike">
              <a:solidFill>
                <a:srgbClr val="000000"/>
              </a:solidFill>
              <a:effectLst/>
              <a:uFillTx/>
              <a:latin typeface="Arial"/>
            </a:endParaRPr>
          </a:p>
        </p:txBody>
      </p:sp>
      <p:sp>
        <p:nvSpPr>
          <p:cNvPr id="351" name="Text 8"/>
          <p:cNvSpPr/>
          <p:nvPr/>
        </p:nvSpPr>
        <p:spPr>
          <a:xfrm>
            <a:off x="932760" y="2011680"/>
            <a:ext cx="4845600" cy="4159800"/>
          </a:xfrm>
          <a:prstGeom prst="rect">
            <a:avLst/>
          </a:prstGeom>
          <a:noFill/>
          <a:ln w="0">
            <a:noFill/>
          </a:ln>
        </p:spPr>
        <p:style>
          <a:lnRef idx="0"/>
          <a:fillRef idx="0"/>
          <a:effectRef idx="0"/>
          <a:fontRef idx="minor"/>
        </p:style>
        <p:txBody>
          <a:bodyPr lIns="1080" rIns="1080" tIns="1080" bIns="1080" anchor="ctr">
            <a:noAutofit/>
          </a:bodyPr>
          <a:p>
            <a:pPr>
              <a:lnSpc>
                <a:spcPct val="100000"/>
              </a:lnSpc>
            </a:pPr>
            <a:r>
              <a:rPr lang="en-US" sz="1400" b="0" u="none" strike="noStrike">
                <a:solidFill>
                  <a:srgbClr val="8292a2"/>
                </a:solidFill>
                <a:effectLst/>
                <a:uFillTx/>
                <a:latin typeface="Consolas"/>
                <a:ea typeface="Consolas"/>
              </a:rPr>
              <a:t> 1 </a:t>
            </a:r>
            <a:r>
              <a:rPr lang="en-US" sz="1400" b="0" u="none" strike="noStrike">
                <a:solidFill>
                  <a:srgbClr val="66d9ef"/>
                </a:solidFill>
                <a:effectLst/>
                <a:uFillTx/>
                <a:latin typeface="Consolas"/>
                <a:ea typeface="Consolas"/>
              </a:rPr>
              <a:t>CREATE</a:t>
            </a:r>
            <a:r>
              <a:rPr lang="en-US" sz="1400" b="0" u="none" strike="noStrike">
                <a:solidFill>
                  <a:srgbClr val="ffffff"/>
                </a:solidFill>
                <a:effectLst/>
                <a:uFillTx/>
                <a:latin typeface="Consolas"/>
                <a:ea typeface="Consolas"/>
              </a:rPr>
              <a:t> </a:t>
            </a:r>
            <a:r>
              <a:rPr lang="en-US" sz="1400" b="0" u="none" strike="noStrike">
                <a:solidFill>
                  <a:srgbClr val="66d9ef"/>
                </a:solidFill>
                <a:effectLst/>
                <a:uFillTx/>
                <a:latin typeface="Consolas"/>
                <a:ea typeface="Consolas"/>
              </a:rPr>
              <a:t>TABLE</a:t>
            </a:r>
            <a:r>
              <a:rPr lang="en-US" sz="1400" b="0" u="none" strike="noStrike">
                <a:solidFill>
                  <a:srgbClr val="ffffff"/>
                </a:solidFill>
                <a:effectLst/>
                <a:uFillTx/>
                <a:latin typeface="Consolas"/>
                <a:ea typeface="Consolas"/>
              </a:rPr>
              <a:t> trajet </a:t>
            </a:r>
            <a:r>
              <a:rPr lang="en-US" sz="1400" b="0" u="none" strike="noStrike">
                <a:solidFill>
                  <a:srgbClr val="f8f8f2"/>
                </a:solidFill>
                <a:effectLst/>
                <a:uFillTx/>
                <a:latin typeface="Consolas"/>
                <a:ea typeface="Consolas"/>
              </a:rPr>
              <a:t>(</a:t>
            </a:r>
            <a:endParaRPr lang="fr-FR" sz="1400" b="0" u="none" strike="noStrike">
              <a:solidFill>
                <a:srgbClr val="000000"/>
              </a:solidFill>
              <a:effectLst/>
              <a:uFillTx/>
              <a:latin typeface="Arial"/>
            </a:endParaRPr>
          </a:p>
          <a:p>
            <a:pPr>
              <a:lnSpc>
                <a:spcPct val="100000"/>
              </a:lnSpc>
            </a:pPr>
            <a:r>
              <a:rPr lang="en-US" sz="1400" b="0" u="none" strike="noStrike">
                <a:solidFill>
                  <a:srgbClr val="8292a2"/>
                </a:solidFill>
                <a:effectLst/>
                <a:uFillTx/>
                <a:latin typeface="Consolas"/>
                <a:ea typeface="Consolas"/>
              </a:rPr>
              <a:t> 2 </a:t>
            </a:r>
            <a:r>
              <a:rPr lang="en-US" sz="1400" b="0" u="none" strike="noStrike">
                <a:solidFill>
                  <a:srgbClr val="ffffff"/>
                </a:solidFill>
                <a:effectLst/>
                <a:uFillTx/>
                <a:latin typeface="Consolas"/>
                <a:ea typeface="Consolas"/>
              </a:rPr>
              <a:t>  trajet_id </a:t>
            </a:r>
            <a:r>
              <a:rPr lang="en-US" sz="1400" b="0" u="none" strike="noStrike">
                <a:solidFill>
                  <a:srgbClr val="66d9ef"/>
                </a:solidFill>
                <a:effectLst/>
                <a:uFillTx/>
                <a:latin typeface="Consolas"/>
                <a:ea typeface="Consolas"/>
              </a:rPr>
              <a:t>INT</a:t>
            </a:r>
            <a:r>
              <a:rPr lang="en-US" sz="1400" b="0" u="none" strike="noStrike">
                <a:solidFill>
                  <a:srgbClr val="ffffff"/>
                </a:solidFill>
                <a:effectLst/>
                <a:uFillTx/>
                <a:latin typeface="Consolas"/>
                <a:ea typeface="Consolas"/>
              </a:rPr>
              <a:t> </a:t>
            </a:r>
            <a:r>
              <a:rPr lang="en-US" sz="1400" b="0" u="none" strike="noStrike">
                <a:solidFill>
                  <a:srgbClr val="f8f8f2"/>
                </a:solidFill>
                <a:effectLst/>
                <a:uFillTx/>
                <a:latin typeface="Consolas"/>
                <a:ea typeface="Consolas"/>
              </a:rPr>
              <a:t>NOT</a:t>
            </a:r>
            <a:r>
              <a:rPr lang="en-US" sz="1400" b="0" u="none" strike="noStrike">
                <a:solidFill>
                  <a:srgbClr val="ffffff"/>
                </a:solidFill>
                <a:effectLst/>
                <a:uFillTx/>
                <a:latin typeface="Consolas"/>
                <a:ea typeface="Consolas"/>
              </a:rPr>
              <a:t> </a:t>
            </a:r>
            <a:r>
              <a:rPr lang="en-US" sz="1400" b="0" u="none" strike="noStrike">
                <a:solidFill>
                  <a:srgbClr val="ae81ff"/>
                </a:solidFill>
                <a:effectLst/>
                <a:uFillTx/>
                <a:latin typeface="Consolas"/>
                <a:ea typeface="Consolas"/>
              </a:rPr>
              <a:t>NULL</a:t>
            </a:r>
            <a:r>
              <a:rPr lang="en-US" sz="1400" b="0" u="none" strike="noStrike">
                <a:solidFill>
                  <a:srgbClr val="ffffff"/>
                </a:solidFill>
                <a:effectLst/>
                <a:uFillTx/>
                <a:latin typeface="Consolas"/>
                <a:ea typeface="Consolas"/>
              </a:rPr>
              <a:t> </a:t>
            </a:r>
            <a:r>
              <a:rPr lang="en-US" sz="1400" b="0" u="none" strike="noStrike">
                <a:solidFill>
                  <a:srgbClr val="66d9ef"/>
                </a:solidFill>
                <a:effectLst/>
                <a:uFillTx/>
                <a:latin typeface="Consolas"/>
                <a:ea typeface="Consolas"/>
              </a:rPr>
              <a:t>AUTO_INCREMENT</a:t>
            </a:r>
            <a:r>
              <a:rPr lang="en-US" sz="1400" b="0" u="none" strike="noStrike">
                <a:solidFill>
                  <a:srgbClr val="f8f8f2"/>
                </a:solidFill>
                <a:effectLst/>
                <a:uFillTx/>
                <a:latin typeface="Consolas"/>
                <a:ea typeface="Consolas"/>
              </a:rPr>
              <a:t>,</a:t>
            </a:r>
            <a:endParaRPr lang="fr-FR" sz="1400" b="0" u="none" strike="noStrike">
              <a:solidFill>
                <a:srgbClr val="000000"/>
              </a:solidFill>
              <a:effectLst/>
              <a:uFillTx/>
              <a:latin typeface="Arial"/>
            </a:endParaRPr>
          </a:p>
          <a:p>
            <a:pPr>
              <a:lnSpc>
                <a:spcPct val="100000"/>
              </a:lnSpc>
            </a:pPr>
            <a:r>
              <a:rPr lang="en-US" sz="1400" b="0" u="none" strike="noStrike">
                <a:solidFill>
                  <a:srgbClr val="8292a2"/>
                </a:solidFill>
                <a:effectLst/>
                <a:uFillTx/>
                <a:latin typeface="Consolas"/>
                <a:ea typeface="Consolas"/>
              </a:rPr>
              <a:t> 3 </a:t>
            </a:r>
            <a:r>
              <a:rPr lang="en-US" sz="1400" b="0" u="none" strike="noStrike">
                <a:solidFill>
                  <a:srgbClr val="ffffff"/>
                </a:solidFill>
                <a:effectLst/>
                <a:uFillTx/>
                <a:latin typeface="Consolas"/>
                <a:ea typeface="Consolas"/>
              </a:rPr>
              <a:t>  ligne_id </a:t>
            </a:r>
            <a:r>
              <a:rPr lang="en-US" sz="1400" b="0" u="none" strike="noStrike">
                <a:solidFill>
                  <a:srgbClr val="66d9ef"/>
                </a:solidFill>
                <a:effectLst/>
                <a:uFillTx/>
                <a:latin typeface="Consolas"/>
                <a:ea typeface="Consolas"/>
              </a:rPr>
              <a:t>INT</a:t>
            </a:r>
            <a:r>
              <a:rPr lang="en-US" sz="1400" b="0" u="none" strike="noStrike">
                <a:solidFill>
                  <a:srgbClr val="ffffff"/>
                </a:solidFill>
                <a:effectLst/>
                <a:uFillTx/>
                <a:latin typeface="Consolas"/>
                <a:ea typeface="Consolas"/>
              </a:rPr>
              <a:t> </a:t>
            </a:r>
            <a:r>
              <a:rPr lang="en-US" sz="1400" b="0" u="none" strike="noStrike">
                <a:solidFill>
                  <a:srgbClr val="f8f8f2"/>
                </a:solidFill>
                <a:effectLst/>
                <a:uFillTx/>
                <a:latin typeface="Consolas"/>
                <a:ea typeface="Consolas"/>
              </a:rPr>
              <a:t>NOT</a:t>
            </a:r>
            <a:r>
              <a:rPr lang="en-US" sz="1400" b="0" u="none" strike="noStrike">
                <a:solidFill>
                  <a:srgbClr val="ffffff"/>
                </a:solidFill>
                <a:effectLst/>
                <a:uFillTx/>
                <a:latin typeface="Consolas"/>
                <a:ea typeface="Consolas"/>
              </a:rPr>
              <a:t> </a:t>
            </a:r>
            <a:r>
              <a:rPr lang="en-US" sz="1400" b="0" u="none" strike="noStrike">
                <a:solidFill>
                  <a:srgbClr val="ae81ff"/>
                </a:solidFill>
                <a:effectLst/>
                <a:uFillTx/>
                <a:latin typeface="Consolas"/>
                <a:ea typeface="Consolas"/>
              </a:rPr>
              <a:t>NULL</a:t>
            </a:r>
            <a:r>
              <a:rPr lang="en-US" sz="1400" b="0" u="none" strike="noStrike">
                <a:solidFill>
                  <a:srgbClr val="f8f8f2"/>
                </a:solidFill>
                <a:effectLst/>
                <a:uFillTx/>
                <a:latin typeface="Consolas"/>
                <a:ea typeface="Consolas"/>
              </a:rPr>
              <a:t>,</a:t>
            </a:r>
            <a:endParaRPr lang="fr-FR" sz="1400" b="0" u="none" strike="noStrike">
              <a:solidFill>
                <a:srgbClr val="000000"/>
              </a:solidFill>
              <a:effectLst/>
              <a:uFillTx/>
              <a:latin typeface="Arial"/>
            </a:endParaRPr>
          </a:p>
          <a:p>
            <a:pPr>
              <a:lnSpc>
                <a:spcPct val="100000"/>
              </a:lnSpc>
            </a:pPr>
            <a:r>
              <a:rPr lang="en-US" sz="1400" b="0" u="none" strike="noStrike">
                <a:solidFill>
                  <a:srgbClr val="8292a2"/>
                </a:solidFill>
                <a:effectLst/>
                <a:uFillTx/>
                <a:latin typeface="Consolas"/>
                <a:ea typeface="Consolas"/>
              </a:rPr>
              <a:t> 4 </a:t>
            </a:r>
            <a:r>
              <a:rPr lang="en-US" sz="1400" b="0" u="none" strike="noStrike">
                <a:solidFill>
                  <a:srgbClr val="ffffff"/>
                </a:solidFill>
                <a:effectLst/>
                <a:uFillTx/>
                <a:latin typeface="Consolas"/>
                <a:ea typeface="Consolas"/>
              </a:rPr>
              <a:t>  heure_depart </a:t>
            </a:r>
            <a:r>
              <a:rPr lang="en-US" sz="1400" b="0" u="none" strike="noStrike">
                <a:solidFill>
                  <a:srgbClr val="66d9ef"/>
                </a:solidFill>
                <a:effectLst/>
                <a:uFillTx/>
                <a:latin typeface="Consolas"/>
                <a:ea typeface="Consolas"/>
              </a:rPr>
              <a:t>TIME</a:t>
            </a:r>
            <a:r>
              <a:rPr lang="en-US" sz="1400" b="0" u="none" strike="noStrike">
                <a:solidFill>
                  <a:srgbClr val="ffffff"/>
                </a:solidFill>
                <a:effectLst/>
                <a:uFillTx/>
                <a:latin typeface="Consolas"/>
                <a:ea typeface="Consolas"/>
              </a:rPr>
              <a:t> </a:t>
            </a:r>
            <a:r>
              <a:rPr lang="en-US" sz="1400" b="0" u="none" strike="noStrike">
                <a:solidFill>
                  <a:srgbClr val="f8f8f2"/>
                </a:solidFill>
                <a:effectLst/>
                <a:uFillTx/>
                <a:latin typeface="Consolas"/>
                <a:ea typeface="Consolas"/>
              </a:rPr>
              <a:t>NOT</a:t>
            </a:r>
            <a:r>
              <a:rPr lang="en-US" sz="1400" b="0" u="none" strike="noStrike">
                <a:solidFill>
                  <a:srgbClr val="ffffff"/>
                </a:solidFill>
                <a:effectLst/>
                <a:uFillTx/>
                <a:latin typeface="Consolas"/>
                <a:ea typeface="Consolas"/>
              </a:rPr>
              <a:t> </a:t>
            </a:r>
            <a:r>
              <a:rPr lang="en-US" sz="1400" b="0" u="none" strike="noStrike">
                <a:solidFill>
                  <a:srgbClr val="ae81ff"/>
                </a:solidFill>
                <a:effectLst/>
                <a:uFillTx/>
                <a:latin typeface="Consolas"/>
                <a:ea typeface="Consolas"/>
              </a:rPr>
              <a:t>NULL</a:t>
            </a:r>
            <a:r>
              <a:rPr lang="en-US" sz="1400" b="0" u="none" strike="noStrike">
                <a:solidFill>
                  <a:srgbClr val="f8f8f2"/>
                </a:solidFill>
                <a:effectLst/>
                <a:uFillTx/>
                <a:latin typeface="Consolas"/>
                <a:ea typeface="Consolas"/>
              </a:rPr>
              <a:t>,</a:t>
            </a:r>
            <a:endParaRPr lang="fr-FR" sz="1400" b="0" u="none" strike="noStrike">
              <a:solidFill>
                <a:srgbClr val="000000"/>
              </a:solidFill>
              <a:effectLst/>
              <a:uFillTx/>
              <a:latin typeface="Arial"/>
            </a:endParaRPr>
          </a:p>
          <a:p>
            <a:pPr>
              <a:lnSpc>
                <a:spcPct val="100000"/>
              </a:lnSpc>
            </a:pPr>
            <a:r>
              <a:rPr lang="en-US" sz="1400" b="0" u="none" strike="noStrike">
                <a:solidFill>
                  <a:srgbClr val="8292a2"/>
                </a:solidFill>
                <a:effectLst/>
                <a:uFillTx/>
                <a:latin typeface="Consolas"/>
                <a:ea typeface="Consolas"/>
              </a:rPr>
              <a:t> 5 </a:t>
            </a:r>
            <a:r>
              <a:rPr lang="en-US" sz="1400" b="0" u="none" strike="noStrike">
                <a:solidFill>
                  <a:srgbClr val="ffffff"/>
                </a:solidFill>
                <a:effectLst/>
                <a:uFillTx/>
                <a:latin typeface="Consolas"/>
                <a:ea typeface="Consolas"/>
              </a:rPr>
              <a:t>  heure_arrivee </a:t>
            </a:r>
            <a:r>
              <a:rPr lang="en-US" sz="1400" b="0" u="none" strike="noStrike">
                <a:solidFill>
                  <a:srgbClr val="66d9ef"/>
                </a:solidFill>
                <a:effectLst/>
                <a:uFillTx/>
                <a:latin typeface="Consolas"/>
                <a:ea typeface="Consolas"/>
              </a:rPr>
              <a:t>TIME</a:t>
            </a:r>
            <a:r>
              <a:rPr lang="en-US" sz="1400" b="0" u="none" strike="noStrike">
                <a:solidFill>
                  <a:srgbClr val="ffffff"/>
                </a:solidFill>
                <a:effectLst/>
                <a:uFillTx/>
                <a:latin typeface="Consolas"/>
                <a:ea typeface="Consolas"/>
              </a:rPr>
              <a:t> </a:t>
            </a:r>
            <a:r>
              <a:rPr lang="en-US" sz="1400" b="0" u="none" strike="noStrike">
                <a:solidFill>
                  <a:srgbClr val="f8f8f2"/>
                </a:solidFill>
                <a:effectLst/>
                <a:uFillTx/>
                <a:latin typeface="Consolas"/>
                <a:ea typeface="Consolas"/>
              </a:rPr>
              <a:t>NOT</a:t>
            </a:r>
            <a:r>
              <a:rPr lang="en-US" sz="1400" b="0" u="none" strike="noStrike">
                <a:solidFill>
                  <a:srgbClr val="ffffff"/>
                </a:solidFill>
                <a:effectLst/>
                <a:uFillTx/>
                <a:latin typeface="Consolas"/>
                <a:ea typeface="Consolas"/>
              </a:rPr>
              <a:t> </a:t>
            </a:r>
            <a:r>
              <a:rPr lang="en-US" sz="1400" b="0" u="none" strike="noStrike">
                <a:solidFill>
                  <a:srgbClr val="ae81ff"/>
                </a:solidFill>
                <a:effectLst/>
                <a:uFillTx/>
                <a:latin typeface="Consolas"/>
                <a:ea typeface="Consolas"/>
              </a:rPr>
              <a:t>NULL</a:t>
            </a:r>
            <a:r>
              <a:rPr lang="en-US" sz="1400" b="0" u="none" strike="noStrike">
                <a:solidFill>
                  <a:srgbClr val="f8f8f2"/>
                </a:solidFill>
                <a:effectLst/>
                <a:uFillTx/>
                <a:latin typeface="Consolas"/>
                <a:ea typeface="Consolas"/>
              </a:rPr>
              <a:t>,</a:t>
            </a:r>
            <a:endParaRPr lang="fr-FR" sz="1400" b="0" u="none" strike="noStrike">
              <a:solidFill>
                <a:srgbClr val="000000"/>
              </a:solidFill>
              <a:effectLst/>
              <a:uFillTx/>
              <a:latin typeface="Arial"/>
            </a:endParaRPr>
          </a:p>
          <a:p>
            <a:pPr>
              <a:lnSpc>
                <a:spcPct val="100000"/>
              </a:lnSpc>
            </a:pPr>
            <a:r>
              <a:rPr lang="en-US" sz="1400" b="0" u="none" strike="noStrike">
                <a:solidFill>
                  <a:srgbClr val="8292a2"/>
                </a:solidFill>
                <a:effectLst/>
                <a:uFillTx/>
                <a:latin typeface="Consolas"/>
                <a:ea typeface="Consolas"/>
              </a:rPr>
              <a:t> 6 </a:t>
            </a:r>
            <a:r>
              <a:rPr lang="en-US" sz="1400" b="0" u="none" strike="noStrike">
                <a:solidFill>
                  <a:srgbClr val="ffffff"/>
                </a:solidFill>
                <a:effectLst/>
                <a:uFillTx/>
                <a:latin typeface="Consolas"/>
                <a:ea typeface="Consolas"/>
              </a:rPr>
              <a:t>  direction </a:t>
            </a:r>
            <a:r>
              <a:rPr lang="en-US" sz="1400" b="0" u="none" strike="noStrike">
                <a:solidFill>
                  <a:srgbClr val="66d9ef"/>
                </a:solidFill>
                <a:effectLst/>
                <a:uFillTx/>
                <a:latin typeface="Consolas"/>
                <a:ea typeface="Consolas"/>
              </a:rPr>
              <a:t>VARCHAR</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100</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 </a:t>
            </a:r>
            <a:r>
              <a:rPr lang="en-US" sz="1400" b="0" u="none" strike="noStrike">
                <a:solidFill>
                  <a:srgbClr val="f8f8f2"/>
                </a:solidFill>
                <a:effectLst/>
                <a:uFillTx/>
                <a:latin typeface="Consolas"/>
                <a:ea typeface="Consolas"/>
              </a:rPr>
              <a:t>NOT</a:t>
            </a:r>
            <a:r>
              <a:rPr lang="en-US" sz="1400" b="0" u="none" strike="noStrike">
                <a:solidFill>
                  <a:srgbClr val="ffffff"/>
                </a:solidFill>
                <a:effectLst/>
                <a:uFillTx/>
                <a:latin typeface="Consolas"/>
                <a:ea typeface="Consolas"/>
              </a:rPr>
              <a:t> </a:t>
            </a:r>
            <a:r>
              <a:rPr lang="en-US" sz="1400" b="0" u="none" strike="noStrike">
                <a:solidFill>
                  <a:srgbClr val="ae81ff"/>
                </a:solidFill>
                <a:effectLst/>
                <a:uFillTx/>
                <a:latin typeface="Consolas"/>
                <a:ea typeface="Consolas"/>
              </a:rPr>
              <a:t>NULL</a:t>
            </a:r>
            <a:r>
              <a:rPr lang="en-US" sz="1400" b="0" u="none" strike="noStrike">
                <a:solidFill>
                  <a:srgbClr val="f8f8f2"/>
                </a:solidFill>
                <a:effectLst/>
                <a:uFillTx/>
                <a:latin typeface="Consolas"/>
                <a:ea typeface="Consolas"/>
              </a:rPr>
              <a:t>,</a:t>
            </a:r>
            <a:endParaRPr lang="fr-FR" sz="1400" b="0" u="none" strike="noStrike">
              <a:solidFill>
                <a:srgbClr val="000000"/>
              </a:solidFill>
              <a:effectLst/>
              <a:uFillTx/>
              <a:latin typeface="Arial"/>
            </a:endParaRPr>
          </a:p>
          <a:p>
            <a:pPr>
              <a:lnSpc>
                <a:spcPct val="100000"/>
              </a:lnSpc>
            </a:pPr>
            <a:r>
              <a:rPr lang="en-US" sz="1400" b="0" u="none" strike="noStrike">
                <a:solidFill>
                  <a:srgbClr val="8292a2"/>
                </a:solidFill>
                <a:effectLst/>
                <a:uFillTx/>
                <a:latin typeface="Consolas"/>
                <a:ea typeface="Consolas"/>
              </a:rPr>
              <a:t> 7 </a:t>
            </a:r>
            <a:r>
              <a:rPr lang="en-US" sz="1400" b="0" u="none" strike="noStrike">
                <a:solidFill>
                  <a:srgbClr val="ffffff"/>
                </a:solidFill>
                <a:effectLst/>
                <a:uFillTx/>
                <a:latin typeface="Consolas"/>
                <a:ea typeface="Consolas"/>
              </a:rPr>
              <a:t>  sens </a:t>
            </a:r>
            <a:r>
              <a:rPr lang="en-US" sz="1400" b="0" u="none" strike="noStrike">
                <a:solidFill>
                  <a:srgbClr val="66d9ef"/>
                </a:solidFill>
                <a:effectLst/>
                <a:uFillTx/>
                <a:latin typeface="Consolas"/>
                <a:ea typeface="Consolas"/>
              </a:rPr>
              <a:t>TINYINT</a:t>
            </a:r>
            <a:r>
              <a:rPr lang="en-US" sz="1400" b="0" u="none" strike="noStrike">
                <a:solidFill>
                  <a:srgbClr val="ffffff"/>
                </a:solidFill>
                <a:effectLst/>
                <a:uFillTx/>
                <a:latin typeface="Consolas"/>
                <a:ea typeface="Consolas"/>
              </a:rPr>
              <a:t> </a:t>
            </a:r>
            <a:r>
              <a:rPr lang="en-US" sz="1400" b="0" u="none" strike="noStrike">
                <a:solidFill>
                  <a:srgbClr val="f8f8f2"/>
                </a:solidFill>
                <a:effectLst/>
                <a:uFillTx/>
                <a:latin typeface="Consolas"/>
                <a:ea typeface="Consolas"/>
              </a:rPr>
              <a:t>NOT</a:t>
            </a:r>
            <a:r>
              <a:rPr lang="en-US" sz="1400" b="0" u="none" strike="noStrike">
                <a:solidFill>
                  <a:srgbClr val="ffffff"/>
                </a:solidFill>
                <a:effectLst/>
                <a:uFillTx/>
                <a:latin typeface="Consolas"/>
                <a:ea typeface="Consolas"/>
              </a:rPr>
              <a:t> </a:t>
            </a:r>
            <a:r>
              <a:rPr lang="en-US" sz="1400" b="0" u="none" strike="noStrike">
                <a:solidFill>
                  <a:srgbClr val="ae81ff"/>
                </a:solidFill>
                <a:effectLst/>
                <a:uFillTx/>
                <a:latin typeface="Consolas"/>
                <a:ea typeface="Consolas"/>
              </a:rPr>
              <a:t>NULL</a:t>
            </a:r>
            <a:r>
              <a:rPr lang="en-US" sz="1400" b="0" u="none" strike="noStrike">
                <a:solidFill>
                  <a:srgbClr val="f8f8f2"/>
                </a:solidFill>
                <a:effectLst/>
                <a:uFillTx/>
                <a:latin typeface="Consolas"/>
                <a:ea typeface="Consolas"/>
              </a:rPr>
              <a:t>,</a:t>
            </a:r>
            <a:endParaRPr lang="fr-FR" sz="1400" b="0" u="none" strike="noStrike">
              <a:solidFill>
                <a:srgbClr val="000000"/>
              </a:solidFill>
              <a:effectLst/>
              <a:uFillTx/>
              <a:latin typeface="Arial"/>
            </a:endParaRPr>
          </a:p>
          <a:p>
            <a:pPr>
              <a:lnSpc>
                <a:spcPct val="100000"/>
              </a:lnSpc>
            </a:pPr>
            <a:r>
              <a:rPr lang="en-US" sz="1400" b="0" u="none" strike="noStrike">
                <a:solidFill>
                  <a:srgbClr val="8292a2"/>
                </a:solidFill>
                <a:effectLst/>
                <a:uFillTx/>
                <a:latin typeface="Consolas"/>
                <a:ea typeface="Consolas"/>
              </a:rPr>
              <a:t> 8 </a:t>
            </a:r>
            <a:r>
              <a:rPr lang="en-US" sz="1400" b="0" u="none" strike="noStrike">
                <a:solidFill>
                  <a:srgbClr val="ffffff"/>
                </a:solidFill>
                <a:effectLst/>
                <a:uFillTx/>
                <a:latin typeface="Consolas"/>
                <a:ea typeface="Consolas"/>
              </a:rPr>
              <a:t>  </a:t>
            </a:r>
            <a:r>
              <a:rPr lang="en-US" sz="1400" b="0" u="none" strike="noStrike">
                <a:solidFill>
                  <a:srgbClr val="66d9ef"/>
                </a:solidFill>
                <a:effectLst/>
                <a:uFillTx/>
                <a:latin typeface="Consolas"/>
                <a:ea typeface="Consolas"/>
              </a:rPr>
              <a:t>CONSTRAINT</a:t>
            </a:r>
            <a:r>
              <a:rPr lang="en-US" sz="1400" b="0" u="none" strike="noStrike">
                <a:solidFill>
                  <a:srgbClr val="ffffff"/>
                </a:solidFill>
                <a:effectLst/>
                <a:uFillTx/>
                <a:latin typeface="Consolas"/>
                <a:ea typeface="Consolas"/>
              </a:rPr>
              <a:t> pk_trajet </a:t>
            </a:r>
            <a:r>
              <a:rPr lang="en-US" sz="1400" b="0" u="none" strike="noStrike">
                <a:solidFill>
                  <a:srgbClr val="66d9ef"/>
                </a:solidFill>
                <a:effectLst/>
                <a:uFillTx/>
                <a:latin typeface="Consolas"/>
                <a:ea typeface="Consolas"/>
              </a:rPr>
              <a:t>PRIMARY</a:t>
            </a:r>
            <a:r>
              <a:rPr lang="en-US" sz="1400" b="0" u="none" strike="noStrike">
                <a:solidFill>
                  <a:srgbClr val="ffffff"/>
                </a:solidFill>
                <a:effectLst/>
                <a:uFillTx/>
                <a:latin typeface="Consolas"/>
                <a:ea typeface="Consolas"/>
              </a:rPr>
              <a:t> </a:t>
            </a:r>
            <a:r>
              <a:rPr lang="en-US" sz="1400" b="0" u="none" strike="noStrike">
                <a:solidFill>
                  <a:srgbClr val="66d9ef"/>
                </a:solidFill>
                <a:effectLst/>
                <a:uFillTx/>
                <a:latin typeface="Consolas"/>
                <a:ea typeface="Consolas"/>
              </a:rPr>
              <a:t>KEY</a:t>
            </a:r>
            <a:r>
              <a:rPr lang="en-US" sz="1400" b="0" u="none" strike="noStrike">
                <a:solidFill>
                  <a:srgbClr val="ffffff"/>
                </a:solidFill>
                <a:effectLst/>
                <a:uFillTx/>
                <a:latin typeface="Consolas"/>
                <a:ea typeface="Consolas"/>
              </a:rPr>
              <a:t> </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trajet_id</a:t>
            </a:r>
            <a:r>
              <a:rPr lang="en-US" sz="1400" b="0" u="none" strike="noStrike">
                <a:solidFill>
                  <a:srgbClr val="f8f8f2"/>
                </a:solidFill>
                <a:effectLst/>
                <a:uFillTx/>
                <a:latin typeface="Consolas"/>
                <a:ea typeface="Consolas"/>
              </a:rPr>
              <a:t>),</a:t>
            </a:r>
            <a:endParaRPr lang="fr-FR" sz="1400" b="0" u="none" strike="noStrike">
              <a:solidFill>
                <a:srgbClr val="000000"/>
              </a:solidFill>
              <a:effectLst/>
              <a:uFillTx/>
              <a:latin typeface="Arial"/>
            </a:endParaRPr>
          </a:p>
          <a:p>
            <a:pPr>
              <a:lnSpc>
                <a:spcPct val="100000"/>
              </a:lnSpc>
            </a:pPr>
            <a:r>
              <a:rPr lang="en-US" sz="1400" b="0" u="none" strike="noStrike">
                <a:solidFill>
                  <a:srgbClr val="8292a2"/>
                </a:solidFill>
                <a:effectLst/>
                <a:uFillTx/>
                <a:latin typeface="Consolas"/>
                <a:ea typeface="Consolas"/>
              </a:rPr>
              <a:t> 9 </a:t>
            </a:r>
            <a:r>
              <a:rPr lang="en-US" sz="1400" b="0" u="none" strike="noStrike">
                <a:solidFill>
                  <a:srgbClr val="ffffff"/>
                </a:solidFill>
                <a:effectLst/>
                <a:uFillTx/>
                <a:latin typeface="Consolas"/>
                <a:ea typeface="Consolas"/>
              </a:rPr>
              <a:t>  </a:t>
            </a:r>
            <a:r>
              <a:rPr lang="en-US" sz="1400" b="0" u="none" strike="noStrike">
                <a:solidFill>
                  <a:srgbClr val="66d9ef"/>
                </a:solidFill>
                <a:effectLst/>
                <a:uFillTx/>
                <a:latin typeface="Consolas"/>
                <a:ea typeface="Consolas"/>
              </a:rPr>
              <a:t>CONSTRAINT</a:t>
            </a:r>
            <a:r>
              <a:rPr lang="en-US" sz="1400" b="0" u="none" strike="noStrike">
                <a:solidFill>
                  <a:srgbClr val="ffffff"/>
                </a:solidFill>
                <a:effectLst/>
                <a:uFillTx/>
                <a:latin typeface="Consolas"/>
                <a:ea typeface="Consolas"/>
              </a:rPr>
              <a:t> fk_trajet_ligne </a:t>
            </a:r>
            <a:r>
              <a:rPr lang="en-US" sz="1400" b="0" u="none" strike="noStrike">
                <a:solidFill>
                  <a:srgbClr val="66d9ef"/>
                </a:solidFill>
                <a:effectLst/>
                <a:uFillTx/>
                <a:latin typeface="Consolas"/>
                <a:ea typeface="Consolas"/>
              </a:rPr>
              <a:t>FOREIGN</a:t>
            </a:r>
            <a:r>
              <a:rPr lang="en-US" sz="1400" b="0" u="none" strike="noStrike">
                <a:solidFill>
                  <a:srgbClr val="ffffff"/>
                </a:solidFill>
                <a:effectLst/>
                <a:uFillTx/>
                <a:latin typeface="Consolas"/>
                <a:ea typeface="Consolas"/>
              </a:rPr>
              <a:t> </a:t>
            </a:r>
            <a:r>
              <a:rPr lang="en-US" sz="1400" b="0" u="none" strike="noStrike">
                <a:solidFill>
                  <a:srgbClr val="66d9ef"/>
                </a:solidFill>
                <a:effectLst/>
                <a:uFillTx/>
                <a:latin typeface="Consolas"/>
                <a:ea typeface="Consolas"/>
              </a:rPr>
              <a:t>KEY</a:t>
            </a:r>
            <a:r>
              <a:rPr lang="en-US" sz="1400" b="0" u="none" strike="noStrike">
                <a:solidFill>
                  <a:srgbClr val="ffffff"/>
                </a:solidFill>
                <a:effectLst/>
                <a:uFillTx/>
                <a:latin typeface="Consolas"/>
                <a:ea typeface="Consolas"/>
              </a:rPr>
              <a:t> </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ligne_id</a:t>
            </a:r>
            <a:r>
              <a:rPr lang="en-US" sz="1400" b="0" u="none" strike="noStrike">
                <a:solidFill>
                  <a:srgbClr val="f8f8f2"/>
                </a:solidFill>
                <a:effectLst/>
                <a:uFillTx/>
                <a:latin typeface="Consolas"/>
                <a:ea typeface="Consolas"/>
              </a:rPr>
              <a:t>)</a:t>
            </a:r>
            <a:endParaRPr lang="fr-FR" sz="1400" b="0" u="none" strike="noStrike">
              <a:solidFill>
                <a:srgbClr val="000000"/>
              </a:solidFill>
              <a:effectLst/>
              <a:uFillTx/>
              <a:latin typeface="Arial"/>
            </a:endParaRPr>
          </a:p>
          <a:p>
            <a:pPr>
              <a:lnSpc>
                <a:spcPct val="100000"/>
              </a:lnSpc>
            </a:pPr>
            <a:r>
              <a:rPr lang="en-US" sz="1400" b="0" u="none" strike="noStrike">
                <a:solidFill>
                  <a:srgbClr val="8292a2"/>
                </a:solidFill>
                <a:effectLst/>
                <a:uFillTx/>
                <a:latin typeface="Consolas"/>
                <a:ea typeface="Consolas"/>
              </a:rPr>
              <a:t>10 </a:t>
            </a:r>
            <a:r>
              <a:rPr lang="en-US" sz="1400" b="0" u="none" strike="noStrike">
                <a:solidFill>
                  <a:srgbClr val="ffffff"/>
                </a:solidFill>
                <a:effectLst/>
                <a:uFillTx/>
                <a:latin typeface="Consolas"/>
                <a:ea typeface="Consolas"/>
              </a:rPr>
              <a:t>    </a:t>
            </a:r>
            <a:r>
              <a:rPr lang="en-US" sz="1400" b="0" u="none" strike="noStrike">
                <a:solidFill>
                  <a:srgbClr val="66d9ef"/>
                </a:solidFill>
                <a:effectLst/>
                <a:uFillTx/>
                <a:latin typeface="Consolas"/>
                <a:ea typeface="Consolas"/>
              </a:rPr>
              <a:t>REFERENCES</a:t>
            </a:r>
            <a:r>
              <a:rPr lang="en-US" sz="1400" b="0" u="none" strike="noStrike">
                <a:solidFill>
                  <a:srgbClr val="ffffff"/>
                </a:solidFill>
                <a:effectLst/>
                <a:uFillTx/>
                <a:latin typeface="Consolas"/>
                <a:ea typeface="Consolas"/>
              </a:rPr>
              <a:t> ligne </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ligne_id</a:t>
            </a:r>
            <a:r>
              <a:rPr lang="en-US" sz="1400" b="0" u="none" strike="noStrike">
                <a:solidFill>
                  <a:srgbClr val="f8f8f2"/>
                </a:solidFill>
                <a:effectLst/>
                <a:uFillTx/>
                <a:latin typeface="Consolas"/>
                <a:ea typeface="Consolas"/>
              </a:rPr>
              <a:t>)</a:t>
            </a:r>
            <a:endParaRPr lang="fr-FR" sz="1400" b="0" u="none" strike="noStrike">
              <a:solidFill>
                <a:srgbClr val="000000"/>
              </a:solidFill>
              <a:effectLst/>
              <a:uFillTx/>
              <a:latin typeface="Arial"/>
            </a:endParaRPr>
          </a:p>
          <a:p>
            <a:pPr defTabSz="914400">
              <a:lnSpc>
                <a:spcPct val="100000"/>
              </a:lnSpc>
              <a:tabLst>
                <a:tab algn="l" pos="0"/>
              </a:tabLst>
            </a:pPr>
            <a:r>
              <a:rPr lang="en-US" sz="1400" b="0" u="none" strike="noStrike">
                <a:solidFill>
                  <a:srgbClr val="8292a2"/>
                </a:solidFill>
                <a:effectLst/>
                <a:uFillTx/>
                <a:latin typeface="Consolas"/>
                <a:ea typeface="Consolas"/>
              </a:rPr>
              <a:t>11 </a:t>
            </a:r>
            <a:r>
              <a:rPr lang="en-US" sz="1400" b="0" u="none" strike="noStrike">
                <a:solidFill>
                  <a:srgbClr val="f8f8f2"/>
                </a:solidFill>
                <a:effectLst/>
                <a:uFillTx/>
                <a:latin typeface="Consolas"/>
                <a:ea typeface="Consolas"/>
              </a:rPr>
              <a:t>);</a:t>
            </a:r>
            <a:endParaRPr lang="fr-FR" sz="1400" b="0" u="none" strike="noStrike">
              <a:solidFill>
                <a:srgbClr val="000000"/>
              </a:solidFill>
              <a:effectLst/>
              <a:uFillTx/>
              <a:latin typeface="Arial"/>
            </a:endParaRPr>
          </a:p>
        </p:txBody>
      </p:sp>
      <p:sp>
        <p:nvSpPr>
          <p:cNvPr id="352" name="Text 9"/>
          <p:cNvSpPr/>
          <p:nvPr/>
        </p:nvSpPr>
        <p:spPr>
          <a:xfrm>
            <a:off x="6629400" y="2011680"/>
            <a:ext cx="4571280" cy="4159800"/>
          </a:xfrm>
          <a:prstGeom prst="rect">
            <a:avLst/>
          </a:prstGeom>
          <a:noFill/>
          <a:ln w="0">
            <a:noFill/>
          </a:ln>
        </p:spPr>
        <p:style>
          <a:lnRef idx="0"/>
          <a:fillRef idx="0"/>
          <a:effectRef idx="0"/>
          <a:fontRef idx="minor"/>
        </p:style>
        <p:txBody>
          <a:bodyPr lIns="1080" rIns="1080" tIns="1080" bIns="1080" anchor="ctr">
            <a:noAutofit/>
          </a:bodyPr>
          <a:p>
            <a:pPr>
              <a:lnSpc>
                <a:spcPct val="100000"/>
              </a:lnSpc>
            </a:pPr>
            <a:r>
              <a:rPr lang="en-US" sz="1400" b="0" u="none" strike="noStrike">
                <a:solidFill>
                  <a:srgbClr val="8292a2"/>
                </a:solidFill>
                <a:effectLst/>
                <a:uFillTx/>
                <a:latin typeface="Consolas"/>
                <a:ea typeface="Consolas"/>
              </a:rPr>
              <a:t> 1 </a:t>
            </a:r>
            <a:r>
              <a:rPr lang="en-US" sz="1400" b="0" u="none" strike="noStrike">
                <a:solidFill>
                  <a:srgbClr val="66d9ef"/>
                </a:solidFill>
                <a:effectLst/>
                <a:uFillTx/>
                <a:latin typeface="Consolas"/>
                <a:ea typeface="Consolas"/>
              </a:rPr>
              <a:t>INSERT</a:t>
            </a:r>
            <a:r>
              <a:rPr lang="en-US" sz="1400" b="0" u="none" strike="noStrike">
                <a:solidFill>
                  <a:srgbClr val="ffffff"/>
                </a:solidFill>
                <a:effectLst/>
                <a:uFillTx/>
                <a:latin typeface="Consolas"/>
                <a:ea typeface="Consolas"/>
              </a:rPr>
              <a:t> </a:t>
            </a:r>
            <a:r>
              <a:rPr lang="en-US" sz="1400" b="0" u="none" strike="noStrike">
                <a:solidFill>
                  <a:srgbClr val="66d9ef"/>
                </a:solidFill>
                <a:effectLst/>
                <a:uFillTx/>
                <a:latin typeface="Consolas"/>
                <a:ea typeface="Consolas"/>
              </a:rPr>
              <a:t>INTO</a:t>
            </a:r>
            <a:r>
              <a:rPr lang="en-US" sz="1400" b="0" u="none" strike="noStrike">
                <a:solidFill>
                  <a:srgbClr val="ffffff"/>
                </a:solidFill>
                <a:effectLst/>
                <a:uFillTx/>
                <a:latin typeface="Consolas"/>
                <a:ea typeface="Consolas"/>
              </a:rPr>
              <a:t> ligne </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ligne_id</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 numero_ligne</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 nom_ligne</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 couleur_hex</a:t>
            </a:r>
            <a:r>
              <a:rPr lang="en-US" sz="1400" b="0" u="none" strike="noStrike">
                <a:solidFill>
                  <a:srgbClr val="f8f8f2"/>
                </a:solidFill>
                <a:effectLst/>
                <a:uFillTx/>
                <a:latin typeface="Consolas"/>
                <a:ea typeface="Consolas"/>
              </a:rPr>
              <a:t>)</a:t>
            </a:r>
            <a:endParaRPr lang="fr-FR" sz="1400" b="0" u="none" strike="noStrike">
              <a:solidFill>
                <a:srgbClr val="000000"/>
              </a:solidFill>
              <a:effectLst/>
              <a:uFillTx/>
              <a:latin typeface="Arial"/>
            </a:endParaRPr>
          </a:p>
          <a:p>
            <a:pPr>
              <a:lnSpc>
                <a:spcPct val="100000"/>
              </a:lnSpc>
            </a:pPr>
            <a:r>
              <a:rPr lang="en-US" sz="1400" b="0" u="none" strike="noStrike">
                <a:solidFill>
                  <a:srgbClr val="8292a2"/>
                </a:solidFill>
                <a:effectLst/>
                <a:uFillTx/>
                <a:latin typeface="Consolas"/>
                <a:ea typeface="Consolas"/>
              </a:rPr>
              <a:t> 2 </a:t>
            </a:r>
            <a:r>
              <a:rPr lang="en-US" sz="1400" b="0" u="none" strike="noStrike">
                <a:solidFill>
                  <a:srgbClr val="66d9ef"/>
                </a:solidFill>
                <a:effectLst/>
                <a:uFillTx/>
                <a:latin typeface="Consolas"/>
                <a:ea typeface="Consolas"/>
              </a:rPr>
              <a:t>VALUES</a:t>
            </a:r>
            <a:r>
              <a:rPr lang="en-US" sz="1400" b="0" u="none" strike="noStrike">
                <a:solidFill>
                  <a:srgbClr val="ffffff"/>
                </a:solidFill>
                <a:effectLst/>
                <a:uFillTx/>
                <a:latin typeface="Consolas"/>
                <a:ea typeface="Consolas"/>
              </a:rPr>
              <a:t> </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1</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 '1'</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 'Ligne 1'</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 '#FFBE00'</a:t>
            </a:r>
            <a:r>
              <a:rPr lang="en-US" sz="1400" b="0" u="none" strike="noStrike">
                <a:solidFill>
                  <a:srgbClr val="f8f8f2"/>
                </a:solidFill>
                <a:effectLst/>
                <a:uFillTx/>
                <a:latin typeface="Consolas"/>
                <a:ea typeface="Consolas"/>
              </a:rPr>
              <a:t>);</a:t>
            </a:r>
            <a:endParaRPr lang="fr-FR" sz="1400" b="0" u="none" strike="noStrike">
              <a:solidFill>
                <a:srgbClr val="000000"/>
              </a:solidFill>
              <a:effectLst/>
              <a:uFillTx/>
              <a:latin typeface="Arial"/>
            </a:endParaRPr>
          </a:p>
          <a:p>
            <a:pPr>
              <a:lnSpc>
                <a:spcPct val="100000"/>
              </a:lnSpc>
            </a:pPr>
            <a:r>
              <a:rPr lang="en-US" sz="1400" b="0" u="none" strike="noStrike">
                <a:solidFill>
                  <a:srgbClr val="8292a2"/>
                </a:solidFill>
                <a:effectLst/>
                <a:uFillTx/>
                <a:latin typeface="Consolas"/>
                <a:ea typeface="Consolas"/>
              </a:rPr>
              <a:t> 3 </a:t>
            </a:r>
            <a:endParaRPr lang="fr-FR" sz="1400" b="0" u="none" strike="noStrike">
              <a:solidFill>
                <a:srgbClr val="000000"/>
              </a:solidFill>
              <a:effectLst/>
              <a:uFillTx/>
              <a:latin typeface="Arial"/>
            </a:endParaRPr>
          </a:p>
          <a:p>
            <a:pPr>
              <a:lnSpc>
                <a:spcPct val="100000"/>
              </a:lnSpc>
            </a:pPr>
            <a:r>
              <a:rPr lang="en-US" sz="1400" b="0" u="none" strike="noStrike">
                <a:solidFill>
                  <a:srgbClr val="8292a2"/>
                </a:solidFill>
                <a:effectLst/>
                <a:uFillTx/>
                <a:latin typeface="Consolas"/>
                <a:ea typeface="Consolas"/>
              </a:rPr>
              <a:t> 4 </a:t>
            </a:r>
            <a:r>
              <a:rPr lang="en-US" sz="1400" b="0" u="none" strike="noStrike">
                <a:solidFill>
                  <a:srgbClr val="66d9ef"/>
                </a:solidFill>
                <a:effectLst/>
                <a:uFillTx/>
                <a:latin typeface="Consolas"/>
                <a:ea typeface="Consolas"/>
              </a:rPr>
              <a:t>INSERT</a:t>
            </a:r>
            <a:r>
              <a:rPr lang="en-US" sz="1400" b="0" u="none" strike="noStrike">
                <a:solidFill>
                  <a:srgbClr val="ffffff"/>
                </a:solidFill>
                <a:effectLst/>
                <a:uFillTx/>
                <a:latin typeface="Consolas"/>
                <a:ea typeface="Consolas"/>
              </a:rPr>
              <a:t> </a:t>
            </a:r>
            <a:r>
              <a:rPr lang="en-US" sz="1400" b="0" u="none" strike="noStrike">
                <a:solidFill>
                  <a:srgbClr val="66d9ef"/>
                </a:solidFill>
                <a:effectLst/>
                <a:uFillTx/>
                <a:latin typeface="Consolas"/>
                <a:ea typeface="Consolas"/>
              </a:rPr>
              <a:t>INTO</a:t>
            </a:r>
            <a:r>
              <a:rPr lang="en-US" sz="1400" b="0" u="none" strike="noStrike">
                <a:solidFill>
                  <a:srgbClr val="ffffff"/>
                </a:solidFill>
                <a:effectLst/>
                <a:uFillTx/>
                <a:latin typeface="Consolas"/>
                <a:ea typeface="Consolas"/>
              </a:rPr>
              <a:t> station </a:t>
            </a:r>
            <a:r>
              <a:rPr lang="en-US" sz="1400" b="0" u="none" strike="noStrike">
                <a:solidFill>
                  <a:srgbClr val="f8f8f2"/>
                </a:solidFill>
                <a:effectLst/>
                <a:uFillTx/>
                <a:latin typeface="Consolas"/>
                <a:ea typeface="Consolas"/>
              </a:rPr>
              <a:t>(</a:t>
            </a:r>
            <a:endParaRPr lang="fr-FR" sz="1400" b="0" u="none" strike="noStrike">
              <a:solidFill>
                <a:srgbClr val="000000"/>
              </a:solidFill>
              <a:effectLst/>
              <a:uFillTx/>
              <a:latin typeface="Arial"/>
            </a:endParaRPr>
          </a:p>
          <a:p>
            <a:pPr>
              <a:lnSpc>
                <a:spcPct val="100000"/>
              </a:lnSpc>
            </a:pPr>
            <a:r>
              <a:rPr lang="en-US" sz="1400" b="0" u="none" strike="noStrike">
                <a:solidFill>
                  <a:srgbClr val="8292a2"/>
                </a:solidFill>
                <a:effectLst/>
                <a:uFillTx/>
                <a:latin typeface="Consolas"/>
                <a:ea typeface="Consolas"/>
              </a:rPr>
              <a:t> 5 </a:t>
            </a:r>
            <a:r>
              <a:rPr lang="en-US" sz="1400" b="0" u="none" strike="noStrike">
                <a:solidFill>
                  <a:srgbClr val="ffffff"/>
                </a:solidFill>
                <a:effectLst/>
                <a:uFillTx/>
                <a:latin typeface="Consolas"/>
                <a:ea typeface="Consolas"/>
              </a:rPr>
              <a:t>  station_id</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 nom_station</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 ville</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 latitude</a:t>
            </a:r>
            <a:r>
              <a:rPr lang="en-US" sz="1400" b="0" u="none" strike="noStrike">
                <a:solidFill>
                  <a:srgbClr val="f8f8f2"/>
                </a:solidFill>
                <a:effectLst/>
                <a:uFillTx/>
                <a:latin typeface="Consolas"/>
                <a:ea typeface="Consolas"/>
              </a:rPr>
              <a:t>,</a:t>
            </a:r>
            <a:endParaRPr lang="fr-FR" sz="1400" b="0" u="none" strike="noStrike">
              <a:solidFill>
                <a:srgbClr val="000000"/>
              </a:solidFill>
              <a:effectLst/>
              <a:uFillTx/>
              <a:latin typeface="Arial"/>
            </a:endParaRPr>
          </a:p>
          <a:p>
            <a:pPr>
              <a:lnSpc>
                <a:spcPct val="100000"/>
              </a:lnSpc>
            </a:pPr>
            <a:r>
              <a:rPr lang="en-US" sz="1400" b="0" u="none" strike="noStrike">
                <a:solidFill>
                  <a:srgbClr val="8292a2"/>
                </a:solidFill>
                <a:effectLst/>
                <a:uFillTx/>
                <a:latin typeface="Consolas"/>
                <a:ea typeface="Consolas"/>
              </a:rPr>
              <a:t> 6 </a:t>
            </a:r>
            <a:r>
              <a:rPr lang="en-US" sz="1400" b="0" u="none" strike="noStrike">
                <a:solidFill>
                  <a:srgbClr val="ffffff"/>
                </a:solidFill>
                <a:effectLst/>
                <a:uFillTx/>
                <a:latin typeface="Consolas"/>
                <a:ea typeface="Consolas"/>
              </a:rPr>
              <a:t>  longitude</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 accessibilite_pmr</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 code_postal</a:t>
            </a:r>
            <a:endParaRPr lang="fr-FR" sz="1400" b="0" u="none" strike="noStrike">
              <a:solidFill>
                <a:srgbClr val="000000"/>
              </a:solidFill>
              <a:effectLst/>
              <a:uFillTx/>
              <a:latin typeface="Arial"/>
            </a:endParaRPr>
          </a:p>
          <a:p>
            <a:pPr>
              <a:lnSpc>
                <a:spcPct val="100000"/>
              </a:lnSpc>
            </a:pPr>
            <a:r>
              <a:rPr lang="en-US" sz="1400" b="0" u="none" strike="noStrike">
                <a:solidFill>
                  <a:srgbClr val="8292a2"/>
                </a:solidFill>
                <a:effectLst/>
                <a:uFillTx/>
                <a:latin typeface="Consolas"/>
                <a:ea typeface="Consolas"/>
              </a:rPr>
              <a:t> 7 </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 </a:t>
            </a:r>
            <a:r>
              <a:rPr lang="en-US" sz="1400" b="0" u="none" strike="noStrike">
                <a:solidFill>
                  <a:srgbClr val="66d9ef"/>
                </a:solidFill>
                <a:effectLst/>
                <a:uFillTx/>
                <a:latin typeface="Consolas"/>
                <a:ea typeface="Consolas"/>
              </a:rPr>
              <a:t>VALUES</a:t>
            </a:r>
            <a:r>
              <a:rPr lang="en-US" sz="1400" b="0" u="none" strike="noStrike">
                <a:solidFill>
                  <a:srgbClr val="ffffff"/>
                </a:solidFill>
                <a:effectLst/>
                <a:uFillTx/>
                <a:latin typeface="Consolas"/>
                <a:ea typeface="Consolas"/>
              </a:rPr>
              <a:t> </a:t>
            </a:r>
            <a:r>
              <a:rPr lang="en-US" sz="1400" b="0" u="none" strike="noStrike">
                <a:solidFill>
                  <a:srgbClr val="f8f8f2"/>
                </a:solidFill>
                <a:effectLst/>
                <a:uFillTx/>
                <a:latin typeface="Consolas"/>
                <a:ea typeface="Consolas"/>
              </a:rPr>
              <a:t>(</a:t>
            </a:r>
            <a:endParaRPr lang="fr-FR" sz="1400" b="0" u="none" strike="noStrike">
              <a:solidFill>
                <a:srgbClr val="000000"/>
              </a:solidFill>
              <a:effectLst/>
              <a:uFillTx/>
              <a:latin typeface="Arial"/>
            </a:endParaRPr>
          </a:p>
          <a:p>
            <a:pPr>
              <a:lnSpc>
                <a:spcPct val="100000"/>
              </a:lnSpc>
            </a:pPr>
            <a:r>
              <a:rPr lang="en-US" sz="1400" b="0" u="none" strike="noStrike">
                <a:solidFill>
                  <a:srgbClr val="8292a2"/>
                </a:solidFill>
                <a:effectLst/>
                <a:uFillTx/>
                <a:latin typeface="Consolas"/>
                <a:ea typeface="Consolas"/>
              </a:rPr>
              <a:t> 8 </a:t>
            </a:r>
            <a:r>
              <a:rPr lang="en-US" sz="1400" b="0" u="none" strike="noStrike">
                <a:solidFill>
                  <a:srgbClr val="ffffff"/>
                </a:solidFill>
                <a:effectLst/>
                <a:uFillTx/>
                <a:latin typeface="Consolas"/>
                <a:ea typeface="Consolas"/>
              </a:rPr>
              <a:t>  63284</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 'Aéroport d''Orly'</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 'Aéroport d''Orly'</a:t>
            </a:r>
            <a:r>
              <a:rPr lang="en-US" sz="1400" b="0" u="none" strike="noStrike">
                <a:solidFill>
                  <a:srgbClr val="f8f8f2"/>
                </a:solidFill>
                <a:effectLst/>
                <a:uFillTx/>
                <a:latin typeface="Consolas"/>
                <a:ea typeface="Consolas"/>
              </a:rPr>
              <a:t>,</a:t>
            </a:r>
            <a:endParaRPr lang="fr-FR" sz="1400" b="0" u="none" strike="noStrike">
              <a:solidFill>
                <a:srgbClr val="000000"/>
              </a:solidFill>
              <a:effectLst/>
              <a:uFillTx/>
              <a:latin typeface="Arial"/>
            </a:endParaRPr>
          </a:p>
          <a:p>
            <a:pPr>
              <a:lnSpc>
                <a:spcPct val="100000"/>
              </a:lnSpc>
            </a:pPr>
            <a:r>
              <a:rPr lang="en-US" sz="1400" b="0" u="none" strike="noStrike">
                <a:solidFill>
                  <a:srgbClr val="8292a2"/>
                </a:solidFill>
                <a:effectLst/>
                <a:uFillTx/>
                <a:latin typeface="Consolas"/>
                <a:ea typeface="Consolas"/>
              </a:rPr>
              <a:t> 9 </a:t>
            </a:r>
            <a:r>
              <a:rPr lang="en-US" sz="1400" b="0" u="none" strike="noStrike">
                <a:solidFill>
                  <a:srgbClr val="ffffff"/>
                </a:solidFill>
                <a:effectLst/>
                <a:uFillTx/>
                <a:latin typeface="Consolas"/>
                <a:ea typeface="Consolas"/>
              </a:rPr>
              <a:t>  48.728083</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 2.362591</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 </a:t>
            </a:r>
            <a:r>
              <a:rPr lang="en-US" sz="1400" b="0" u="none" strike="noStrike">
                <a:solidFill>
                  <a:srgbClr val="ae81ff"/>
                </a:solidFill>
                <a:effectLst/>
                <a:uFillTx/>
                <a:latin typeface="Consolas"/>
                <a:ea typeface="Consolas"/>
              </a:rPr>
              <a:t>FALSE</a:t>
            </a:r>
            <a:r>
              <a:rPr lang="en-US" sz="1400" b="0" u="none" strike="noStrike">
                <a:solidFill>
                  <a:srgbClr val="f8f8f2"/>
                </a:solidFill>
                <a:effectLst/>
                <a:uFillTx/>
                <a:latin typeface="Consolas"/>
                <a:ea typeface="Consolas"/>
              </a:rPr>
              <a:t>,</a:t>
            </a:r>
            <a:r>
              <a:rPr lang="en-US" sz="1400" b="0" u="none" strike="noStrike">
                <a:solidFill>
                  <a:srgbClr val="ffffff"/>
                </a:solidFill>
                <a:effectLst/>
                <a:uFillTx/>
                <a:latin typeface="Consolas"/>
                <a:ea typeface="Consolas"/>
              </a:rPr>
              <a:t> 94390</a:t>
            </a:r>
            <a:endParaRPr lang="fr-FR" sz="1400" b="0" u="none" strike="noStrike">
              <a:solidFill>
                <a:srgbClr val="000000"/>
              </a:solidFill>
              <a:effectLst/>
              <a:uFillTx/>
              <a:latin typeface="Arial"/>
            </a:endParaRPr>
          </a:p>
          <a:p>
            <a:pPr defTabSz="914400">
              <a:lnSpc>
                <a:spcPct val="100000"/>
              </a:lnSpc>
              <a:tabLst>
                <a:tab algn="l" pos="0"/>
              </a:tabLst>
            </a:pPr>
            <a:r>
              <a:rPr lang="en-US" sz="1400" b="0" u="none" strike="noStrike">
                <a:solidFill>
                  <a:srgbClr val="8292a2"/>
                </a:solidFill>
                <a:effectLst/>
                <a:uFillTx/>
                <a:latin typeface="Consolas"/>
                <a:ea typeface="Consolas"/>
              </a:rPr>
              <a:t>10 </a:t>
            </a:r>
            <a:r>
              <a:rPr lang="en-US" sz="1400" b="0" u="none" strike="noStrike">
                <a:solidFill>
                  <a:srgbClr val="f8f8f2"/>
                </a:solidFill>
                <a:effectLst/>
                <a:uFillTx/>
                <a:latin typeface="Consolas"/>
                <a:ea typeface="Consolas"/>
              </a:rPr>
              <a:t>);</a:t>
            </a:r>
            <a:endParaRPr lang="fr-FR" sz="1400" b="0" u="none" strike="noStrike">
              <a:solidFill>
                <a:srgbClr val="000000"/>
              </a:solidFill>
              <a:effectLst/>
              <a:uFillTx/>
              <a:latin typeface="Arial"/>
            </a:endParaRPr>
          </a:p>
        </p:txBody>
      </p:sp>
      <p:sp>
        <p:nvSpPr>
          <p:cNvPr id="353" name="Text 10"/>
          <p:cNvSpPr/>
          <p:nvPr/>
        </p:nvSpPr>
        <p:spPr>
          <a:xfrm>
            <a:off x="548640" y="6519600"/>
            <a:ext cx="3839760" cy="1364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800" b="0" u="none" strike="noStrike">
                <a:solidFill>
                  <a:srgbClr val="94a3b8"/>
                </a:solidFill>
                <a:effectLst/>
                <a:uFillTx/>
                <a:latin typeface="Aptos"/>
              </a:rPr>
              <a:t>SAE 2.04 - Exploitation d'une base de données</a:t>
            </a:r>
            <a:endParaRPr lang="fr-FR" sz="800" b="0" u="none" strike="noStrike">
              <a:solidFill>
                <a:srgbClr val="000000"/>
              </a:solidFill>
              <a:effectLst/>
              <a:uFillTx/>
              <a:latin typeface="Arial"/>
            </a:endParaRPr>
          </a:p>
        </p:txBody>
      </p:sp>
      <p:sp>
        <p:nvSpPr>
          <p:cNvPr id="354" name="Text 11"/>
          <p:cNvSpPr/>
          <p:nvPr/>
        </p:nvSpPr>
        <p:spPr>
          <a:xfrm>
            <a:off x="10424160" y="6519600"/>
            <a:ext cx="1188000" cy="13644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lang="en-US" sz="800" b="0" u="none" strike="noStrike">
                <a:solidFill>
                  <a:srgbClr val="94a3b8"/>
                </a:solidFill>
                <a:effectLst/>
                <a:uFillTx/>
                <a:latin typeface="Aptos"/>
              </a:rPr>
              <a:t>Métro parisien</a:t>
            </a:r>
            <a:endParaRPr lang="fr-FR"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c"/>
        </a:solidFill>
      </p:bgPr>
    </p:bg>
    <p:spTree>
      <p:nvGrpSpPr>
        <p:cNvPr id="1" name=""/>
        <p:cNvGrpSpPr/>
        <p:nvPr/>
      </p:nvGrpSpPr>
      <p:grpSpPr>
        <a:xfrm>
          <a:off x="0" y="0"/>
          <a:ext cx="0" cy="0"/>
          <a:chOff x="0" y="0"/>
          <a:chExt cx="0" cy="0"/>
        </a:xfrm>
      </p:grpSpPr>
      <p:sp>
        <p:nvSpPr>
          <p:cNvPr id="355" name="Shape 0"/>
          <p:cNvSpPr/>
          <p:nvPr/>
        </p:nvSpPr>
        <p:spPr>
          <a:xfrm>
            <a:off x="0" y="0"/>
            <a:ext cx="12191040" cy="163800"/>
          </a:xfrm>
          <a:prstGeom prst="rect">
            <a:avLst/>
          </a:prstGeom>
          <a:solidFill>
            <a:srgbClr val="1d4ed8"/>
          </a:solidFill>
          <a:ln w="12700">
            <a:solidFill>
              <a:srgbClr val="1d4ed8"/>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356" name="Text 1"/>
          <p:cNvSpPr/>
          <p:nvPr/>
        </p:nvSpPr>
        <p:spPr>
          <a:xfrm>
            <a:off x="548640" y="347400"/>
            <a:ext cx="8046000" cy="4107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2600" b="1" u="none" strike="noStrike">
                <a:solidFill>
                  <a:srgbClr val="111827"/>
                </a:solidFill>
                <a:effectLst/>
                <a:uFillTx/>
                <a:latin typeface="Aptos Display"/>
                <a:ea typeface="Aptos Display"/>
              </a:rPr>
              <a:t>Exemples de requêtes SQL</a:t>
            </a:r>
            <a:endParaRPr lang="fr-FR" sz="2600" b="0" u="none" strike="noStrike">
              <a:solidFill>
                <a:srgbClr val="000000"/>
              </a:solidFill>
              <a:effectLst/>
              <a:uFillTx/>
              <a:latin typeface="Arial"/>
            </a:endParaRPr>
          </a:p>
        </p:txBody>
      </p:sp>
      <p:sp>
        <p:nvSpPr>
          <p:cNvPr id="357" name="Text 2"/>
          <p:cNvSpPr/>
          <p:nvPr/>
        </p:nvSpPr>
        <p:spPr>
          <a:xfrm>
            <a:off x="548640" y="768240"/>
            <a:ext cx="7863120" cy="255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050" b="0" u="none" strike="noStrike">
                <a:solidFill>
                  <a:srgbClr val="64748b"/>
                </a:solidFill>
                <a:effectLst/>
                <a:uFillTx/>
                <a:latin typeface="Aptos"/>
                <a:ea typeface="Aptos"/>
              </a:rPr>
              <a:t>Les questions suivantes montrent l'intérêt analytique de la base une fois les données chargées.</a:t>
            </a:r>
            <a:endParaRPr lang="fr-FR" sz="1050" b="0" u="none" strike="noStrike">
              <a:solidFill>
                <a:srgbClr val="000000"/>
              </a:solidFill>
              <a:effectLst/>
              <a:uFillTx/>
              <a:latin typeface="Arial"/>
            </a:endParaRPr>
          </a:p>
        </p:txBody>
      </p:sp>
      <p:sp>
        <p:nvSpPr>
          <p:cNvPr id="358" name="Shape 3"/>
          <p:cNvSpPr/>
          <p:nvPr/>
        </p:nvSpPr>
        <p:spPr>
          <a:xfrm>
            <a:off x="548640" y="1051560"/>
            <a:ext cx="11064240" cy="360"/>
          </a:xfrm>
          <a:prstGeom prst="line">
            <a:avLst/>
          </a:prstGeom>
          <a:ln w="12700">
            <a:solidFill>
              <a:srgbClr val="cbd5e1"/>
            </a:solidFill>
            <a:round/>
          </a:ln>
        </p:spPr>
        <p:style>
          <a:lnRef idx="0"/>
          <a:fillRef idx="0"/>
          <a:effectRef idx="0"/>
          <a:fontRef idx="minor"/>
        </p:style>
        <p:txBody>
          <a:bodyPr lIns="90000" rIns="90000" tIns="-44640" bIns="-44640" anchor="t" anchorCtr="1">
            <a:noAutofit/>
          </a:bodyPr>
          <a:p>
            <a:endParaRPr lang="fr-FR" sz="1800" b="0" u="none" strike="noStrike">
              <a:solidFill>
                <a:srgbClr val="000000"/>
              </a:solidFill>
              <a:effectLst/>
              <a:uFillTx/>
              <a:latin typeface="Arial"/>
            </a:endParaRPr>
          </a:p>
        </p:txBody>
      </p:sp>
      <p:sp>
        <p:nvSpPr>
          <p:cNvPr id="359" name="Shape 4"/>
          <p:cNvSpPr/>
          <p:nvPr/>
        </p:nvSpPr>
        <p:spPr>
          <a:xfrm>
            <a:off x="685800" y="1417320"/>
            <a:ext cx="10972080" cy="5074200"/>
          </a:xfrm>
          <a:prstGeom prst="roundRect">
            <a:avLst>
              <a:gd name="adj" fmla="val 1441"/>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360" name="Text 5"/>
          <p:cNvSpPr/>
          <p:nvPr/>
        </p:nvSpPr>
        <p:spPr>
          <a:xfrm>
            <a:off x="987480" y="1683000"/>
            <a:ext cx="5492160" cy="255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900" b="1" u="none" strike="noStrike">
                <a:solidFill>
                  <a:srgbClr val="111827"/>
                </a:solidFill>
                <a:effectLst/>
                <a:uFillTx/>
                <a:latin typeface="Aptos"/>
              </a:rPr>
              <a:t>10 questions d'analyse retenues</a:t>
            </a:r>
            <a:endParaRPr lang="fr-FR" sz="1900" b="0" u="none" strike="noStrike">
              <a:solidFill>
                <a:srgbClr val="000000"/>
              </a:solidFill>
              <a:effectLst/>
              <a:uFillTx/>
              <a:latin typeface="Arial"/>
            </a:endParaRPr>
          </a:p>
        </p:txBody>
      </p:sp>
      <p:sp>
        <p:nvSpPr>
          <p:cNvPr id="361" name="Shape 6"/>
          <p:cNvSpPr/>
          <p:nvPr/>
        </p:nvSpPr>
        <p:spPr>
          <a:xfrm>
            <a:off x="1005840" y="224928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362" name="Text 7"/>
          <p:cNvSpPr/>
          <p:nvPr/>
        </p:nvSpPr>
        <p:spPr>
          <a:xfrm>
            <a:off x="1170360" y="2176200"/>
            <a:ext cx="420552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500" b="0" u="none" strike="noStrike">
                <a:solidFill>
                  <a:srgbClr val="374151"/>
                </a:solidFill>
                <a:effectLst/>
                <a:uFillTx/>
                <a:latin typeface="Aptos"/>
              </a:rPr>
              <a:t>Nombre de stations PMR par département</a:t>
            </a:r>
            <a:endParaRPr lang="fr-FR" sz="1500" b="0" u="none" strike="noStrike">
              <a:solidFill>
                <a:srgbClr val="000000"/>
              </a:solidFill>
              <a:effectLst/>
              <a:uFillTx/>
              <a:latin typeface="Arial"/>
            </a:endParaRPr>
          </a:p>
        </p:txBody>
      </p:sp>
      <p:sp>
        <p:nvSpPr>
          <p:cNvPr id="363" name="Shape 8"/>
          <p:cNvSpPr/>
          <p:nvPr/>
        </p:nvSpPr>
        <p:spPr>
          <a:xfrm>
            <a:off x="1005840" y="277992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364" name="Text 9"/>
          <p:cNvSpPr/>
          <p:nvPr/>
        </p:nvSpPr>
        <p:spPr>
          <a:xfrm>
            <a:off x="1170360" y="2706480"/>
            <a:ext cx="420552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500" b="0" u="none" strike="noStrike">
                <a:solidFill>
                  <a:srgbClr val="374151"/>
                </a:solidFill>
                <a:effectLst/>
                <a:uFillTx/>
                <a:latin typeface="Aptos"/>
              </a:rPr>
              <a:t>Temps de trajet moyen par ligne</a:t>
            </a:r>
            <a:endParaRPr lang="fr-FR" sz="1500" b="0" u="none" strike="noStrike">
              <a:solidFill>
                <a:srgbClr val="000000"/>
              </a:solidFill>
              <a:effectLst/>
              <a:uFillTx/>
              <a:latin typeface="Arial"/>
            </a:endParaRPr>
          </a:p>
        </p:txBody>
      </p:sp>
      <p:sp>
        <p:nvSpPr>
          <p:cNvPr id="365" name="Shape 10"/>
          <p:cNvSpPr/>
          <p:nvPr/>
        </p:nvSpPr>
        <p:spPr>
          <a:xfrm>
            <a:off x="1005840" y="331020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366" name="Text 11"/>
          <p:cNvSpPr/>
          <p:nvPr/>
        </p:nvSpPr>
        <p:spPr>
          <a:xfrm>
            <a:off x="1170360" y="3237120"/>
            <a:ext cx="420552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500" b="0" u="none" strike="noStrike">
                <a:solidFill>
                  <a:srgbClr val="374151"/>
                </a:solidFill>
                <a:effectLst/>
                <a:uFillTx/>
                <a:latin typeface="Aptos"/>
              </a:rPr>
              <a:t>Lignes avec le plus de retard</a:t>
            </a:r>
            <a:endParaRPr lang="fr-FR" sz="1500" b="0" u="none" strike="noStrike">
              <a:solidFill>
                <a:srgbClr val="000000"/>
              </a:solidFill>
              <a:effectLst/>
              <a:uFillTx/>
              <a:latin typeface="Arial"/>
            </a:endParaRPr>
          </a:p>
        </p:txBody>
      </p:sp>
      <p:sp>
        <p:nvSpPr>
          <p:cNvPr id="367" name="Shape 12"/>
          <p:cNvSpPr/>
          <p:nvPr/>
        </p:nvSpPr>
        <p:spPr>
          <a:xfrm>
            <a:off x="1005840" y="384048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368" name="Text 13"/>
          <p:cNvSpPr/>
          <p:nvPr/>
        </p:nvSpPr>
        <p:spPr>
          <a:xfrm>
            <a:off x="1170360" y="3767400"/>
            <a:ext cx="420552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500" b="0" u="none" strike="noStrike">
                <a:solidFill>
                  <a:srgbClr val="374151"/>
                </a:solidFill>
                <a:effectLst/>
                <a:uFillTx/>
                <a:latin typeface="Aptos"/>
              </a:rPr>
              <a:t>Stations avec le plus de passages par jour</a:t>
            </a:r>
            <a:endParaRPr lang="fr-FR" sz="1500" b="0" u="none" strike="noStrike">
              <a:solidFill>
                <a:srgbClr val="000000"/>
              </a:solidFill>
              <a:effectLst/>
              <a:uFillTx/>
              <a:latin typeface="Arial"/>
            </a:endParaRPr>
          </a:p>
        </p:txBody>
      </p:sp>
      <p:sp>
        <p:nvSpPr>
          <p:cNvPr id="369" name="Shape 14"/>
          <p:cNvSpPr/>
          <p:nvPr/>
        </p:nvSpPr>
        <p:spPr>
          <a:xfrm>
            <a:off x="1005840" y="4370760"/>
            <a:ext cx="90720" cy="90720"/>
          </a:xfrm>
          <a:prstGeom prst="ellipse">
            <a:avLst/>
          </a:prstGeom>
          <a:solidFill>
            <a:srgbClr val="1d4ed8"/>
          </a:solidFill>
          <a:ln w="12700">
            <a:solidFill>
              <a:srgbClr val="1d4ed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370" name="Text 15"/>
          <p:cNvSpPr/>
          <p:nvPr/>
        </p:nvSpPr>
        <p:spPr>
          <a:xfrm>
            <a:off x="1170360" y="4297680"/>
            <a:ext cx="420552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500" b="0" u="none" strike="noStrike">
                <a:solidFill>
                  <a:srgbClr val="374151"/>
                </a:solidFill>
                <a:effectLst/>
                <a:uFillTx/>
                <a:latin typeface="Aptos"/>
              </a:rPr>
              <a:t>Lignes les plus rapides en moyenne</a:t>
            </a:r>
            <a:endParaRPr lang="fr-FR" sz="1500" b="0" u="none" strike="noStrike">
              <a:solidFill>
                <a:srgbClr val="000000"/>
              </a:solidFill>
              <a:effectLst/>
              <a:uFillTx/>
              <a:latin typeface="Arial"/>
            </a:endParaRPr>
          </a:p>
        </p:txBody>
      </p:sp>
      <p:sp>
        <p:nvSpPr>
          <p:cNvPr id="371" name="Shape 16"/>
          <p:cNvSpPr/>
          <p:nvPr/>
        </p:nvSpPr>
        <p:spPr>
          <a:xfrm>
            <a:off x="6172200" y="2249280"/>
            <a:ext cx="90720" cy="90720"/>
          </a:xfrm>
          <a:prstGeom prst="ellipse">
            <a:avLst/>
          </a:prstGeom>
          <a:solidFill>
            <a:srgbClr val="8b5cf6"/>
          </a:solidFill>
          <a:ln w="12700">
            <a:solidFill>
              <a:srgbClr val="8b5cf6"/>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372" name="Text 17"/>
          <p:cNvSpPr/>
          <p:nvPr/>
        </p:nvSpPr>
        <p:spPr>
          <a:xfrm>
            <a:off x="6336720" y="2176200"/>
            <a:ext cx="438840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500" b="0" u="none" strike="noStrike">
                <a:solidFill>
                  <a:srgbClr val="374151"/>
                </a:solidFill>
                <a:effectLst/>
                <a:uFillTx/>
                <a:latin typeface="Aptos"/>
              </a:rPr>
              <a:t>Nombre de stations par ligne</a:t>
            </a:r>
            <a:endParaRPr lang="fr-FR" sz="1500" b="0" u="none" strike="noStrike">
              <a:solidFill>
                <a:srgbClr val="000000"/>
              </a:solidFill>
              <a:effectLst/>
              <a:uFillTx/>
              <a:latin typeface="Arial"/>
            </a:endParaRPr>
          </a:p>
        </p:txBody>
      </p:sp>
      <p:sp>
        <p:nvSpPr>
          <p:cNvPr id="373" name="Shape 18"/>
          <p:cNvSpPr/>
          <p:nvPr/>
        </p:nvSpPr>
        <p:spPr>
          <a:xfrm>
            <a:off x="6172200" y="2779920"/>
            <a:ext cx="90720" cy="90720"/>
          </a:xfrm>
          <a:prstGeom prst="ellipse">
            <a:avLst/>
          </a:prstGeom>
          <a:solidFill>
            <a:srgbClr val="8b5cf6"/>
          </a:solidFill>
          <a:ln w="12700">
            <a:solidFill>
              <a:srgbClr val="8b5cf6"/>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374" name="Text 19"/>
          <p:cNvSpPr/>
          <p:nvPr/>
        </p:nvSpPr>
        <p:spPr>
          <a:xfrm>
            <a:off x="6336720" y="2706480"/>
            <a:ext cx="438840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500" b="0" u="none" strike="noStrike">
                <a:solidFill>
                  <a:srgbClr val="374151"/>
                </a:solidFill>
                <a:effectLst/>
                <a:uFillTx/>
                <a:latin typeface="Aptos"/>
              </a:rPr>
              <a:t>Stations avec le plus de correspondances</a:t>
            </a:r>
            <a:endParaRPr lang="fr-FR" sz="1500" b="0" u="none" strike="noStrike">
              <a:solidFill>
                <a:srgbClr val="000000"/>
              </a:solidFill>
              <a:effectLst/>
              <a:uFillTx/>
              <a:latin typeface="Arial"/>
            </a:endParaRPr>
          </a:p>
        </p:txBody>
      </p:sp>
      <p:sp>
        <p:nvSpPr>
          <p:cNvPr id="375" name="Shape 20"/>
          <p:cNvSpPr/>
          <p:nvPr/>
        </p:nvSpPr>
        <p:spPr>
          <a:xfrm>
            <a:off x="6172200" y="3310200"/>
            <a:ext cx="90720" cy="90720"/>
          </a:xfrm>
          <a:prstGeom prst="ellipse">
            <a:avLst/>
          </a:prstGeom>
          <a:solidFill>
            <a:srgbClr val="8b5cf6"/>
          </a:solidFill>
          <a:ln w="12700">
            <a:solidFill>
              <a:srgbClr val="8b5cf6"/>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376" name="Text 21"/>
          <p:cNvSpPr/>
          <p:nvPr/>
        </p:nvSpPr>
        <p:spPr>
          <a:xfrm>
            <a:off x="6336720" y="3237120"/>
            <a:ext cx="438840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500" b="0" u="none" strike="noStrike">
                <a:solidFill>
                  <a:srgbClr val="374151"/>
                </a:solidFill>
                <a:effectLst/>
                <a:uFillTx/>
                <a:latin typeface="Aptos"/>
              </a:rPr>
              <a:t>Lignes avec le plus de stations PMR</a:t>
            </a:r>
            <a:endParaRPr lang="fr-FR" sz="1500" b="0" u="none" strike="noStrike">
              <a:solidFill>
                <a:srgbClr val="000000"/>
              </a:solidFill>
              <a:effectLst/>
              <a:uFillTx/>
              <a:latin typeface="Arial"/>
            </a:endParaRPr>
          </a:p>
        </p:txBody>
      </p:sp>
      <p:sp>
        <p:nvSpPr>
          <p:cNvPr id="377" name="Shape 22"/>
          <p:cNvSpPr/>
          <p:nvPr/>
        </p:nvSpPr>
        <p:spPr>
          <a:xfrm>
            <a:off x="6172200" y="3840480"/>
            <a:ext cx="90720" cy="90720"/>
          </a:xfrm>
          <a:prstGeom prst="ellipse">
            <a:avLst/>
          </a:prstGeom>
          <a:solidFill>
            <a:srgbClr val="8b5cf6"/>
          </a:solidFill>
          <a:ln w="12700">
            <a:solidFill>
              <a:srgbClr val="8b5cf6"/>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378" name="Text 23"/>
          <p:cNvSpPr/>
          <p:nvPr/>
        </p:nvSpPr>
        <p:spPr>
          <a:xfrm>
            <a:off x="6336720" y="3767400"/>
            <a:ext cx="438840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500" b="0" u="none" strike="noStrike">
                <a:solidFill>
                  <a:srgbClr val="374151"/>
                </a:solidFill>
                <a:effectLst/>
                <a:uFillTx/>
                <a:latin typeface="Aptos"/>
              </a:rPr>
              <a:t>Heures de début et de fin de service</a:t>
            </a:r>
            <a:endParaRPr lang="fr-FR" sz="1500" b="0" u="none" strike="noStrike">
              <a:solidFill>
                <a:srgbClr val="000000"/>
              </a:solidFill>
              <a:effectLst/>
              <a:uFillTx/>
              <a:latin typeface="Arial"/>
            </a:endParaRPr>
          </a:p>
        </p:txBody>
      </p:sp>
      <p:sp>
        <p:nvSpPr>
          <p:cNvPr id="379" name="Shape 24"/>
          <p:cNvSpPr/>
          <p:nvPr/>
        </p:nvSpPr>
        <p:spPr>
          <a:xfrm>
            <a:off x="6172200" y="4370760"/>
            <a:ext cx="90720" cy="90720"/>
          </a:xfrm>
          <a:prstGeom prst="ellipse">
            <a:avLst/>
          </a:prstGeom>
          <a:solidFill>
            <a:srgbClr val="8b5cf6"/>
          </a:solidFill>
          <a:ln w="12700">
            <a:solidFill>
              <a:srgbClr val="8b5cf6"/>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ffffff"/>
              </a:solidFill>
              <a:effectLst/>
              <a:uFillTx/>
              <a:latin typeface="Arial"/>
            </a:endParaRPr>
          </a:p>
        </p:txBody>
      </p:sp>
      <p:sp>
        <p:nvSpPr>
          <p:cNvPr id="380" name="Text 25"/>
          <p:cNvSpPr/>
          <p:nvPr/>
        </p:nvSpPr>
        <p:spPr>
          <a:xfrm>
            <a:off x="6336720" y="4297680"/>
            <a:ext cx="438840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500" b="0" u="none" strike="noStrike">
                <a:solidFill>
                  <a:srgbClr val="374151"/>
                </a:solidFill>
                <a:effectLst/>
                <a:uFillTx/>
                <a:latin typeface="Aptos"/>
              </a:rPr>
              <a:t>Temps moyen entre stations d'une ligne</a:t>
            </a:r>
            <a:endParaRPr lang="fr-FR" sz="1500" b="0" u="none" strike="noStrike">
              <a:solidFill>
                <a:srgbClr val="000000"/>
              </a:solidFill>
              <a:effectLst/>
              <a:uFillTx/>
              <a:latin typeface="Arial"/>
            </a:endParaRPr>
          </a:p>
        </p:txBody>
      </p:sp>
      <p:sp>
        <p:nvSpPr>
          <p:cNvPr id="381" name="Shape 26"/>
          <p:cNvSpPr/>
          <p:nvPr/>
        </p:nvSpPr>
        <p:spPr>
          <a:xfrm>
            <a:off x="960120" y="5257800"/>
            <a:ext cx="10377720" cy="776520"/>
          </a:xfrm>
          <a:prstGeom prst="roundRect">
            <a:avLst>
              <a:gd name="adj" fmla="val 4706"/>
            </a:avLst>
          </a:prstGeom>
          <a:solidFill>
            <a:srgbClr val="eff6ff"/>
          </a:solidFill>
          <a:ln w="12700">
            <a:solidFill>
              <a:srgbClr val="bfdbfe"/>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382" name="Text 27"/>
          <p:cNvSpPr/>
          <p:nvPr/>
        </p:nvSpPr>
        <p:spPr>
          <a:xfrm>
            <a:off x="1234440" y="5513760"/>
            <a:ext cx="9829080" cy="2188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400" b="0" u="none" strike="noStrike">
                <a:solidFill>
                  <a:srgbClr val="1e40af"/>
                </a:solidFill>
                <a:effectLst/>
                <a:uFillTx/>
                <a:latin typeface="Aptos"/>
              </a:rPr>
              <a:t>Ces requêtes servent ensuite de base à l'interprétation des résultats et à la construction de graphiques dans la vidéo.</a:t>
            </a:r>
            <a:endParaRPr lang="fr-FR" sz="1400" b="0" u="none" strike="noStrike">
              <a:solidFill>
                <a:srgbClr val="000000"/>
              </a:solidFill>
              <a:effectLst/>
              <a:uFillTx/>
              <a:latin typeface="Arial"/>
            </a:endParaRPr>
          </a:p>
        </p:txBody>
      </p:sp>
      <p:sp>
        <p:nvSpPr>
          <p:cNvPr id="383" name="Text 28"/>
          <p:cNvSpPr/>
          <p:nvPr/>
        </p:nvSpPr>
        <p:spPr>
          <a:xfrm>
            <a:off x="548640" y="6519600"/>
            <a:ext cx="3839760" cy="1364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800" b="0" u="none" strike="noStrike">
                <a:solidFill>
                  <a:srgbClr val="94a3b8"/>
                </a:solidFill>
                <a:effectLst/>
                <a:uFillTx/>
                <a:latin typeface="Aptos"/>
              </a:rPr>
              <a:t>SAE 2.04 - Exploitation d'une base de données</a:t>
            </a:r>
            <a:endParaRPr lang="fr-FR" sz="800" b="0" u="none" strike="noStrike">
              <a:solidFill>
                <a:srgbClr val="000000"/>
              </a:solidFill>
              <a:effectLst/>
              <a:uFillTx/>
              <a:latin typeface="Arial"/>
            </a:endParaRPr>
          </a:p>
        </p:txBody>
      </p:sp>
      <p:sp>
        <p:nvSpPr>
          <p:cNvPr id="384" name="Text 29"/>
          <p:cNvSpPr/>
          <p:nvPr/>
        </p:nvSpPr>
        <p:spPr>
          <a:xfrm>
            <a:off x="10424160" y="6519600"/>
            <a:ext cx="1188000" cy="13644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lang="en-US" sz="800" b="0" u="none" strike="noStrike">
                <a:solidFill>
                  <a:srgbClr val="94a3b8"/>
                </a:solidFill>
                <a:effectLst/>
                <a:uFillTx/>
                <a:latin typeface="Aptos"/>
              </a:rPr>
              <a:t>Métro parisien</a:t>
            </a:r>
            <a:endParaRPr lang="fr-FR"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c"/>
        </a:solidFill>
      </p:bgPr>
    </p:bg>
    <p:spTree>
      <p:nvGrpSpPr>
        <p:cNvPr id="1" name=""/>
        <p:cNvGrpSpPr/>
        <p:nvPr/>
      </p:nvGrpSpPr>
      <p:grpSpPr>
        <a:xfrm>
          <a:off x="0" y="0"/>
          <a:ext cx="0" cy="0"/>
          <a:chOff x="0" y="0"/>
          <a:chExt cx="0" cy="0"/>
        </a:xfrm>
      </p:grpSpPr>
      <p:sp>
        <p:nvSpPr>
          <p:cNvPr id="385" name="Shape 0"/>
          <p:cNvSpPr/>
          <p:nvPr/>
        </p:nvSpPr>
        <p:spPr>
          <a:xfrm>
            <a:off x="0" y="0"/>
            <a:ext cx="12191040" cy="163800"/>
          </a:xfrm>
          <a:prstGeom prst="rect">
            <a:avLst/>
          </a:prstGeom>
          <a:solidFill>
            <a:srgbClr val="1d4ed8"/>
          </a:solidFill>
          <a:ln w="12700">
            <a:solidFill>
              <a:srgbClr val="1d4ed8"/>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386" name="Text 1"/>
          <p:cNvSpPr/>
          <p:nvPr/>
        </p:nvSpPr>
        <p:spPr>
          <a:xfrm>
            <a:off x="548640" y="347400"/>
            <a:ext cx="8046000" cy="4107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2600" b="1" u="none" strike="noStrike">
                <a:solidFill>
                  <a:srgbClr val="111827"/>
                </a:solidFill>
                <a:effectLst/>
                <a:uFillTx/>
                <a:latin typeface="Aptos Display"/>
                <a:ea typeface="Aptos Display"/>
              </a:rPr>
              <a:t>Premiers indicateurs visuels</a:t>
            </a:r>
            <a:endParaRPr lang="fr-FR" sz="2600" b="0" u="none" strike="noStrike">
              <a:solidFill>
                <a:srgbClr val="000000"/>
              </a:solidFill>
              <a:effectLst/>
              <a:uFillTx/>
              <a:latin typeface="Arial"/>
            </a:endParaRPr>
          </a:p>
        </p:txBody>
      </p:sp>
      <p:sp>
        <p:nvSpPr>
          <p:cNvPr id="387" name="Text 2"/>
          <p:cNvSpPr/>
          <p:nvPr/>
        </p:nvSpPr>
        <p:spPr>
          <a:xfrm>
            <a:off x="548640" y="768240"/>
            <a:ext cx="7863120" cy="255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050" b="0" u="none" strike="noStrike">
                <a:solidFill>
                  <a:srgbClr val="64748b"/>
                </a:solidFill>
                <a:effectLst/>
                <a:uFillTx/>
                <a:latin typeface="Aptos"/>
                <a:ea typeface="Aptos"/>
              </a:rPr>
              <a:t>À partir des scripts d'insertion, on peut déjà produire quelques lectures simples du jeu de données.</a:t>
            </a:r>
            <a:endParaRPr lang="fr-FR" sz="1050" b="0" u="none" strike="noStrike">
              <a:solidFill>
                <a:srgbClr val="000000"/>
              </a:solidFill>
              <a:effectLst/>
              <a:uFillTx/>
              <a:latin typeface="Arial"/>
            </a:endParaRPr>
          </a:p>
        </p:txBody>
      </p:sp>
      <p:sp>
        <p:nvSpPr>
          <p:cNvPr id="388" name="Shape 3"/>
          <p:cNvSpPr/>
          <p:nvPr/>
        </p:nvSpPr>
        <p:spPr>
          <a:xfrm>
            <a:off x="548640" y="1051560"/>
            <a:ext cx="11064240" cy="360"/>
          </a:xfrm>
          <a:prstGeom prst="line">
            <a:avLst/>
          </a:prstGeom>
          <a:ln w="12700">
            <a:solidFill>
              <a:srgbClr val="cbd5e1"/>
            </a:solidFill>
            <a:round/>
          </a:ln>
        </p:spPr>
        <p:style>
          <a:lnRef idx="0"/>
          <a:fillRef idx="0"/>
          <a:effectRef idx="0"/>
          <a:fontRef idx="minor"/>
        </p:style>
        <p:txBody>
          <a:bodyPr lIns="90000" rIns="90000" tIns="-44640" bIns="-44640" anchor="t" anchorCtr="1">
            <a:noAutofit/>
          </a:bodyPr>
          <a:p>
            <a:endParaRPr lang="fr-FR" sz="1800" b="0" u="none" strike="noStrike">
              <a:solidFill>
                <a:srgbClr val="000000"/>
              </a:solidFill>
              <a:effectLst/>
              <a:uFillTx/>
              <a:latin typeface="Arial"/>
            </a:endParaRPr>
          </a:p>
        </p:txBody>
      </p:sp>
      <p:sp>
        <p:nvSpPr>
          <p:cNvPr id="389" name="Shape 4"/>
          <p:cNvSpPr/>
          <p:nvPr/>
        </p:nvSpPr>
        <p:spPr>
          <a:xfrm>
            <a:off x="685800" y="1417320"/>
            <a:ext cx="6720120" cy="4845600"/>
          </a:xfrm>
          <a:prstGeom prst="roundRect">
            <a:avLst>
              <a:gd name="adj" fmla="val 1509"/>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390" name="Shape 5"/>
          <p:cNvSpPr/>
          <p:nvPr/>
        </p:nvSpPr>
        <p:spPr>
          <a:xfrm>
            <a:off x="7635240" y="1417320"/>
            <a:ext cx="3885480" cy="4845600"/>
          </a:xfrm>
          <a:prstGeom prst="roundRect">
            <a:avLst>
              <a:gd name="adj" fmla="val 1882"/>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391" name="Text 6"/>
          <p:cNvSpPr/>
          <p:nvPr/>
        </p:nvSpPr>
        <p:spPr>
          <a:xfrm>
            <a:off x="932760" y="1691640"/>
            <a:ext cx="3474000" cy="2005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800" b="1" u="none" strike="noStrike">
                <a:solidFill>
                  <a:srgbClr val="111827"/>
                </a:solidFill>
                <a:effectLst/>
                <a:uFillTx/>
                <a:latin typeface="Aptos"/>
              </a:rPr>
              <a:t>Stations desservies par ligne (top 8)</a:t>
            </a:r>
            <a:endParaRPr lang="fr-FR" sz="1800" b="0" u="none" strike="noStrike">
              <a:solidFill>
                <a:srgbClr val="000000"/>
              </a:solidFill>
              <a:effectLst/>
              <a:uFillTx/>
              <a:latin typeface="Arial"/>
            </a:endParaRPr>
          </a:p>
        </p:txBody>
      </p:sp>
      <p:pic>
        <p:nvPicPr>
          <p:cNvPr id="392" name="Image 0" descr="preencoded.png"/>
          <p:cNvPicPr/>
          <p:nvPr/>
        </p:nvPicPr>
        <p:blipFill>
          <a:blip r:embed="rId1">
            <a:extLst>
              <a:ext uri="{96DAC541-7B7A-43D3-8B79-37D633B846F1}">
                <asvg:svgBlip xmlns:asvg="http://schemas.microsoft.com/office/drawing/2016/SVG/main" r:embed="rId2"/>
              </a:ext>
            </a:extLst>
          </a:blip>
          <a:stretch/>
        </p:blipFill>
        <p:spPr>
          <a:xfrm>
            <a:off x="932760" y="1994040"/>
            <a:ext cx="5961240" cy="3839760"/>
          </a:xfrm>
          <a:prstGeom prst="rect">
            <a:avLst/>
          </a:prstGeom>
          <a:noFill/>
          <a:ln w="0">
            <a:noFill/>
          </a:ln>
        </p:spPr>
      </p:pic>
      <p:sp>
        <p:nvSpPr>
          <p:cNvPr id="393" name="Text 8"/>
          <p:cNvSpPr/>
          <p:nvPr/>
        </p:nvSpPr>
        <p:spPr>
          <a:xfrm>
            <a:off x="7738200" y="1666440"/>
            <a:ext cx="2377440" cy="2005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550" b="1" u="none" strike="noStrike">
                <a:solidFill>
                  <a:srgbClr val="111827"/>
                </a:solidFill>
                <a:effectLst/>
                <a:uFillTx/>
                <a:latin typeface="Aptos"/>
              </a:rPr>
              <a:t>Lecture rapide</a:t>
            </a:r>
            <a:endParaRPr lang="fr-FR" sz="1550" b="0" u="none" strike="noStrike">
              <a:solidFill>
                <a:srgbClr val="000000"/>
              </a:solidFill>
              <a:effectLst/>
              <a:uFillTx/>
              <a:latin typeface="Arial"/>
            </a:endParaRPr>
          </a:p>
        </p:txBody>
      </p:sp>
      <p:sp>
        <p:nvSpPr>
          <p:cNvPr id="394" name="Text 9"/>
          <p:cNvSpPr/>
          <p:nvPr/>
        </p:nvSpPr>
        <p:spPr>
          <a:xfrm>
            <a:off x="7882200" y="5486400"/>
            <a:ext cx="3062520" cy="5022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lang="fr-FR" sz="1800" b="0" u="none" strike="noStrike">
              <a:solidFill>
                <a:srgbClr val="000000"/>
              </a:solidFill>
              <a:effectLst/>
              <a:uFillTx/>
              <a:latin typeface="Arial"/>
            </a:endParaRPr>
          </a:p>
        </p:txBody>
      </p:sp>
      <p:sp>
        <p:nvSpPr>
          <p:cNvPr id="395" name="Text 10"/>
          <p:cNvSpPr/>
          <p:nvPr/>
        </p:nvSpPr>
        <p:spPr>
          <a:xfrm>
            <a:off x="548640" y="6519600"/>
            <a:ext cx="3839760" cy="1364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800" b="0" u="none" strike="noStrike">
                <a:solidFill>
                  <a:srgbClr val="94a3b8"/>
                </a:solidFill>
                <a:effectLst/>
                <a:uFillTx/>
                <a:latin typeface="Aptos"/>
              </a:rPr>
              <a:t>SAE 2.04 - Exploitation d'une base de données</a:t>
            </a:r>
            <a:endParaRPr lang="fr-FR" sz="800" b="0" u="none" strike="noStrike">
              <a:solidFill>
                <a:srgbClr val="000000"/>
              </a:solidFill>
              <a:effectLst/>
              <a:uFillTx/>
              <a:latin typeface="Arial"/>
            </a:endParaRPr>
          </a:p>
        </p:txBody>
      </p:sp>
      <p:sp>
        <p:nvSpPr>
          <p:cNvPr id="396" name="Text 11"/>
          <p:cNvSpPr/>
          <p:nvPr/>
        </p:nvSpPr>
        <p:spPr>
          <a:xfrm>
            <a:off x="10424160" y="6519600"/>
            <a:ext cx="1188000" cy="13644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lang="en-US" sz="800" b="0" u="none" strike="noStrike">
                <a:solidFill>
                  <a:srgbClr val="94a3b8"/>
                </a:solidFill>
                <a:effectLst/>
                <a:uFillTx/>
                <a:latin typeface="Aptos"/>
              </a:rPr>
              <a:t>Métro parisien</a:t>
            </a:r>
            <a:endParaRPr lang="fr-FR" sz="800" b="0" u="none" strike="noStrike">
              <a:solidFill>
                <a:srgbClr val="000000"/>
              </a:solidFill>
              <a:effectLst/>
              <a:uFillTx/>
              <a:latin typeface="Arial"/>
            </a:endParaRPr>
          </a:p>
        </p:txBody>
      </p:sp>
      <p:sp>
        <p:nvSpPr>
          <p:cNvPr id="397" name=""/>
          <p:cNvSpPr/>
          <p:nvPr/>
        </p:nvSpPr>
        <p:spPr>
          <a:xfrm>
            <a:off x="7704000" y="2088000"/>
            <a:ext cx="3635640" cy="23202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fr-FR" sz="1400" b="0" u="none" strike="noStrike">
                <a:solidFill>
                  <a:srgbClr val="000000"/>
                </a:solidFill>
                <a:effectLst/>
                <a:uFillTx/>
                <a:latin typeface="Arial"/>
              </a:rPr>
              <a:t>Le jeu de données contient surtout des stations parisiennes </a:t>
            </a:r>
            <a:endParaRPr lang="fr-FR" sz="1400" b="0" u="none" strike="noStrike">
              <a:solidFill>
                <a:srgbClr val="000000"/>
              </a:solidFill>
              <a:effectLst/>
              <a:uFillTx/>
              <a:latin typeface="Arial"/>
            </a:endParaRPr>
          </a:p>
          <a:p>
            <a:pPr>
              <a:lnSpc>
                <a:spcPct val="100000"/>
              </a:lnSpc>
            </a:pPr>
            <a:r>
              <a:rPr lang="fr-FR" sz="1400" b="0" u="none" strike="noStrike">
                <a:solidFill>
                  <a:srgbClr val="000000"/>
                </a:solidFill>
                <a:effectLst/>
                <a:uFillTx/>
                <a:latin typeface="Arial"/>
              </a:rPr>
              <a:t>Il inclut aussi des communes de petite couronne </a:t>
            </a:r>
            <a:endParaRPr lang="fr-FR" sz="1400" b="0" u="none" strike="noStrike">
              <a:solidFill>
                <a:srgbClr val="000000"/>
              </a:solidFill>
              <a:effectLst/>
              <a:uFillTx/>
              <a:latin typeface="Arial"/>
            </a:endParaRPr>
          </a:p>
          <a:p>
            <a:pPr>
              <a:lnSpc>
                <a:spcPct val="100000"/>
              </a:lnSpc>
            </a:pPr>
            <a:r>
              <a:rPr lang="fr-FR" sz="1400" b="0" u="none" strike="noStrike">
                <a:solidFill>
                  <a:srgbClr val="000000"/>
                </a:solidFill>
                <a:effectLst/>
                <a:uFillTx/>
                <a:latin typeface="Arial"/>
              </a:rPr>
              <a:t>Les lignes 7, 8 et 9 figurent parmi les plus riches en dessertes</a:t>
            </a:r>
            <a:endParaRPr lang="fr-FR" sz="1400" b="0" u="none" strike="noStrike">
              <a:solidFill>
                <a:srgbClr val="000000"/>
              </a:solidFill>
              <a:effectLst/>
              <a:uFillTx/>
              <a:latin typeface="Arial"/>
            </a:endParaRPr>
          </a:p>
          <a:p>
            <a:pPr>
              <a:lnSpc>
                <a:spcPct val="100000"/>
              </a:lnSpc>
            </a:pPr>
            <a:endParaRPr lang="fr-FR"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c"/>
        </a:solidFill>
      </p:bgPr>
    </p:bg>
    <p:spTree>
      <p:nvGrpSpPr>
        <p:cNvPr id="1" name=""/>
        <p:cNvGrpSpPr/>
        <p:nvPr/>
      </p:nvGrpSpPr>
      <p:grpSpPr>
        <a:xfrm>
          <a:off x="0" y="0"/>
          <a:ext cx="0" cy="0"/>
          <a:chOff x="0" y="0"/>
          <a:chExt cx="0" cy="0"/>
        </a:xfrm>
      </p:grpSpPr>
      <p:sp>
        <p:nvSpPr>
          <p:cNvPr id="398" name="Shape 0"/>
          <p:cNvSpPr/>
          <p:nvPr/>
        </p:nvSpPr>
        <p:spPr>
          <a:xfrm>
            <a:off x="0" y="0"/>
            <a:ext cx="12191040" cy="163800"/>
          </a:xfrm>
          <a:prstGeom prst="rect">
            <a:avLst/>
          </a:prstGeom>
          <a:solidFill>
            <a:srgbClr val="1d4ed8"/>
          </a:solidFill>
          <a:ln w="12700">
            <a:solidFill>
              <a:srgbClr val="1d4ed8"/>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399" name="Text 1"/>
          <p:cNvSpPr/>
          <p:nvPr/>
        </p:nvSpPr>
        <p:spPr>
          <a:xfrm>
            <a:off x="548640" y="347400"/>
            <a:ext cx="8046000" cy="4107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2600" b="1" u="none" strike="noStrike">
                <a:solidFill>
                  <a:srgbClr val="111827"/>
                </a:solidFill>
                <a:effectLst/>
                <a:uFillTx/>
                <a:latin typeface="Aptos Display"/>
                <a:ea typeface="Aptos Display"/>
              </a:rPr>
              <a:t>Compétences mobilisées</a:t>
            </a:r>
            <a:endParaRPr lang="fr-FR" sz="2600" b="0" u="none" strike="noStrike">
              <a:solidFill>
                <a:srgbClr val="000000"/>
              </a:solidFill>
              <a:effectLst/>
              <a:uFillTx/>
              <a:latin typeface="Arial"/>
            </a:endParaRPr>
          </a:p>
        </p:txBody>
      </p:sp>
      <p:sp>
        <p:nvSpPr>
          <p:cNvPr id="400" name="Text 2"/>
          <p:cNvSpPr/>
          <p:nvPr/>
        </p:nvSpPr>
        <p:spPr>
          <a:xfrm>
            <a:off x="548640" y="768240"/>
            <a:ext cx="7863120" cy="255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050" b="0" u="none" strike="noStrike">
                <a:solidFill>
                  <a:srgbClr val="64748b"/>
                </a:solidFill>
                <a:effectLst/>
                <a:uFillTx/>
                <a:latin typeface="Aptos"/>
                <a:ea typeface="Aptos"/>
              </a:rPr>
              <a:t>Le projet croise modélisation, SQL, automatisation et organisation du travail en équipe.</a:t>
            </a:r>
            <a:endParaRPr lang="fr-FR" sz="1050" b="0" u="none" strike="noStrike">
              <a:solidFill>
                <a:srgbClr val="000000"/>
              </a:solidFill>
              <a:effectLst/>
              <a:uFillTx/>
              <a:latin typeface="Arial"/>
            </a:endParaRPr>
          </a:p>
        </p:txBody>
      </p:sp>
      <p:sp>
        <p:nvSpPr>
          <p:cNvPr id="401" name="Shape 3"/>
          <p:cNvSpPr/>
          <p:nvPr/>
        </p:nvSpPr>
        <p:spPr>
          <a:xfrm>
            <a:off x="548640" y="1051560"/>
            <a:ext cx="11064240" cy="360"/>
          </a:xfrm>
          <a:prstGeom prst="line">
            <a:avLst/>
          </a:prstGeom>
          <a:ln w="12700">
            <a:solidFill>
              <a:srgbClr val="cbd5e1"/>
            </a:solidFill>
            <a:round/>
          </a:ln>
        </p:spPr>
        <p:style>
          <a:lnRef idx="0"/>
          <a:fillRef idx="0"/>
          <a:effectRef idx="0"/>
          <a:fontRef idx="minor"/>
        </p:style>
        <p:txBody>
          <a:bodyPr lIns="90000" rIns="90000" tIns="-44640" bIns="-44640" anchor="t" anchorCtr="1">
            <a:noAutofit/>
          </a:bodyPr>
          <a:p>
            <a:endParaRPr lang="fr-FR" sz="1800" b="0" u="none" strike="noStrike">
              <a:solidFill>
                <a:srgbClr val="000000"/>
              </a:solidFill>
              <a:effectLst/>
              <a:uFillTx/>
              <a:latin typeface="Arial"/>
            </a:endParaRPr>
          </a:p>
        </p:txBody>
      </p:sp>
      <p:sp>
        <p:nvSpPr>
          <p:cNvPr id="402" name="Shape 4"/>
          <p:cNvSpPr/>
          <p:nvPr/>
        </p:nvSpPr>
        <p:spPr>
          <a:xfrm>
            <a:off x="777240" y="1463040"/>
            <a:ext cx="5119920" cy="1782360"/>
          </a:xfrm>
          <a:prstGeom prst="roundRect">
            <a:avLst>
              <a:gd name="adj" fmla="val 4103"/>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403" name="Shape 5"/>
          <p:cNvSpPr/>
          <p:nvPr/>
        </p:nvSpPr>
        <p:spPr>
          <a:xfrm>
            <a:off x="1051560" y="1774080"/>
            <a:ext cx="419760" cy="419760"/>
          </a:xfrm>
          <a:prstGeom prst="ellipse">
            <a:avLst/>
          </a:prstGeom>
          <a:solidFill>
            <a:srgbClr val="1d4ed8"/>
          </a:solidFill>
          <a:ln w="12700">
            <a:solidFill>
              <a:srgbClr val="1d4ed8"/>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404" name="Text 6"/>
          <p:cNvSpPr/>
          <p:nvPr/>
        </p:nvSpPr>
        <p:spPr>
          <a:xfrm>
            <a:off x="1645920" y="1764720"/>
            <a:ext cx="365688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800" b="1" u="none" strike="noStrike">
                <a:solidFill>
                  <a:srgbClr val="111827"/>
                </a:solidFill>
                <a:effectLst/>
                <a:uFillTx/>
                <a:latin typeface="Aptos"/>
              </a:rPr>
              <a:t>Modélisation relationnelle</a:t>
            </a:r>
            <a:endParaRPr lang="fr-FR" sz="1800" b="0" u="none" strike="noStrike">
              <a:solidFill>
                <a:srgbClr val="000000"/>
              </a:solidFill>
              <a:effectLst/>
              <a:uFillTx/>
              <a:latin typeface="Arial"/>
            </a:endParaRPr>
          </a:p>
        </p:txBody>
      </p:sp>
      <p:sp>
        <p:nvSpPr>
          <p:cNvPr id="405" name="Text 7"/>
          <p:cNvSpPr/>
          <p:nvPr/>
        </p:nvSpPr>
        <p:spPr>
          <a:xfrm>
            <a:off x="1645920" y="2130480"/>
            <a:ext cx="3794040" cy="5479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420" b="0" u="none" strike="noStrike">
                <a:solidFill>
                  <a:srgbClr val="374151"/>
                </a:solidFill>
                <a:effectLst/>
                <a:uFillTx/>
                <a:latin typeface="Aptos"/>
              </a:rPr>
              <a:t>Construire un schéma cohérent à partir d'un besoin client.</a:t>
            </a:r>
            <a:endParaRPr lang="fr-FR" sz="1420" b="0" u="none" strike="noStrike">
              <a:solidFill>
                <a:srgbClr val="000000"/>
              </a:solidFill>
              <a:effectLst/>
              <a:uFillTx/>
              <a:latin typeface="Arial"/>
            </a:endParaRPr>
          </a:p>
        </p:txBody>
      </p:sp>
      <p:sp>
        <p:nvSpPr>
          <p:cNvPr id="406" name="Shape 8"/>
          <p:cNvSpPr/>
          <p:nvPr/>
        </p:nvSpPr>
        <p:spPr>
          <a:xfrm>
            <a:off x="6309360" y="1463040"/>
            <a:ext cx="5119920" cy="1782360"/>
          </a:xfrm>
          <a:prstGeom prst="roundRect">
            <a:avLst>
              <a:gd name="adj" fmla="val 4103"/>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407" name="Shape 9"/>
          <p:cNvSpPr/>
          <p:nvPr/>
        </p:nvSpPr>
        <p:spPr>
          <a:xfrm>
            <a:off x="6583680" y="1774080"/>
            <a:ext cx="419760" cy="419760"/>
          </a:xfrm>
          <a:prstGeom prst="ellipse">
            <a:avLst/>
          </a:prstGeom>
          <a:solidFill>
            <a:srgbClr val="10b981"/>
          </a:solidFill>
          <a:ln w="12700">
            <a:solidFill>
              <a:srgbClr val="10b981"/>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408" name="Text 10"/>
          <p:cNvSpPr/>
          <p:nvPr/>
        </p:nvSpPr>
        <p:spPr>
          <a:xfrm>
            <a:off x="7178040" y="1764720"/>
            <a:ext cx="365688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800" b="1" u="none" strike="noStrike">
                <a:solidFill>
                  <a:srgbClr val="111827"/>
                </a:solidFill>
                <a:effectLst/>
                <a:uFillTx/>
                <a:latin typeface="Aptos"/>
              </a:rPr>
              <a:t>PostgreSQL / SQL</a:t>
            </a:r>
            <a:endParaRPr lang="fr-FR" sz="1800" b="0" u="none" strike="noStrike">
              <a:solidFill>
                <a:srgbClr val="000000"/>
              </a:solidFill>
              <a:effectLst/>
              <a:uFillTx/>
              <a:latin typeface="Arial"/>
            </a:endParaRPr>
          </a:p>
        </p:txBody>
      </p:sp>
      <p:sp>
        <p:nvSpPr>
          <p:cNvPr id="409" name="Text 11"/>
          <p:cNvSpPr/>
          <p:nvPr/>
        </p:nvSpPr>
        <p:spPr>
          <a:xfrm>
            <a:off x="7178040" y="2130480"/>
            <a:ext cx="3794040" cy="5479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420" b="0" u="none" strike="noStrike">
                <a:solidFill>
                  <a:srgbClr val="374151"/>
                </a:solidFill>
                <a:effectLst/>
                <a:uFillTx/>
                <a:latin typeface="Aptos"/>
              </a:rPr>
              <a:t>Créer les tables, écrire les contraintes et produire les requêtes.</a:t>
            </a:r>
            <a:endParaRPr lang="fr-FR" sz="1420" b="0" u="none" strike="noStrike">
              <a:solidFill>
                <a:srgbClr val="000000"/>
              </a:solidFill>
              <a:effectLst/>
              <a:uFillTx/>
              <a:latin typeface="Arial"/>
            </a:endParaRPr>
          </a:p>
        </p:txBody>
      </p:sp>
      <p:sp>
        <p:nvSpPr>
          <p:cNvPr id="410" name="Shape 12"/>
          <p:cNvSpPr/>
          <p:nvPr/>
        </p:nvSpPr>
        <p:spPr>
          <a:xfrm>
            <a:off x="777240" y="3703320"/>
            <a:ext cx="5119920" cy="1782360"/>
          </a:xfrm>
          <a:prstGeom prst="roundRect">
            <a:avLst>
              <a:gd name="adj" fmla="val 4103"/>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411" name="Shape 13"/>
          <p:cNvSpPr/>
          <p:nvPr/>
        </p:nvSpPr>
        <p:spPr>
          <a:xfrm>
            <a:off x="1051560" y="4014360"/>
            <a:ext cx="419760" cy="419760"/>
          </a:xfrm>
          <a:prstGeom prst="ellipse">
            <a:avLst/>
          </a:prstGeom>
          <a:solidFill>
            <a:srgbClr val="8b5cf6"/>
          </a:solidFill>
          <a:ln w="12700">
            <a:solidFill>
              <a:srgbClr val="8b5cf6"/>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412" name="Text 14"/>
          <p:cNvSpPr/>
          <p:nvPr/>
        </p:nvSpPr>
        <p:spPr>
          <a:xfrm>
            <a:off x="1645920" y="4005000"/>
            <a:ext cx="365688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800" b="1" u="none" strike="noStrike">
                <a:solidFill>
                  <a:srgbClr val="111827"/>
                </a:solidFill>
                <a:effectLst/>
                <a:uFillTx/>
                <a:latin typeface="Aptos"/>
              </a:rPr>
              <a:t>Automatisation</a:t>
            </a:r>
            <a:endParaRPr lang="fr-FR" sz="1800" b="0" u="none" strike="noStrike">
              <a:solidFill>
                <a:srgbClr val="000000"/>
              </a:solidFill>
              <a:effectLst/>
              <a:uFillTx/>
              <a:latin typeface="Arial"/>
            </a:endParaRPr>
          </a:p>
        </p:txBody>
      </p:sp>
      <p:sp>
        <p:nvSpPr>
          <p:cNvPr id="413" name="Text 15"/>
          <p:cNvSpPr/>
          <p:nvPr/>
        </p:nvSpPr>
        <p:spPr>
          <a:xfrm>
            <a:off x="1645920" y="4370760"/>
            <a:ext cx="3794040" cy="5479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420" b="0" u="none" strike="noStrike">
                <a:solidFill>
                  <a:srgbClr val="374151"/>
                </a:solidFill>
                <a:effectLst/>
                <a:uFillTx/>
                <a:latin typeface="Aptos"/>
              </a:rPr>
              <a:t>Préparer des scripts pour générer ou nettoyer les données.</a:t>
            </a:r>
            <a:endParaRPr lang="fr-FR" sz="1420" b="0" u="none" strike="noStrike">
              <a:solidFill>
                <a:srgbClr val="000000"/>
              </a:solidFill>
              <a:effectLst/>
              <a:uFillTx/>
              <a:latin typeface="Arial"/>
            </a:endParaRPr>
          </a:p>
        </p:txBody>
      </p:sp>
      <p:sp>
        <p:nvSpPr>
          <p:cNvPr id="414" name="Shape 16"/>
          <p:cNvSpPr/>
          <p:nvPr/>
        </p:nvSpPr>
        <p:spPr>
          <a:xfrm>
            <a:off x="6309360" y="3703320"/>
            <a:ext cx="5119920" cy="1782360"/>
          </a:xfrm>
          <a:prstGeom prst="roundRect">
            <a:avLst>
              <a:gd name="adj" fmla="val 4103"/>
            </a:avLst>
          </a:prstGeom>
          <a:solidFill>
            <a:srgbClr val="ffffff"/>
          </a:solidFill>
          <a:ln w="12700">
            <a:solidFill>
              <a:srgbClr val="e2e8f0"/>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415" name="Shape 17"/>
          <p:cNvSpPr/>
          <p:nvPr/>
        </p:nvSpPr>
        <p:spPr>
          <a:xfrm>
            <a:off x="6583680" y="4014360"/>
            <a:ext cx="419760" cy="419760"/>
          </a:xfrm>
          <a:prstGeom prst="ellipse">
            <a:avLst/>
          </a:prstGeom>
          <a:solidFill>
            <a:srgbClr val="f59e0b"/>
          </a:solidFill>
          <a:ln w="12700">
            <a:solidFill>
              <a:srgbClr val="f59e0b"/>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416" name="Text 18"/>
          <p:cNvSpPr/>
          <p:nvPr/>
        </p:nvSpPr>
        <p:spPr>
          <a:xfrm>
            <a:off x="7178040" y="4005000"/>
            <a:ext cx="365688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800" b="1" u="none" strike="noStrike">
                <a:solidFill>
                  <a:srgbClr val="111827"/>
                </a:solidFill>
                <a:effectLst/>
                <a:uFillTx/>
                <a:latin typeface="Aptos"/>
              </a:rPr>
              <a:t>Collaboration</a:t>
            </a:r>
            <a:endParaRPr lang="fr-FR" sz="1800" b="0" u="none" strike="noStrike">
              <a:solidFill>
                <a:srgbClr val="000000"/>
              </a:solidFill>
              <a:effectLst/>
              <a:uFillTx/>
              <a:latin typeface="Arial"/>
            </a:endParaRPr>
          </a:p>
        </p:txBody>
      </p:sp>
      <p:sp>
        <p:nvSpPr>
          <p:cNvPr id="417" name="Text 19"/>
          <p:cNvSpPr/>
          <p:nvPr/>
        </p:nvSpPr>
        <p:spPr>
          <a:xfrm>
            <a:off x="7178040" y="4370760"/>
            <a:ext cx="3794040" cy="5479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420" b="0" u="none" strike="noStrike">
                <a:solidFill>
                  <a:srgbClr val="374151"/>
                </a:solidFill>
                <a:effectLst/>
                <a:uFillTx/>
                <a:latin typeface="Aptos"/>
              </a:rPr>
              <a:t>Travailler à plusieurs avec versionning et suivi des modifications.</a:t>
            </a:r>
            <a:endParaRPr lang="fr-FR" sz="1420" b="0" u="none" strike="noStrike">
              <a:solidFill>
                <a:srgbClr val="000000"/>
              </a:solidFill>
              <a:effectLst/>
              <a:uFillTx/>
              <a:latin typeface="Arial"/>
            </a:endParaRPr>
          </a:p>
        </p:txBody>
      </p:sp>
      <p:sp>
        <p:nvSpPr>
          <p:cNvPr id="418" name="Shape 20"/>
          <p:cNvSpPr/>
          <p:nvPr/>
        </p:nvSpPr>
        <p:spPr>
          <a:xfrm>
            <a:off x="1005840" y="5669280"/>
            <a:ext cx="10057680" cy="450360"/>
          </a:xfrm>
          <a:prstGeom prst="roundRect">
            <a:avLst>
              <a:gd name="adj" fmla="val 8889"/>
            </a:avLst>
          </a:prstGeom>
          <a:solidFill>
            <a:srgbClr val="ecfeff"/>
          </a:solidFill>
          <a:ln w="12700">
            <a:solidFill>
              <a:srgbClr val="a5f3fc"/>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419" name="Text 21"/>
          <p:cNvSpPr/>
          <p:nvPr/>
        </p:nvSpPr>
        <p:spPr>
          <a:xfrm>
            <a:off x="1234440" y="5815080"/>
            <a:ext cx="9600480" cy="13644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350" b="0" u="none" strike="noStrike">
                <a:solidFill>
                  <a:srgbClr val="155e75"/>
                </a:solidFill>
                <a:effectLst/>
                <a:uFillTx/>
                <a:latin typeface="Aptos"/>
              </a:rPr>
              <a:t>Le projet répond à la logique de la SAE : concevoir une base, l'alimenter, l'explorer et la présenter de manière claire.</a:t>
            </a:r>
            <a:endParaRPr lang="fr-FR" sz="1350" b="0" u="none" strike="noStrike">
              <a:solidFill>
                <a:srgbClr val="000000"/>
              </a:solidFill>
              <a:effectLst/>
              <a:uFillTx/>
              <a:latin typeface="Arial"/>
            </a:endParaRPr>
          </a:p>
        </p:txBody>
      </p:sp>
      <p:sp>
        <p:nvSpPr>
          <p:cNvPr id="420" name="Text 22"/>
          <p:cNvSpPr/>
          <p:nvPr/>
        </p:nvSpPr>
        <p:spPr>
          <a:xfrm>
            <a:off x="548640" y="6519600"/>
            <a:ext cx="3839760" cy="1364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800" b="0" u="none" strike="noStrike">
                <a:solidFill>
                  <a:srgbClr val="94a3b8"/>
                </a:solidFill>
                <a:effectLst/>
                <a:uFillTx/>
                <a:latin typeface="Aptos"/>
              </a:rPr>
              <a:t>SAE 2.04 - Exploitation d'une base de données</a:t>
            </a:r>
            <a:endParaRPr lang="fr-FR" sz="800" b="0" u="none" strike="noStrike">
              <a:solidFill>
                <a:srgbClr val="000000"/>
              </a:solidFill>
              <a:effectLst/>
              <a:uFillTx/>
              <a:latin typeface="Arial"/>
            </a:endParaRPr>
          </a:p>
        </p:txBody>
      </p:sp>
      <p:sp>
        <p:nvSpPr>
          <p:cNvPr id="421" name="Text 23"/>
          <p:cNvSpPr/>
          <p:nvPr/>
        </p:nvSpPr>
        <p:spPr>
          <a:xfrm>
            <a:off x="10424160" y="6519600"/>
            <a:ext cx="1188000" cy="13644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lang="en-US" sz="800" b="0" u="none" strike="noStrike">
                <a:solidFill>
                  <a:srgbClr val="94a3b8"/>
                </a:solidFill>
                <a:effectLst/>
                <a:uFillTx/>
                <a:latin typeface="Aptos"/>
              </a:rPr>
              <a:t>Métro parisien</a:t>
            </a:r>
            <a:endParaRPr lang="fr-FR"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827"/>
        </a:solidFill>
      </p:bgPr>
    </p:bg>
    <p:spTree>
      <p:nvGrpSpPr>
        <p:cNvPr id="1" name=""/>
        <p:cNvGrpSpPr/>
        <p:nvPr/>
      </p:nvGrpSpPr>
      <p:grpSpPr>
        <a:xfrm>
          <a:off x="0" y="0"/>
          <a:ext cx="0" cy="0"/>
          <a:chOff x="0" y="0"/>
          <a:chExt cx="0" cy="0"/>
        </a:xfrm>
      </p:grpSpPr>
      <p:sp>
        <p:nvSpPr>
          <p:cNvPr id="422" name="Shape 0"/>
          <p:cNvSpPr/>
          <p:nvPr/>
        </p:nvSpPr>
        <p:spPr>
          <a:xfrm>
            <a:off x="0" y="0"/>
            <a:ext cx="12191040" cy="182160"/>
          </a:xfrm>
          <a:prstGeom prst="rect">
            <a:avLst/>
          </a:prstGeom>
          <a:solidFill>
            <a:srgbClr val="1d4ed8"/>
          </a:solidFill>
          <a:ln w="12700">
            <a:solidFill>
              <a:srgbClr val="1d4ed8"/>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423" name="Shape 1"/>
          <p:cNvSpPr/>
          <p:nvPr/>
        </p:nvSpPr>
        <p:spPr>
          <a:xfrm>
            <a:off x="0" y="6355080"/>
            <a:ext cx="12252960" cy="360"/>
          </a:xfrm>
          <a:prstGeom prst="line">
            <a:avLst/>
          </a:prstGeom>
          <a:ln w="12700">
            <a:solidFill>
              <a:srgbClr val="334155"/>
            </a:solidFill>
            <a:round/>
          </a:ln>
        </p:spPr>
        <p:style>
          <a:lnRef idx="0"/>
          <a:fillRef idx="0"/>
          <a:effectRef idx="0"/>
          <a:fontRef idx="minor"/>
        </p:style>
        <p:txBody>
          <a:bodyPr lIns="90000" rIns="90000" tIns="-44640" bIns="-44640" anchor="t" anchorCtr="1">
            <a:noAutofit/>
          </a:bodyPr>
          <a:p>
            <a:endParaRPr lang="fr-FR" sz="1800" b="0" u="none" strike="noStrike">
              <a:solidFill>
                <a:srgbClr val="ffffff"/>
              </a:solidFill>
              <a:effectLst/>
              <a:uFillTx/>
              <a:latin typeface="Arial"/>
            </a:endParaRPr>
          </a:p>
        </p:txBody>
      </p:sp>
      <p:sp>
        <p:nvSpPr>
          <p:cNvPr id="424" name="Shape 2"/>
          <p:cNvSpPr/>
          <p:nvPr/>
        </p:nvSpPr>
        <p:spPr>
          <a:xfrm>
            <a:off x="868680" y="640080"/>
            <a:ext cx="346680" cy="255240"/>
          </a:xfrm>
          <a:prstGeom prst="roundRect">
            <a:avLst>
              <a:gd name="adj" fmla="val 17857"/>
            </a:avLst>
          </a:prstGeom>
          <a:solidFill>
            <a:srgbClr val="ffbe00"/>
          </a:solidFill>
          <a:ln w="12700">
            <a:solidFill>
              <a:srgbClr val="ffbe00"/>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425" name="Text 3"/>
          <p:cNvSpPr/>
          <p:nvPr/>
        </p:nvSpPr>
        <p:spPr>
          <a:xfrm>
            <a:off x="868680" y="685080"/>
            <a:ext cx="346680" cy="1821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100" b="1" u="none" strike="noStrike">
                <a:solidFill>
                  <a:srgbClr val="ffffff"/>
                </a:solidFill>
                <a:effectLst/>
                <a:uFillTx/>
                <a:latin typeface="Aptos"/>
              </a:rPr>
              <a:t>1</a:t>
            </a:r>
            <a:endParaRPr lang="fr-FR" sz="1100" b="0" u="none" strike="noStrike">
              <a:solidFill>
                <a:srgbClr val="ffffff"/>
              </a:solidFill>
              <a:effectLst/>
              <a:uFillTx/>
              <a:latin typeface="Arial"/>
            </a:endParaRPr>
          </a:p>
        </p:txBody>
      </p:sp>
      <p:sp>
        <p:nvSpPr>
          <p:cNvPr id="426" name="Shape 4"/>
          <p:cNvSpPr/>
          <p:nvPr/>
        </p:nvSpPr>
        <p:spPr>
          <a:xfrm>
            <a:off x="1307520" y="640080"/>
            <a:ext cx="346680" cy="255240"/>
          </a:xfrm>
          <a:prstGeom prst="roundRect">
            <a:avLst>
              <a:gd name="adj" fmla="val 17857"/>
            </a:avLst>
          </a:prstGeom>
          <a:solidFill>
            <a:srgbClr val="cf009e"/>
          </a:solidFill>
          <a:ln w="12700">
            <a:solidFill>
              <a:srgbClr val="cf009e"/>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427" name="Text 5"/>
          <p:cNvSpPr/>
          <p:nvPr/>
        </p:nvSpPr>
        <p:spPr>
          <a:xfrm>
            <a:off x="1307520" y="685080"/>
            <a:ext cx="346680" cy="1821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100" b="1" u="none" strike="noStrike">
                <a:solidFill>
                  <a:srgbClr val="ffffff"/>
                </a:solidFill>
                <a:effectLst/>
                <a:uFillTx/>
                <a:latin typeface="Aptos"/>
              </a:rPr>
              <a:t>4</a:t>
            </a:r>
            <a:endParaRPr lang="fr-FR" sz="1100" b="0" u="none" strike="noStrike">
              <a:solidFill>
                <a:srgbClr val="ffffff"/>
              </a:solidFill>
              <a:effectLst/>
              <a:uFillTx/>
              <a:latin typeface="Arial"/>
            </a:endParaRPr>
          </a:p>
        </p:txBody>
      </p:sp>
      <p:sp>
        <p:nvSpPr>
          <p:cNvPr id="428" name="Shape 6"/>
          <p:cNvSpPr/>
          <p:nvPr/>
        </p:nvSpPr>
        <p:spPr>
          <a:xfrm>
            <a:off x="1746360" y="640080"/>
            <a:ext cx="346680" cy="255240"/>
          </a:xfrm>
          <a:prstGeom prst="roundRect">
            <a:avLst>
              <a:gd name="adj" fmla="val 17857"/>
            </a:avLst>
          </a:prstGeom>
          <a:solidFill>
            <a:srgbClr val="fa9aba"/>
          </a:solidFill>
          <a:ln w="12700">
            <a:solidFill>
              <a:srgbClr val="fa9aba"/>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429" name="Text 7"/>
          <p:cNvSpPr/>
          <p:nvPr/>
        </p:nvSpPr>
        <p:spPr>
          <a:xfrm>
            <a:off x="1746360" y="685080"/>
            <a:ext cx="346680" cy="1821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100" b="1" u="none" strike="noStrike">
                <a:solidFill>
                  <a:srgbClr val="ffffff"/>
                </a:solidFill>
                <a:effectLst/>
                <a:uFillTx/>
                <a:latin typeface="Aptos"/>
              </a:rPr>
              <a:t>7</a:t>
            </a:r>
            <a:endParaRPr lang="fr-FR" sz="1100" b="0" u="none" strike="noStrike">
              <a:solidFill>
                <a:srgbClr val="ffffff"/>
              </a:solidFill>
              <a:effectLst/>
              <a:uFillTx/>
              <a:latin typeface="Arial"/>
            </a:endParaRPr>
          </a:p>
        </p:txBody>
      </p:sp>
      <p:sp>
        <p:nvSpPr>
          <p:cNvPr id="430" name="Shape 8"/>
          <p:cNvSpPr/>
          <p:nvPr/>
        </p:nvSpPr>
        <p:spPr>
          <a:xfrm>
            <a:off x="2185560" y="640080"/>
            <a:ext cx="346680" cy="255240"/>
          </a:xfrm>
          <a:prstGeom prst="roundRect">
            <a:avLst>
              <a:gd name="adj" fmla="val 17857"/>
            </a:avLst>
          </a:prstGeom>
          <a:solidFill>
            <a:srgbClr val="e19bdf"/>
          </a:solidFill>
          <a:ln w="12700">
            <a:solidFill>
              <a:srgbClr val="e19bdf"/>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000000"/>
              </a:solidFill>
              <a:effectLst/>
              <a:uFillTx/>
              <a:latin typeface="Arial"/>
            </a:endParaRPr>
          </a:p>
        </p:txBody>
      </p:sp>
      <p:sp>
        <p:nvSpPr>
          <p:cNvPr id="431" name="Text 9"/>
          <p:cNvSpPr/>
          <p:nvPr/>
        </p:nvSpPr>
        <p:spPr>
          <a:xfrm>
            <a:off x="2185560" y="685080"/>
            <a:ext cx="346680" cy="1821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100" b="1" u="none" strike="noStrike">
                <a:solidFill>
                  <a:srgbClr val="ffffff"/>
                </a:solidFill>
                <a:effectLst/>
                <a:uFillTx/>
                <a:latin typeface="Aptos"/>
              </a:rPr>
              <a:t>8</a:t>
            </a:r>
            <a:endParaRPr lang="fr-FR" sz="1100" b="0" u="none" strike="noStrike">
              <a:solidFill>
                <a:srgbClr val="ffffff"/>
              </a:solidFill>
              <a:effectLst/>
              <a:uFillTx/>
              <a:latin typeface="Arial"/>
            </a:endParaRPr>
          </a:p>
        </p:txBody>
      </p:sp>
      <p:sp>
        <p:nvSpPr>
          <p:cNvPr id="432" name="Shape 10"/>
          <p:cNvSpPr/>
          <p:nvPr/>
        </p:nvSpPr>
        <p:spPr>
          <a:xfrm>
            <a:off x="2624400" y="640080"/>
            <a:ext cx="346680" cy="255240"/>
          </a:xfrm>
          <a:prstGeom prst="roundRect">
            <a:avLst>
              <a:gd name="adj" fmla="val 17857"/>
            </a:avLst>
          </a:prstGeom>
          <a:solidFill>
            <a:srgbClr val="9f9825"/>
          </a:solidFill>
          <a:ln w="12700">
            <a:solidFill>
              <a:srgbClr val="9f9825"/>
            </a:solidFill>
            <a:round/>
          </a:ln>
        </p:spPr>
        <p:style>
          <a:lnRef idx="0"/>
          <a:fillRef idx="0"/>
          <a:effectRef idx="0"/>
          <a:fontRef idx="minor"/>
        </p:style>
        <p:txBody>
          <a:bodyPr lIns="90000" rIns="90000" tIns="45000" bIns="45000" anchor="t">
            <a:noAutofit/>
          </a:bodyPr>
          <a:p>
            <a:endParaRPr lang="fr-FR" sz="1800" b="0" u="none" strike="noStrike">
              <a:solidFill>
                <a:srgbClr val="ffffff"/>
              </a:solidFill>
              <a:effectLst/>
              <a:uFillTx/>
              <a:latin typeface="Arial"/>
            </a:endParaRPr>
          </a:p>
        </p:txBody>
      </p:sp>
      <p:sp>
        <p:nvSpPr>
          <p:cNvPr id="433" name="Text 11"/>
          <p:cNvSpPr/>
          <p:nvPr/>
        </p:nvSpPr>
        <p:spPr>
          <a:xfrm>
            <a:off x="2624400" y="685080"/>
            <a:ext cx="346680" cy="1821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100" b="1" u="none" strike="noStrike">
                <a:solidFill>
                  <a:srgbClr val="ffffff"/>
                </a:solidFill>
                <a:effectLst/>
                <a:uFillTx/>
                <a:latin typeface="Aptos"/>
              </a:rPr>
              <a:t>9</a:t>
            </a:r>
            <a:endParaRPr lang="fr-FR" sz="1100" b="0" u="none" strike="noStrike">
              <a:solidFill>
                <a:srgbClr val="ffffff"/>
              </a:solidFill>
              <a:effectLst/>
              <a:uFillTx/>
              <a:latin typeface="Arial"/>
            </a:endParaRPr>
          </a:p>
        </p:txBody>
      </p:sp>
      <p:sp>
        <p:nvSpPr>
          <p:cNvPr id="434" name="Text 12"/>
          <p:cNvSpPr/>
          <p:nvPr/>
        </p:nvSpPr>
        <p:spPr>
          <a:xfrm>
            <a:off x="868680" y="1342440"/>
            <a:ext cx="2742480" cy="3650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2800" b="1" u="none" strike="noStrike">
                <a:solidFill>
                  <a:srgbClr val="ffffff"/>
                </a:solidFill>
                <a:effectLst/>
                <a:uFillTx/>
                <a:latin typeface="Aptos Display"/>
                <a:ea typeface="Aptos Display"/>
              </a:rPr>
              <a:t>Conclusion</a:t>
            </a:r>
            <a:endParaRPr lang="fr-FR" sz="2800" b="0" u="none" strike="noStrike">
              <a:solidFill>
                <a:srgbClr val="ffffff"/>
              </a:solidFill>
              <a:effectLst/>
              <a:uFillTx/>
              <a:latin typeface="Arial"/>
            </a:endParaRPr>
          </a:p>
        </p:txBody>
      </p:sp>
      <p:sp>
        <p:nvSpPr>
          <p:cNvPr id="435" name="Text 13"/>
          <p:cNvSpPr/>
          <p:nvPr/>
        </p:nvSpPr>
        <p:spPr>
          <a:xfrm>
            <a:off x="868680" y="2224800"/>
            <a:ext cx="6125760" cy="10965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800" b="0" u="none" strike="noStrike">
                <a:solidFill>
                  <a:srgbClr val="d7e1ee"/>
                </a:solidFill>
                <a:effectLst/>
                <a:uFillTx/>
                <a:latin typeface="Aptos"/>
              </a:rPr>
              <a:t>Notre projet propose une base relationnelle simple et cohérente sur le métro parisien.</a:t>
            </a:r>
            <a:endParaRPr lang="fr-FR" sz="1800" b="0" u="none" strike="noStrike">
              <a:solidFill>
                <a:srgbClr val="ffffff"/>
              </a:solidFill>
              <a:effectLst/>
              <a:uFillTx/>
              <a:latin typeface="Arial"/>
            </a:endParaRPr>
          </a:p>
          <a:p>
            <a:pPr defTabSz="914400">
              <a:lnSpc>
                <a:spcPct val="100000"/>
              </a:lnSpc>
              <a:tabLst>
                <a:tab algn="l" pos="0"/>
              </a:tabLst>
            </a:pPr>
            <a:r>
              <a:rPr lang="en-US" sz="1800" b="0" u="none" strike="noStrike">
                <a:solidFill>
                  <a:srgbClr val="d7e1ee"/>
                </a:solidFill>
                <a:effectLst/>
                <a:uFillTx/>
                <a:latin typeface="Aptos"/>
              </a:rPr>
              <a:t>Il répond à une demande fictive de la RATP et illustre toutes les étapes de la SAE : besoin client, modélisation, script SQL, données, requêtes et visualisation.</a:t>
            </a:r>
            <a:endParaRPr lang="fr-FR" sz="1800" b="0" u="none" strike="noStrike">
              <a:solidFill>
                <a:srgbClr val="ffffff"/>
              </a:solidFill>
              <a:effectLst/>
              <a:uFillTx/>
              <a:latin typeface="Arial"/>
            </a:endParaRPr>
          </a:p>
        </p:txBody>
      </p:sp>
      <p:sp>
        <p:nvSpPr>
          <p:cNvPr id="436" name="Shape 14"/>
          <p:cNvSpPr/>
          <p:nvPr/>
        </p:nvSpPr>
        <p:spPr>
          <a:xfrm>
            <a:off x="896040" y="4058640"/>
            <a:ext cx="90720" cy="90720"/>
          </a:xfrm>
          <a:prstGeom prst="ellipse">
            <a:avLst/>
          </a:prstGeom>
          <a:solidFill>
            <a:srgbClr val="38bdf8"/>
          </a:solidFill>
          <a:ln w="12700">
            <a:solidFill>
              <a:srgbClr val="38bdf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000000"/>
              </a:solidFill>
              <a:effectLst/>
              <a:uFillTx/>
              <a:latin typeface="Arial"/>
            </a:endParaRPr>
          </a:p>
        </p:txBody>
      </p:sp>
      <p:sp>
        <p:nvSpPr>
          <p:cNvPr id="437" name="Text 15"/>
          <p:cNvSpPr/>
          <p:nvPr/>
        </p:nvSpPr>
        <p:spPr>
          <a:xfrm>
            <a:off x="1060560" y="4093560"/>
            <a:ext cx="548568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600" b="0" u="none" strike="noStrike">
                <a:solidFill>
                  <a:srgbClr val="e5e7eb"/>
                </a:solidFill>
                <a:effectLst/>
                <a:uFillTx/>
                <a:latin typeface="Aptos"/>
              </a:rPr>
              <a:t>Base structurée autour des lignes, stations, trajets et passages</a:t>
            </a:r>
            <a:endParaRPr lang="fr-FR" sz="1600" b="0" u="none" strike="noStrike">
              <a:solidFill>
                <a:srgbClr val="ffffff"/>
              </a:solidFill>
              <a:effectLst/>
              <a:uFillTx/>
              <a:latin typeface="Arial"/>
            </a:endParaRPr>
          </a:p>
        </p:txBody>
      </p:sp>
      <p:sp>
        <p:nvSpPr>
          <p:cNvPr id="438" name="Shape 16"/>
          <p:cNvSpPr/>
          <p:nvPr/>
        </p:nvSpPr>
        <p:spPr>
          <a:xfrm>
            <a:off x="896040" y="4767840"/>
            <a:ext cx="90720" cy="90720"/>
          </a:xfrm>
          <a:prstGeom prst="ellipse">
            <a:avLst/>
          </a:prstGeom>
          <a:solidFill>
            <a:srgbClr val="38bdf8"/>
          </a:solidFill>
          <a:ln w="12700">
            <a:solidFill>
              <a:srgbClr val="38bdf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000000"/>
              </a:solidFill>
              <a:effectLst/>
              <a:uFillTx/>
              <a:latin typeface="Arial"/>
            </a:endParaRPr>
          </a:p>
        </p:txBody>
      </p:sp>
      <p:sp>
        <p:nvSpPr>
          <p:cNvPr id="439" name="Text 17"/>
          <p:cNvSpPr/>
          <p:nvPr/>
        </p:nvSpPr>
        <p:spPr>
          <a:xfrm>
            <a:off x="1060560" y="4694760"/>
            <a:ext cx="548568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600" b="0" u="none" strike="noStrike">
                <a:solidFill>
                  <a:srgbClr val="e5e7eb"/>
                </a:solidFill>
                <a:effectLst/>
                <a:uFillTx/>
                <a:latin typeface="Aptos"/>
              </a:rPr>
              <a:t>Travail d'équipe organisé avec GitHub</a:t>
            </a:r>
            <a:endParaRPr lang="fr-FR" sz="1600" b="0" u="none" strike="noStrike">
              <a:solidFill>
                <a:srgbClr val="ffffff"/>
              </a:solidFill>
              <a:effectLst/>
              <a:uFillTx/>
              <a:latin typeface="Arial"/>
            </a:endParaRPr>
          </a:p>
        </p:txBody>
      </p:sp>
      <p:sp>
        <p:nvSpPr>
          <p:cNvPr id="440" name="Shape 18"/>
          <p:cNvSpPr/>
          <p:nvPr/>
        </p:nvSpPr>
        <p:spPr>
          <a:xfrm>
            <a:off x="896040" y="5261040"/>
            <a:ext cx="90720" cy="90720"/>
          </a:xfrm>
          <a:prstGeom prst="ellipse">
            <a:avLst/>
          </a:prstGeom>
          <a:solidFill>
            <a:srgbClr val="38bdf8"/>
          </a:solidFill>
          <a:ln w="12700">
            <a:solidFill>
              <a:srgbClr val="38bdf8"/>
            </a:solidFill>
            <a:round/>
          </a:ln>
        </p:spPr>
        <p:style>
          <a:lnRef idx="0"/>
          <a:fillRef idx="0"/>
          <a:effectRef idx="0"/>
          <a:fontRef idx="minor"/>
        </p:style>
        <p:txBody>
          <a:bodyPr lIns="90000" rIns="90000" tIns="19440" bIns="19440" anchor="t">
            <a:noAutofit/>
          </a:bodyPr>
          <a:p>
            <a:pPr>
              <a:lnSpc>
                <a:spcPct val="100000"/>
              </a:lnSpc>
            </a:pPr>
            <a:endParaRPr lang="fr-FR" sz="1800" b="0" u="none" strike="noStrike">
              <a:solidFill>
                <a:srgbClr val="000000"/>
              </a:solidFill>
              <a:effectLst/>
              <a:uFillTx/>
              <a:latin typeface="Arial"/>
            </a:endParaRPr>
          </a:p>
        </p:txBody>
      </p:sp>
      <p:sp>
        <p:nvSpPr>
          <p:cNvPr id="441" name="Text 19"/>
          <p:cNvSpPr/>
          <p:nvPr/>
        </p:nvSpPr>
        <p:spPr>
          <a:xfrm>
            <a:off x="1060560" y="5295960"/>
            <a:ext cx="5485680" cy="227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600" b="0" u="none" strike="noStrike">
                <a:solidFill>
                  <a:srgbClr val="e5e7eb"/>
                </a:solidFill>
                <a:effectLst/>
                <a:uFillTx/>
                <a:latin typeface="Aptos"/>
              </a:rPr>
              <a:t>Exploitation possible par requêtes SQL et graphiques</a:t>
            </a:r>
            <a:endParaRPr lang="fr-FR" sz="1600" b="0" u="none" strike="noStrike">
              <a:solidFill>
                <a:srgbClr val="ffffff"/>
              </a:solidFill>
              <a:effectLst/>
              <a:uFillTx/>
              <a:latin typeface="Arial"/>
            </a:endParaRPr>
          </a:p>
        </p:txBody>
      </p:sp>
      <p:sp>
        <p:nvSpPr>
          <p:cNvPr id="442" name="Shape 20"/>
          <p:cNvSpPr/>
          <p:nvPr/>
        </p:nvSpPr>
        <p:spPr>
          <a:xfrm>
            <a:off x="7360920" y="540000"/>
            <a:ext cx="3976920" cy="4320000"/>
          </a:xfrm>
          <a:prstGeom prst="roundRect">
            <a:avLst>
              <a:gd name="adj" fmla="val 2078"/>
            </a:avLst>
          </a:prstGeom>
          <a:solidFill>
            <a:srgbClr val="0f172a"/>
          </a:solidFill>
          <a:ln w="12700">
            <a:solidFill>
              <a:srgbClr val="334155"/>
            </a:solidFill>
            <a:round/>
          </a:ln>
          <a:effectLst>
            <a:outerShdw algn="bl" blurRad="19080" dir="2700000" dist="14255" kx="0" ky="0" rotWithShape="0" sx="100000" sy="100000">
              <a:srgbClr val="000000">
                <a:alpha val="14000"/>
              </a:srgbClr>
            </a:outerShdw>
          </a:effectLst>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443" name="Text 21"/>
          <p:cNvSpPr/>
          <p:nvPr/>
        </p:nvSpPr>
        <p:spPr>
          <a:xfrm>
            <a:off x="7662600" y="811080"/>
            <a:ext cx="1645200" cy="2368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2000" b="1" u="none" strike="noStrike">
                <a:solidFill>
                  <a:srgbClr val="ffffff"/>
                </a:solidFill>
                <a:effectLst/>
                <a:uFillTx/>
                <a:latin typeface="Aptos"/>
              </a:rPr>
              <a:t>À retenir</a:t>
            </a:r>
            <a:endParaRPr lang="fr-FR" sz="2000" b="0" u="none" strike="noStrike">
              <a:solidFill>
                <a:srgbClr val="ffffff"/>
              </a:solidFill>
              <a:effectLst/>
              <a:uFillTx/>
              <a:latin typeface="Arial"/>
            </a:endParaRPr>
          </a:p>
        </p:txBody>
      </p:sp>
      <p:sp>
        <p:nvSpPr>
          <p:cNvPr id="444" name="Text 22"/>
          <p:cNvSpPr/>
          <p:nvPr/>
        </p:nvSpPr>
        <p:spPr>
          <a:xfrm>
            <a:off x="7662600" y="1816920"/>
            <a:ext cx="3062520" cy="13251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1540" b="0" u="none" strike="noStrike">
                <a:solidFill>
                  <a:srgbClr val="d1d5db"/>
                </a:solidFill>
                <a:effectLst/>
                <a:uFillTx/>
                <a:latin typeface="Aptos"/>
              </a:rPr>
              <a:t>• Une base claire vaut mieux qu'un modèle trop compliqué.</a:t>
            </a:r>
            <a:endParaRPr lang="fr-FR" sz="1540" b="0" u="none" strike="noStrike">
              <a:solidFill>
                <a:srgbClr val="ffffff"/>
              </a:solidFill>
              <a:effectLst/>
              <a:uFillTx/>
              <a:latin typeface="Arial"/>
            </a:endParaRPr>
          </a:p>
          <a:p>
            <a:pPr defTabSz="914400">
              <a:lnSpc>
                <a:spcPct val="100000"/>
              </a:lnSpc>
              <a:tabLst>
                <a:tab algn="l" pos="0"/>
              </a:tabLst>
            </a:pPr>
            <a:r>
              <a:rPr lang="en-US" sz="1540" b="0" u="none" strike="noStrike">
                <a:solidFill>
                  <a:srgbClr val="d1d5db"/>
                </a:solidFill>
                <a:effectLst/>
                <a:uFillTx/>
                <a:latin typeface="Aptos"/>
              </a:rPr>
              <a:t>• Les scripts rendent le projet reproductible.</a:t>
            </a:r>
            <a:endParaRPr lang="fr-FR" sz="1540" b="0" u="none" strike="noStrike">
              <a:solidFill>
                <a:srgbClr val="ffffff"/>
              </a:solidFill>
              <a:effectLst/>
              <a:uFillTx/>
              <a:latin typeface="Arial"/>
            </a:endParaRPr>
          </a:p>
          <a:p>
            <a:pPr defTabSz="914400">
              <a:lnSpc>
                <a:spcPct val="100000"/>
              </a:lnSpc>
              <a:tabLst>
                <a:tab algn="l" pos="0"/>
              </a:tabLst>
            </a:pPr>
            <a:r>
              <a:rPr lang="en-US" sz="1540" b="0" u="none" strike="noStrike">
                <a:solidFill>
                  <a:srgbClr val="d1d5db"/>
                </a:solidFill>
                <a:effectLst/>
                <a:uFillTx/>
                <a:latin typeface="Aptos"/>
              </a:rPr>
              <a:t>• Les requêtes donnent du sens aux données.</a:t>
            </a:r>
            <a:endParaRPr lang="fr-FR" sz="1540" b="0" u="none" strike="noStrike">
              <a:solidFill>
                <a:srgbClr val="ffffff"/>
              </a:solidFill>
              <a:effectLst/>
              <a:uFillTx/>
              <a:latin typeface="Arial"/>
            </a:endParaRPr>
          </a:p>
          <a:p>
            <a:pPr defTabSz="914400">
              <a:lnSpc>
                <a:spcPct val="100000"/>
              </a:lnSpc>
              <a:tabLst>
                <a:tab algn="l" pos="0"/>
              </a:tabLst>
            </a:pPr>
            <a:r>
              <a:rPr lang="en-US" sz="1540" b="0" u="none" strike="noStrike">
                <a:solidFill>
                  <a:srgbClr val="d1d5db"/>
                </a:solidFill>
                <a:effectLst/>
                <a:uFillTx/>
                <a:latin typeface="Aptos"/>
              </a:rPr>
              <a:t>• La présentation doit montrer la logique du travail, pas seulement le résultat.</a:t>
            </a:r>
            <a:endParaRPr lang="fr-FR" sz="1540" b="0" u="none" strike="noStrike">
              <a:solidFill>
                <a:srgbClr val="ffffff"/>
              </a:solidFill>
              <a:effectLst/>
              <a:uFillTx/>
              <a:latin typeface="Arial"/>
            </a:endParaRPr>
          </a:p>
        </p:txBody>
      </p:sp>
      <p:sp>
        <p:nvSpPr>
          <p:cNvPr id="445" name="Shape 23"/>
          <p:cNvSpPr/>
          <p:nvPr/>
        </p:nvSpPr>
        <p:spPr>
          <a:xfrm>
            <a:off x="7560000" y="4033080"/>
            <a:ext cx="3600000" cy="566280"/>
          </a:xfrm>
          <a:prstGeom prst="roundRect">
            <a:avLst>
              <a:gd name="adj" fmla="val 6452"/>
            </a:avLst>
          </a:prstGeom>
          <a:solidFill>
            <a:srgbClr val="1d4ed8"/>
          </a:solidFill>
          <a:ln w="12700">
            <a:solidFill>
              <a:srgbClr val="1d4ed8"/>
            </a:solidFill>
            <a:round/>
          </a:ln>
        </p:spPr>
        <p:style>
          <a:lnRef idx="0"/>
          <a:fillRef idx="0"/>
          <a:effectRef idx="0"/>
          <a:fontRef idx="minor"/>
        </p:style>
        <p:txBody>
          <a:bodyPr lIns="90000" rIns="90000" tIns="45000" bIns="45000" anchor="t">
            <a:noAutofit/>
          </a:bodyPr>
          <a:p>
            <a:pPr>
              <a:lnSpc>
                <a:spcPct val="100000"/>
              </a:lnSpc>
            </a:pPr>
            <a:endParaRPr lang="fr-FR" sz="1800" b="0" u="none" strike="noStrike">
              <a:solidFill>
                <a:srgbClr val="ffffff"/>
              </a:solidFill>
              <a:effectLst/>
              <a:uFillTx/>
              <a:latin typeface="Arial"/>
            </a:endParaRPr>
          </a:p>
        </p:txBody>
      </p:sp>
      <p:sp>
        <p:nvSpPr>
          <p:cNvPr id="446" name="Text 24"/>
          <p:cNvSpPr/>
          <p:nvPr/>
        </p:nvSpPr>
        <p:spPr>
          <a:xfrm>
            <a:off x="7422120" y="4233600"/>
            <a:ext cx="3881880" cy="1821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lang="en-US" sz="1800" b="1" u="none" strike="noStrike">
                <a:solidFill>
                  <a:srgbClr val="ffffff"/>
                </a:solidFill>
                <a:effectLst/>
                <a:uFillTx/>
                <a:latin typeface="Aptos"/>
              </a:rPr>
              <a:t>Merci pour votre attention</a:t>
            </a:r>
            <a:endParaRPr lang="fr-FR" sz="1800" b="0" u="none" strike="noStrike">
              <a:solidFill>
                <a:srgbClr val="ffffff"/>
              </a:solidFill>
              <a:effectLst/>
              <a:uFillTx/>
              <a:latin typeface="Arial"/>
            </a:endParaRPr>
          </a:p>
        </p:txBody>
      </p:sp>
      <p:sp>
        <p:nvSpPr>
          <p:cNvPr id="447" name="Text 25"/>
          <p:cNvSpPr/>
          <p:nvPr/>
        </p:nvSpPr>
        <p:spPr>
          <a:xfrm>
            <a:off x="868680" y="6509880"/>
            <a:ext cx="5668560" cy="1090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lang="en-US" sz="800" b="0" u="none" strike="noStrike">
                <a:solidFill>
                  <a:srgbClr val="94a3b8"/>
                </a:solidFill>
                <a:effectLst/>
                <a:uFillTx/>
                <a:latin typeface="Aptos"/>
              </a:rPr>
              <a:t>SAE 2.04 - Exploitation d'une base de données</a:t>
            </a:r>
            <a:endParaRPr lang="fr-FR" sz="800" b="0" u="none" strike="noStrike">
              <a:solidFill>
                <a:srgbClr val="ffffff"/>
              </a:solidFill>
              <a:effectLst/>
              <a:uFillTx/>
              <a:latin typeface="Arial"/>
            </a:endParaRPr>
          </a:p>
        </p:txBody>
      </p:sp>
      <p:sp>
        <p:nvSpPr>
          <p:cNvPr id="448" name=""/>
          <p:cNvSpPr txBox="1"/>
          <p:nvPr/>
        </p:nvSpPr>
        <p:spPr>
          <a:xfrm>
            <a:off x="7416000" y="5148000"/>
            <a:ext cx="3600000" cy="900000"/>
          </a:xfrm>
          <a:prstGeom prst="rect">
            <a:avLst/>
          </a:prstGeom>
          <a:noFill/>
          <a:ln w="0">
            <a:noFill/>
          </a:ln>
        </p:spPr>
        <p:txBody>
          <a:bodyPr lIns="90000" rIns="90000" tIns="45000" bIns="45000" anchor="t">
            <a:spAutoFit/>
          </a:bodyPr>
          <a:p>
            <a:pPr defTabSz="914400">
              <a:lnSpc>
                <a:spcPct val="100000"/>
              </a:lnSpc>
              <a:tabLst>
                <a:tab algn="l" pos="0"/>
              </a:tabLst>
            </a:pPr>
            <a:r>
              <a:rPr lang="en-US" sz="1350" b="0" u="none" strike="noStrike">
                <a:solidFill>
                  <a:srgbClr val="e2e8f0"/>
                </a:solidFill>
                <a:effectLst/>
                <a:uFillTx/>
                <a:latin typeface="Aptos"/>
              </a:rPr>
              <a:t>Ali DEMIR, </a:t>
            </a:r>
            <a:endParaRPr lang="fr-FR" sz="1350" b="0" u="none" strike="noStrike">
              <a:solidFill>
                <a:srgbClr val="ffffff"/>
              </a:solidFill>
              <a:effectLst/>
              <a:uFillTx/>
              <a:latin typeface="Arial"/>
            </a:endParaRPr>
          </a:p>
          <a:p>
            <a:pPr defTabSz="914400">
              <a:lnSpc>
                <a:spcPct val="100000"/>
              </a:lnSpc>
              <a:tabLst>
                <a:tab algn="l" pos="0"/>
              </a:tabLst>
            </a:pPr>
            <a:r>
              <a:rPr lang="en-US" sz="1350" b="0" u="none" strike="noStrike">
                <a:solidFill>
                  <a:srgbClr val="e2e8f0"/>
                </a:solidFill>
                <a:effectLst/>
                <a:uFillTx/>
                <a:latin typeface="Aptos"/>
              </a:rPr>
              <a:t>Antoine TOUCANE, </a:t>
            </a:r>
            <a:endParaRPr lang="fr-FR" sz="1350" b="0" u="none" strike="noStrike">
              <a:solidFill>
                <a:srgbClr val="ffffff"/>
              </a:solidFill>
              <a:effectLst/>
              <a:uFillTx/>
              <a:latin typeface="Arial"/>
            </a:endParaRPr>
          </a:p>
          <a:p>
            <a:pPr defTabSz="914400">
              <a:lnSpc>
                <a:spcPct val="100000"/>
              </a:lnSpc>
              <a:tabLst>
                <a:tab algn="l" pos="0"/>
              </a:tabLst>
            </a:pPr>
            <a:r>
              <a:rPr lang="en-US" sz="1350" b="0" u="none" strike="noStrike">
                <a:solidFill>
                  <a:srgbClr val="e2e8f0"/>
                </a:solidFill>
                <a:effectLst/>
                <a:uFillTx/>
                <a:latin typeface="Aptos"/>
              </a:rPr>
              <a:t>Zakariya BOURGUIBA,</a:t>
            </a:r>
            <a:endParaRPr lang="fr-FR" sz="1350" b="0" u="none" strike="noStrike">
              <a:solidFill>
                <a:srgbClr val="ffffff"/>
              </a:solidFill>
              <a:effectLst/>
              <a:uFillTx/>
              <a:latin typeface="Arial"/>
            </a:endParaRPr>
          </a:p>
          <a:p>
            <a:pPr defTabSz="914400">
              <a:lnSpc>
                <a:spcPct val="100000"/>
              </a:lnSpc>
              <a:tabLst>
                <a:tab algn="l" pos="0"/>
              </a:tabLst>
            </a:pPr>
            <a:r>
              <a:rPr lang="en-US" sz="1350" b="0" u="none" strike="noStrike">
                <a:solidFill>
                  <a:srgbClr val="e2e8f0"/>
                </a:solidFill>
                <a:effectLst/>
                <a:uFillTx/>
                <a:latin typeface="Aptos"/>
              </a:rPr>
              <a:t>Stiven NIKULIKA</a:t>
            </a:r>
            <a:endParaRPr lang="fr-FR" sz="1350" b="0" u="none" strike="noStrike">
              <a:solidFill>
                <a:srgbClr val="ffffff"/>
              </a:solidFill>
              <a:effectLst/>
              <a:uFillTx/>
              <a:latin typeface="Arial"/>
            </a:endParaRPr>
          </a:p>
        </p:txBody>
      </p:sp>
      <p:sp>
        <p:nvSpPr>
          <p:cNvPr id="449" name=""/>
          <p:cNvSpPr txBox="1"/>
          <p:nvPr/>
        </p:nvSpPr>
        <p:spPr>
          <a:xfrm>
            <a:off x="10260000" y="5436000"/>
            <a:ext cx="752400" cy="346320"/>
          </a:xfrm>
          <a:prstGeom prst="rect">
            <a:avLst/>
          </a:prstGeom>
          <a:noFill/>
          <a:ln w="0">
            <a:noFill/>
          </a:ln>
        </p:spPr>
        <p:txBody>
          <a:bodyPr wrap="none" lIns="90000" rIns="90000" tIns="45000" bIns="45000" anchor="t">
            <a:spAutoFit/>
          </a:bodyPr>
          <a:p>
            <a:r>
              <a:rPr lang="fr-FR" sz="1800" b="0" u="none" strike="noStrike">
                <a:solidFill>
                  <a:srgbClr val="ffffff"/>
                </a:solidFill>
                <a:effectLst/>
                <a:uFillTx/>
                <a:latin typeface="Arial"/>
              </a:rPr>
              <a:t>TPB1</a:t>
            </a:r>
            <a:endParaRPr lang="fr-FR" sz="1800" b="0" u="none" strike="noStrike">
              <a:solidFill>
                <a:srgbClr val="ffffff"/>
              </a:solidFill>
              <a:effectLst/>
              <a:uFillTx/>
              <a:latin typeface="Arial"/>
            </a:endParaRPr>
          </a:p>
        </p:txBody>
      </p:sp>
      <p:sp>
        <p:nvSpPr>
          <p:cNvPr id="450" name="Text 57"/>
          <p:cNvSpPr/>
          <p:nvPr/>
        </p:nvSpPr>
        <p:spPr>
          <a:xfrm>
            <a:off x="6088680" y="6546240"/>
            <a:ext cx="5668560" cy="1090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lang="en-US" sz="800" b="0" u="none" strike="noStrike">
                <a:solidFill>
                  <a:srgbClr val="94a3b8"/>
                </a:solidFill>
                <a:effectLst/>
                <a:uFillTx/>
                <a:latin typeface="Aptos"/>
              </a:rPr>
              <a:t>Métro parisien</a:t>
            </a:r>
            <a:endParaRPr lang="fr-FR"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pitchFamily="0" charset="1"/>
        <a:ea typeface=""/>
        <a:cs typeface=""/>
      </a:majorFont>
      <a:minorFont>
        <a:latin typeface="Apto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5</TotalTime>
  <Application>LibreOffice/25.8.5.2$Linux_X86_64 LibreOffice_project/580$Build-2</Application>
  <AppVersion>15.0000</AppVersion>
  <Words>0</Words>
  <Paragraphs>0</Paragraphs>
  <Company>OpenAI</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2026-04-01T07:52:42Z</dcterms:created>
  <dc:creator>OpenAI</dc:creator>
  <dc:description/>
  <dc:language>fr-FR</dc:language>
  <cp:lastModifiedBy/>
  <dcterms:modified xsi:type="dcterms:W3CDTF">2026-04-01T10:39:15Z</dcterms:modified>
  <cp:revision>3</cp:revision>
  <dc:subject>SAE Base de données - Métro parisien</dc:subject>
  <dc:title>SAE Base de données - Métro parisien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12</vt:i4>
  </property>
  <property fmtid="{D5CDD505-2E9C-101B-9397-08002B2CF9AE}" pid="3" name="PresentationFormat">
    <vt:lpwstr>On-screen Show (16:9)</vt:lpwstr>
  </property>
  <property fmtid="{D5CDD505-2E9C-101B-9397-08002B2CF9AE}" pid="4" name="Slides">
    <vt:i4>12</vt:i4>
  </property>
</Properties>
</file>